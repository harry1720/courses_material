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9"/>
  </p:notesMasterIdLst>
  <p:sldIdLst>
    <p:sldId id="262" r:id="rId2"/>
    <p:sldId id="261" r:id="rId3"/>
    <p:sldId id="266" r:id="rId4"/>
    <p:sldId id="268" r:id="rId5"/>
    <p:sldId id="269" r:id="rId6"/>
    <p:sldId id="270" r:id="rId7"/>
    <p:sldId id="273" r:id="rId8"/>
    <p:sldId id="271" r:id="rId9"/>
    <p:sldId id="294" r:id="rId10"/>
    <p:sldId id="272" r:id="rId11"/>
    <p:sldId id="274" r:id="rId12"/>
    <p:sldId id="275" r:id="rId13"/>
    <p:sldId id="276" r:id="rId14"/>
    <p:sldId id="277" r:id="rId15"/>
    <p:sldId id="278" r:id="rId16"/>
    <p:sldId id="279" r:id="rId17"/>
    <p:sldId id="281" r:id="rId18"/>
    <p:sldId id="280" r:id="rId19"/>
    <p:sldId id="282" r:id="rId20"/>
    <p:sldId id="298" r:id="rId21"/>
    <p:sldId id="299" r:id="rId22"/>
    <p:sldId id="283" r:id="rId23"/>
    <p:sldId id="296" r:id="rId24"/>
    <p:sldId id="297" r:id="rId25"/>
    <p:sldId id="286" r:id="rId26"/>
    <p:sldId id="287" r:id="rId27"/>
    <p:sldId id="284" r:id="rId28"/>
    <p:sldId id="290" r:id="rId29"/>
    <p:sldId id="291" r:id="rId30"/>
    <p:sldId id="304" r:id="rId31"/>
    <p:sldId id="292" r:id="rId32"/>
    <p:sldId id="293" r:id="rId33"/>
    <p:sldId id="300" r:id="rId34"/>
    <p:sldId id="301" r:id="rId35"/>
    <p:sldId id="302" r:id="rId36"/>
    <p:sldId id="303" r:id="rId37"/>
    <p:sldId id="265" r:id="rId38"/>
  </p:sldIdLst>
  <p:sldSz cx="13208000" cy="990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67" autoAdjust="0"/>
    <p:restoredTop sz="94660"/>
  </p:normalViewPr>
  <p:slideViewPr>
    <p:cSldViewPr snapToGrid="0">
      <p:cViewPr varScale="1">
        <p:scale>
          <a:sx n="74" d="100"/>
          <a:sy n="74" d="100"/>
        </p:scale>
        <p:origin x="18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15FE78-50C3-4A97-B384-E8F35350FE7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226FD3-6F5C-4171-BF8F-48177022B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108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226FD3-6F5C-4171-BF8F-48177022BBB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8162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226FD3-6F5C-4171-BF8F-48177022BBB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12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226FD3-6F5C-4171-BF8F-48177022BBB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574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226FD3-6F5C-4171-BF8F-48177022BBB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8629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226FD3-6F5C-4171-BF8F-48177022BBB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8612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226FD3-6F5C-4171-BF8F-48177022BBB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7790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226FD3-6F5C-4171-BF8F-48177022BBB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4342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226FD3-6F5C-4171-BF8F-48177022BBB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5163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226FD3-6F5C-4171-BF8F-48177022BBB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9705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226FD3-6F5C-4171-BF8F-48177022BBB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2306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226FD3-6F5C-4171-BF8F-48177022BBB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138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226FD3-6F5C-4171-BF8F-48177022BBB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1912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226FD3-6F5C-4171-BF8F-48177022BBB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0212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226FD3-6F5C-4171-BF8F-48177022BBB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5682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226FD3-6F5C-4171-BF8F-48177022BBB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9349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226FD3-6F5C-4171-BF8F-48177022BBB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2543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226FD3-6F5C-4171-BF8F-48177022BBB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8367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226FD3-6F5C-4171-BF8F-48177022BBB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0132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226FD3-6F5C-4171-BF8F-48177022BBB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343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1621191"/>
            <a:ext cx="11226800" cy="3448756"/>
          </a:xfrm>
        </p:spPr>
        <p:txBody>
          <a:bodyPr anchor="b"/>
          <a:lstStyle>
            <a:lvl1pPr algn="ctr">
              <a:defRPr sz="866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1000" y="5202944"/>
            <a:ext cx="9906000" cy="2391656"/>
          </a:xfrm>
        </p:spPr>
        <p:txBody>
          <a:bodyPr/>
          <a:lstStyle>
            <a:lvl1pPr marL="0" indent="0" algn="ctr">
              <a:buNone/>
              <a:defRPr sz="3467"/>
            </a:lvl1pPr>
            <a:lvl2pPr marL="660380" indent="0" algn="ctr">
              <a:buNone/>
              <a:defRPr sz="2889"/>
            </a:lvl2pPr>
            <a:lvl3pPr marL="1320759" indent="0" algn="ctr">
              <a:buNone/>
              <a:defRPr sz="2600"/>
            </a:lvl3pPr>
            <a:lvl4pPr marL="1981139" indent="0" algn="ctr">
              <a:buNone/>
              <a:defRPr sz="2311"/>
            </a:lvl4pPr>
            <a:lvl5pPr marL="2641519" indent="0" algn="ctr">
              <a:buNone/>
              <a:defRPr sz="2311"/>
            </a:lvl5pPr>
            <a:lvl6pPr marL="3301898" indent="0" algn="ctr">
              <a:buNone/>
              <a:defRPr sz="2311"/>
            </a:lvl6pPr>
            <a:lvl7pPr marL="3962278" indent="0" algn="ctr">
              <a:buNone/>
              <a:defRPr sz="2311"/>
            </a:lvl7pPr>
            <a:lvl8pPr marL="4622658" indent="0" algn="ctr">
              <a:buNone/>
              <a:defRPr sz="2311"/>
            </a:lvl8pPr>
            <a:lvl9pPr marL="5283037" indent="0" algn="ctr">
              <a:buNone/>
              <a:defRPr sz="231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7D3B4-357B-407E-83FC-F97A4BF109C6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AB60C-4084-446B-96CB-6EA3DCA8A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495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7D3B4-357B-407E-83FC-F97A4BF109C6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AB60C-4084-446B-96CB-6EA3DCA8A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63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1172" y="2469624"/>
            <a:ext cx="11391900" cy="4120620"/>
          </a:xfrm>
        </p:spPr>
        <p:txBody>
          <a:bodyPr anchor="b"/>
          <a:lstStyle>
            <a:lvl1pPr>
              <a:defRPr sz="866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1172" y="6629226"/>
            <a:ext cx="11391900" cy="2166937"/>
          </a:xfrm>
        </p:spPr>
        <p:txBody>
          <a:bodyPr/>
          <a:lstStyle>
            <a:lvl1pPr marL="0" indent="0">
              <a:buNone/>
              <a:defRPr sz="3467">
                <a:solidFill>
                  <a:schemeClr val="tx1"/>
                </a:solidFill>
              </a:defRPr>
            </a:lvl1pPr>
            <a:lvl2pPr marL="66038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7D3B4-357B-407E-83FC-F97A4BF109C6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AB60C-4084-446B-96CB-6EA3DCA8A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113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8050" y="2637014"/>
            <a:ext cx="561340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86550" y="2637014"/>
            <a:ext cx="561340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7D3B4-357B-407E-83FC-F97A4BF109C6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AB60C-4084-446B-96CB-6EA3DCA8A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63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770" y="527405"/>
            <a:ext cx="11391900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9772" y="2428347"/>
            <a:ext cx="5587602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9772" y="3618442"/>
            <a:ext cx="5587602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86551" y="2428347"/>
            <a:ext cx="5615120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86551" y="3618442"/>
            <a:ext cx="5615120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7D3B4-357B-407E-83FC-F97A4BF109C6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AB60C-4084-446B-96CB-6EA3DCA8A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901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7D3B4-357B-407E-83FC-F97A4BF109C6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AB60C-4084-446B-96CB-6EA3DCA8A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096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7D3B4-357B-407E-83FC-F97A4BF109C6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AB60C-4084-446B-96CB-6EA3DCA8A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412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770" y="660400"/>
            <a:ext cx="4259924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5120" y="1426283"/>
            <a:ext cx="6686550" cy="7039681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9770" y="2971800"/>
            <a:ext cx="4259924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80" indent="0">
              <a:buNone/>
              <a:defRPr sz="2022"/>
            </a:lvl2pPr>
            <a:lvl3pPr marL="1320759" indent="0">
              <a:buNone/>
              <a:defRPr sz="1733"/>
            </a:lvl3pPr>
            <a:lvl4pPr marL="1981139" indent="0">
              <a:buNone/>
              <a:defRPr sz="1444"/>
            </a:lvl4pPr>
            <a:lvl5pPr marL="2641519" indent="0">
              <a:buNone/>
              <a:defRPr sz="1444"/>
            </a:lvl5pPr>
            <a:lvl6pPr marL="3301898" indent="0">
              <a:buNone/>
              <a:defRPr sz="1444"/>
            </a:lvl6pPr>
            <a:lvl7pPr marL="3962278" indent="0">
              <a:buNone/>
              <a:defRPr sz="1444"/>
            </a:lvl7pPr>
            <a:lvl8pPr marL="4622658" indent="0">
              <a:buNone/>
              <a:defRPr sz="1444"/>
            </a:lvl8pPr>
            <a:lvl9pPr marL="5283037" indent="0">
              <a:buNone/>
              <a:defRPr sz="1444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7D3B4-357B-407E-83FC-F97A4BF109C6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AB60C-4084-446B-96CB-6EA3DCA8A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163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770" y="660400"/>
            <a:ext cx="4259924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15120" y="1426283"/>
            <a:ext cx="6686550" cy="7039681"/>
          </a:xfrm>
        </p:spPr>
        <p:txBody>
          <a:bodyPr anchor="t"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9770" y="2971800"/>
            <a:ext cx="4259924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80" indent="0">
              <a:buNone/>
              <a:defRPr sz="2022"/>
            </a:lvl2pPr>
            <a:lvl3pPr marL="1320759" indent="0">
              <a:buNone/>
              <a:defRPr sz="1733"/>
            </a:lvl3pPr>
            <a:lvl4pPr marL="1981139" indent="0">
              <a:buNone/>
              <a:defRPr sz="1444"/>
            </a:lvl4pPr>
            <a:lvl5pPr marL="2641519" indent="0">
              <a:buNone/>
              <a:defRPr sz="1444"/>
            </a:lvl5pPr>
            <a:lvl6pPr marL="3301898" indent="0">
              <a:buNone/>
              <a:defRPr sz="1444"/>
            </a:lvl6pPr>
            <a:lvl7pPr marL="3962278" indent="0">
              <a:buNone/>
              <a:defRPr sz="1444"/>
            </a:lvl7pPr>
            <a:lvl8pPr marL="4622658" indent="0">
              <a:buNone/>
              <a:defRPr sz="1444"/>
            </a:lvl8pPr>
            <a:lvl9pPr marL="5283037" indent="0">
              <a:buNone/>
              <a:defRPr sz="1444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7D3B4-357B-407E-83FC-F97A4BF109C6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AB60C-4084-446B-96CB-6EA3DCA8A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966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7D3B4-357B-407E-83FC-F97A4BF109C6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AB60C-4084-446B-96CB-6EA3DCA8A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768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51976" y="527403"/>
            <a:ext cx="2847975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08051" y="527403"/>
            <a:ext cx="8378825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7D3B4-357B-407E-83FC-F97A4BF109C6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AB60C-4084-446B-96CB-6EA3DCA8A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48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8050" y="527405"/>
            <a:ext cx="11391900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8050" y="2637014"/>
            <a:ext cx="11391900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8050" y="9181397"/>
            <a:ext cx="29718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7D3B4-357B-407E-83FC-F97A4BF109C6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5150" y="9181397"/>
            <a:ext cx="4457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8150" y="9181397"/>
            <a:ext cx="29718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AB60C-4084-446B-96CB-6EA3DCA8A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869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20759" rtl="0" eaLnBrk="1" latinLnBrk="0" hangingPunct="1">
        <a:lnSpc>
          <a:spcPct val="90000"/>
        </a:lnSpc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0190" indent="-330190" algn="l" defTabSz="1320759" rtl="0" eaLnBrk="1" latinLnBrk="0" hangingPunct="1">
        <a:lnSpc>
          <a:spcPct val="90000"/>
        </a:lnSpc>
        <a:spcBef>
          <a:spcPts val="1444"/>
        </a:spcBef>
        <a:buFont typeface="Arial" panose="020B0604020202020204" pitchFamily="34" charset="0"/>
        <a:buChar char="•"/>
        <a:defRPr sz="4044" kern="1200">
          <a:solidFill>
            <a:schemeClr val="tx1"/>
          </a:solidFill>
          <a:latin typeface="+mn-lt"/>
          <a:ea typeface="+mn-ea"/>
          <a:cs typeface="+mn-cs"/>
        </a:defRPr>
      </a:lvl1pPr>
      <a:lvl2pPr marL="990570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10" Type="http://schemas.openxmlformats.org/officeDocument/2006/relationships/image" Target="../media/image11.jpeg"/><Relationship Id="rId4" Type="http://schemas.openxmlformats.org/officeDocument/2006/relationships/image" Target="../media/image4.png"/><Relationship Id="rId9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10" Type="http://schemas.openxmlformats.org/officeDocument/2006/relationships/image" Target="../media/image11.jpeg"/><Relationship Id="rId4" Type="http://schemas.openxmlformats.org/officeDocument/2006/relationships/image" Target="../media/image4.png"/><Relationship Id="rId9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10" Type="http://schemas.openxmlformats.org/officeDocument/2006/relationships/image" Target="../media/image11.jpeg"/><Relationship Id="rId4" Type="http://schemas.openxmlformats.org/officeDocument/2006/relationships/image" Target="../media/image4.png"/><Relationship Id="rId9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3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2.png"/><Relationship Id="rId5" Type="http://schemas.openxmlformats.org/officeDocument/2006/relationships/image" Target="../media/image3.png"/><Relationship Id="rId10" Type="http://schemas.openxmlformats.org/officeDocument/2006/relationships/image" Target="../media/image10.png"/><Relationship Id="rId4" Type="http://schemas.openxmlformats.org/officeDocument/2006/relationships/image" Target="../media/image1.png"/><Relationship Id="rId9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3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0.png"/><Relationship Id="rId4" Type="http://schemas.openxmlformats.org/officeDocument/2006/relationships/image" Target="../media/image1.png"/><Relationship Id="rId9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medium.com/@y1017c121y/how-does-yolov2-work-daaaa967c5f7#:~:text=Network%20Architecture,Normalization%2C%20bn%3D0%20otherwise." TargetMode="External"/><Relationship Id="rId4" Type="http://schemas.openxmlformats.org/officeDocument/2006/relationships/image" Target="../media/image1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hyperlink" Target="https://medium.com/@y1017c121y/how-does-yolov2-work-daaaa967c5f7#:~:text=Network%20Architecture,Normalization%2C%20bn%3D0%20otherwise." TargetMode="External"/><Relationship Id="rId4" Type="http://schemas.openxmlformats.org/officeDocument/2006/relationships/image" Target="../media/image15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hyperlink" Target="https://medium.com/@y1017c121y/how-does-yolov2-work-daaaa967c5f7#:~:text=Network%20Architecture,Normalization%2C%20bn%3D0%20otherwise." TargetMode="External"/><Relationship Id="rId4" Type="http://schemas.openxmlformats.org/officeDocument/2006/relationships/image" Target="../media/image15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medium.com/@y1017c121y/how-does-yolov2-work-daaaa967c5f7#:~:text=Network%20Architecture,Normalization%2C%20bn%3D0%20otherwise.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5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0.jpeg"/><Relationship Id="rId7" Type="http://schemas.openxmlformats.org/officeDocument/2006/relationships/image" Target="../media/image4.png"/><Relationship Id="rId12" Type="http://schemas.openxmlformats.org/officeDocument/2006/relationships/hyperlink" Target="https://medium.com/@y1017c121y/how-does-yolov2-work-daaaa967c5f7#:~:text=Network%20Architecture,Normalization%2C%20bn%3D0%20otherwise.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png"/><Relationship Id="rId5" Type="http://schemas.openxmlformats.org/officeDocument/2006/relationships/image" Target="../media/image15.jpeg"/><Relationship Id="rId10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hyperlink" Target="https://medium.com/@y1017c121y/how-does-yolov2-work-daaaa967c5f7#:~:text=Network%20Architecture,Normalization%2C%20bn%3D0%20otherwise.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11.jpe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0.png"/><Relationship Id="rId5" Type="http://schemas.openxmlformats.org/officeDocument/2006/relationships/image" Target="../media/image3.png"/><Relationship Id="rId10" Type="http://schemas.openxmlformats.org/officeDocument/2006/relationships/image" Target="../media/image9.png"/><Relationship Id="rId4" Type="http://schemas.openxmlformats.org/officeDocument/2006/relationships/image" Target="../media/image15.jpeg"/><Relationship Id="rId9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medium.com/@y1017c121y/how-does-yolov2-work-daaaa967c5f7#:~:text=Network%20Architecture,Normalization%2C%20bn%3D0%20otherwise.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15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medium.com/@y1017c121y/how-does-yolov2-work-daaaa967c5f7#:~:text=Network%20Architecture,Normalization%2C%20bn%3D0%20otherwise.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9.png"/><Relationship Id="rId4" Type="http://schemas.openxmlformats.org/officeDocument/2006/relationships/image" Target="../media/image15.jpe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medium.com/@y1017c121y/how-does-yolov2-work-daaaa967c5f7#:~:text=Network%20Architecture,Normalization%2C%20bn%3D0%20otherwise.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9.png"/><Relationship Id="rId4" Type="http://schemas.openxmlformats.org/officeDocument/2006/relationships/image" Target="../media/image15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towardsdatascience.com/yolo-v3-object-detection-53fb7d3bfe6b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towardsdatascience.com/yolo-v3-object-detection-53fb7d3bfe6b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yolo-v3-object-detection-53fb7d3bfe6b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yolo-v3-object-detection-53fb7d3bfe6b" TargetMode="External"/><Relationship Id="rId7" Type="http://schemas.openxmlformats.org/officeDocument/2006/relationships/hyperlink" Target="https://arxiv.org/abs/1612.08242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hyperlink" Target="https://towardsdatascience.com/yolo-v3-object-detection-53fb7d3bfe6b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4.png"/><Relationship Id="rId4" Type="http://schemas.openxmlformats.org/officeDocument/2006/relationships/hyperlink" Target="https://towardsdatascience.com/yolo-v3-object-detection-53fb7d3bfe6b" TargetMode="Externa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85863" y="4236333"/>
            <a:ext cx="47861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YOLO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54567" y="5318566"/>
            <a:ext cx="2048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Tran Le Anh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29342" y="6031467"/>
            <a:ext cx="2499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anhtl@ut.edu.vn</a:t>
            </a:r>
          </a:p>
        </p:txBody>
      </p:sp>
    </p:spTree>
    <p:extLst>
      <p:ext uri="{BB962C8B-B14F-4D97-AF65-F5344CB8AC3E}">
        <p14:creationId xmlns:p14="http://schemas.microsoft.com/office/powerpoint/2010/main" val="577249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YOLO architectu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08" y="1163262"/>
            <a:ext cx="10770598" cy="324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50471" y="667903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YOLOv1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471" y="144683"/>
            <a:ext cx="204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YOLOv1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599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YOLO architectu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08" y="1163262"/>
            <a:ext cx="10770598" cy="324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Object detection using YOL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955" y="5334880"/>
            <a:ext cx="2702117" cy="2691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9737604" y="5566036"/>
            <a:ext cx="2010968" cy="2229413"/>
            <a:chOff x="7821801" y="4190850"/>
            <a:chExt cx="2010968" cy="2229413"/>
          </a:xfrm>
        </p:grpSpPr>
        <p:grpSp>
          <p:nvGrpSpPr>
            <p:cNvPr id="10" name="Group 9"/>
            <p:cNvGrpSpPr/>
            <p:nvPr/>
          </p:nvGrpSpPr>
          <p:grpSpPr>
            <a:xfrm>
              <a:off x="7821801" y="4190850"/>
              <a:ext cx="2010968" cy="2229413"/>
              <a:chOff x="7818612" y="4178975"/>
              <a:chExt cx="1741025" cy="1544931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 rotWithShape="1">
              <a:blip r:embed="rId4"/>
              <a:srcRect l="2609" r="4867" b="3841"/>
              <a:stretch/>
            </p:blipFill>
            <p:spPr>
              <a:xfrm>
                <a:off x="7873341" y="4178975"/>
                <a:ext cx="1686296" cy="1544931"/>
              </a:xfrm>
              <a:prstGeom prst="rect">
                <a:avLst/>
              </a:prstGeom>
            </p:spPr>
          </p:pic>
          <p:sp>
            <p:nvSpPr>
              <p:cNvPr id="9" name="Rectangle 8"/>
              <p:cNvSpPr/>
              <p:nvPr/>
            </p:nvSpPr>
            <p:spPr>
              <a:xfrm rot="2400249">
                <a:off x="9400007" y="5173920"/>
                <a:ext cx="114511" cy="3891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 rot="2400249">
                <a:off x="7818612" y="4367185"/>
                <a:ext cx="343963" cy="2408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82347" y="5130140"/>
              <a:ext cx="1268849" cy="1278248"/>
            </a:xfrm>
            <a:prstGeom prst="rect">
              <a:avLst/>
            </a:prstGeom>
          </p:spPr>
        </p:pic>
      </p:grpSp>
      <p:pic>
        <p:nvPicPr>
          <p:cNvPr id="1034" name="Picture 10" descr="How does the YOLO network create boundaries for object detection? - Cross  Validated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64" t="7585" r="33637" b="43832"/>
          <a:stretch/>
        </p:blipFill>
        <p:spPr bwMode="auto">
          <a:xfrm>
            <a:off x="4980156" y="5709497"/>
            <a:ext cx="3858495" cy="1942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Arrow Connector 13"/>
          <p:cNvCxnSpPr>
            <a:stCxn id="1030" idx="3"/>
            <a:endCxn id="1034" idx="1"/>
          </p:cNvCxnSpPr>
          <p:nvPr/>
        </p:nvCxnSpPr>
        <p:spPr>
          <a:xfrm>
            <a:off x="4499072" y="6680742"/>
            <a:ext cx="481084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055346" y="6811811"/>
            <a:ext cx="878774" cy="8431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9157904" y="7282542"/>
            <a:ext cx="2387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02525" y="1163261"/>
            <a:ext cx="4417620" cy="309998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10249176" y="7847413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7x7x1024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22494" y="8102842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471" y="667903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YOLOv1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471" y="144683"/>
            <a:ext cx="204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YOLOv1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23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YOLO architectu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08" y="1163262"/>
            <a:ext cx="10770598" cy="324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Object detection using YOL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955" y="5334880"/>
            <a:ext cx="2702117" cy="2691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9737604" y="5566036"/>
            <a:ext cx="2010968" cy="2229413"/>
            <a:chOff x="7821801" y="4190850"/>
            <a:chExt cx="2010968" cy="2229413"/>
          </a:xfrm>
        </p:grpSpPr>
        <p:grpSp>
          <p:nvGrpSpPr>
            <p:cNvPr id="10" name="Group 9"/>
            <p:cNvGrpSpPr/>
            <p:nvPr/>
          </p:nvGrpSpPr>
          <p:grpSpPr>
            <a:xfrm>
              <a:off x="7821801" y="4190850"/>
              <a:ext cx="2010968" cy="2229413"/>
              <a:chOff x="7818612" y="4178975"/>
              <a:chExt cx="1741025" cy="1544931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 rotWithShape="1">
              <a:blip r:embed="rId4"/>
              <a:srcRect l="2609" r="4867" b="3841"/>
              <a:stretch/>
            </p:blipFill>
            <p:spPr>
              <a:xfrm>
                <a:off x="7873341" y="4178975"/>
                <a:ext cx="1686296" cy="1544931"/>
              </a:xfrm>
              <a:prstGeom prst="rect">
                <a:avLst/>
              </a:prstGeom>
            </p:spPr>
          </p:pic>
          <p:sp>
            <p:nvSpPr>
              <p:cNvPr id="9" name="Rectangle 8"/>
              <p:cNvSpPr/>
              <p:nvPr/>
            </p:nvSpPr>
            <p:spPr>
              <a:xfrm rot="2400249">
                <a:off x="9400007" y="5173920"/>
                <a:ext cx="114511" cy="3891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 rot="2400249">
                <a:off x="7818612" y="4367185"/>
                <a:ext cx="343963" cy="2408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82347" y="5130140"/>
              <a:ext cx="1268849" cy="1278248"/>
            </a:xfrm>
            <a:prstGeom prst="rect">
              <a:avLst/>
            </a:prstGeom>
          </p:spPr>
        </p:pic>
      </p:grpSp>
      <p:pic>
        <p:nvPicPr>
          <p:cNvPr id="1034" name="Picture 10" descr="How does the YOLO network create boundaries for object detection? - Cross  Validated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64" t="7585" r="33637" b="43832"/>
          <a:stretch/>
        </p:blipFill>
        <p:spPr bwMode="auto">
          <a:xfrm>
            <a:off x="4980156" y="5709497"/>
            <a:ext cx="3858495" cy="1942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Arrow Connector 13"/>
          <p:cNvCxnSpPr>
            <a:stCxn id="1030" idx="3"/>
            <a:endCxn id="1034" idx="1"/>
          </p:cNvCxnSpPr>
          <p:nvPr/>
        </p:nvCxnSpPr>
        <p:spPr>
          <a:xfrm>
            <a:off x="4499072" y="6680742"/>
            <a:ext cx="481084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055346" y="6811811"/>
            <a:ext cx="878774" cy="8431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9157904" y="7282542"/>
            <a:ext cx="2387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02525" y="1163261"/>
            <a:ext cx="4417620" cy="309998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10249176" y="7847413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7x7x1024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22494" y="8102842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input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04080" y="6697675"/>
            <a:ext cx="177085" cy="17302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989665" y="5532168"/>
            <a:ext cx="1202267" cy="12457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50471" y="667903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YOLOv1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471" y="144683"/>
            <a:ext cx="204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YOLOv1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YOLO architectu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08" y="1163262"/>
            <a:ext cx="10770598" cy="324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Object detection using YOL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955" y="5334880"/>
            <a:ext cx="2702117" cy="2691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9737604" y="5566036"/>
            <a:ext cx="2010968" cy="2229413"/>
            <a:chOff x="7821801" y="4190850"/>
            <a:chExt cx="2010968" cy="2229413"/>
          </a:xfrm>
        </p:grpSpPr>
        <p:grpSp>
          <p:nvGrpSpPr>
            <p:cNvPr id="10" name="Group 9"/>
            <p:cNvGrpSpPr/>
            <p:nvPr/>
          </p:nvGrpSpPr>
          <p:grpSpPr>
            <a:xfrm>
              <a:off x="7821801" y="4190850"/>
              <a:ext cx="2010968" cy="2229413"/>
              <a:chOff x="7818612" y="4178975"/>
              <a:chExt cx="1741025" cy="1544931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 rotWithShape="1">
              <a:blip r:embed="rId4"/>
              <a:srcRect l="2609" r="4867" b="3841"/>
              <a:stretch/>
            </p:blipFill>
            <p:spPr>
              <a:xfrm>
                <a:off x="7873341" y="4178975"/>
                <a:ext cx="1686296" cy="1544931"/>
              </a:xfrm>
              <a:prstGeom prst="rect">
                <a:avLst/>
              </a:prstGeom>
            </p:spPr>
          </p:pic>
          <p:sp>
            <p:nvSpPr>
              <p:cNvPr id="9" name="Rectangle 8"/>
              <p:cNvSpPr/>
              <p:nvPr/>
            </p:nvSpPr>
            <p:spPr>
              <a:xfrm rot="2400249">
                <a:off x="9400007" y="5173920"/>
                <a:ext cx="114511" cy="3891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 rot="2400249">
                <a:off x="7818612" y="4367185"/>
                <a:ext cx="343963" cy="2408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82347" y="5130140"/>
              <a:ext cx="1268849" cy="1278248"/>
            </a:xfrm>
            <a:prstGeom prst="rect">
              <a:avLst/>
            </a:prstGeom>
          </p:spPr>
        </p:pic>
      </p:grpSp>
      <p:pic>
        <p:nvPicPr>
          <p:cNvPr id="1034" name="Picture 10" descr="How does the YOLO network create boundaries for object detection? - Cross  Validated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64" t="7585" r="33637" b="43832"/>
          <a:stretch/>
        </p:blipFill>
        <p:spPr bwMode="auto">
          <a:xfrm>
            <a:off x="4980156" y="5709497"/>
            <a:ext cx="3858495" cy="1942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Arrow Connector 13"/>
          <p:cNvCxnSpPr>
            <a:stCxn id="1030" idx="3"/>
            <a:endCxn id="1034" idx="1"/>
          </p:cNvCxnSpPr>
          <p:nvPr/>
        </p:nvCxnSpPr>
        <p:spPr>
          <a:xfrm>
            <a:off x="4499072" y="6680742"/>
            <a:ext cx="481084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055346" y="6811811"/>
            <a:ext cx="878774" cy="8431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9157904" y="7282542"/>
            <a:ext cx="2387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02525" y="1163261"/>
            <a:ext cx="4417620" cy="309998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10249176" y="7847413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7x7x1024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22494" y="8102842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input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81881" y="6697675"/>
            <a:ext cx="177085" cy="17302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209800" y="5532168"/>
            <a:ext cx="1202267" cy="12457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150471" y="667903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YOLOv1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471" y="144683"/>
            <a:ext cx="204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YOLOv1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351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YOLO architectu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08" y="1163262"/>
            <a:ext cx="10770598" cy="324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Object detection using YOL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955" y="5334880"/>
            <a:ext cx="2702117" cy="2691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9737604" y="5566036"/>
            <a:ext cx="2010968" cy="2229413"/>
            <a:chOff x="7821801" y="4190850"/>
            <a:chExt cx="2010968" cy="2229413"/>
          </a:xfrm>
        </p:grpSpPr>
        <p:grpSp>
          <p:nvGrpSpPr>
            <p:cNvPr id="10" name="Group 9"/>
            <p:cNvGrpSpPr/>
            <p:nvPr/>
          </p:nvGrpSpPr>
          <p:grpSpPr>
            <a:xfrm>
              <a:off x="7821801" y="4190850"/>
              <a:ext cx="2010968" cy="2229413"/>
              <a:chOff x="7818612" y="4178975"/>
              <a:chExt cx="1741025" cy="1544931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 rotWithShape="1">
              <a:blip r:embed="rId4"/>
              <a:srcRect l="2609" r="4867" b="3841"/>
              <a:stretch/>
            </p:blipFill>
            <p:spPr>
              <a:xfrm>
                <a:off x="7873341" y="4178975"/>
                <a:ext cx="1686296" cy="1544931"/>
              </a:xfrm>
              <a:prstGeom prst="rect">
                <a:avLst/>
              </a:prstGeom>
            </p:spPr>
          </p:pic>
          <p:sp>
            <p:nvSpPr>
              <p:cNvPr id="9" name="Rectangle 8"/>
              <p:cNvSpPr/>
              <p:nvPr/>
            </p:nvSpPr>
            <p:spPr>
              <a:xfrm rot="2400249">
                <a:off x="9400007" y="5173920"/>
                <a:ext cx="114511" cy="3891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 rot="2400249">
                <a:off x="7818612" y="4367185"/>
                <a:ext cx="343963" cy="2408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82347" y="5130140"/>
              <a:ext cx="1268849" cy="1278248"/>
            </a:xfrm>
            <a:prstGeom prst="rect">
              <a:avLst/>
            </a:prstGeom>
          </p:spPr>
        </p:pic>
      </p:grpSp>
      <p:pic>
        <p:nvPicPr>
          <p:cNvPr id="1034" name="Picture 10" descr="How does the YOLO network create boundaries for object detection? - Cross  Validated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64" t="7585" r="33637" b="43832"/>
          <a:stretch/>
        </p:blipFill>
        <p:spPr bwMode="auto">
          <a:xfrm>
            <a:off x="4980156" y="5709497"/>
            <a:ext cx="3858495" cy="1942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Arrow Connector 13"/>
          <p:cNvCxnSpPr>
            <a:stCxn id="1030" idx="3"/>
            <a:endCxn id="1034" idx="1"/>
          </p:cNvCxnSpPr>
          <p:nvPr/>
        </p:nvCxnSpPr>
        <p:spPr>
          <a:xfrm>
            <a:off x="4499072" y="6680742"/>
            <a:ext cx="481084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055346" y="6811811"/>
            <a:ext cx="878774" cy="8431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9157904" y="7282542"/>
            <a:ext cx="2387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02525" y="1163261"/>
            <a:ext cx="4417620" cy="309998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10249176" y="7847413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7x7x1024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22494" y="8102842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input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85957" y="7591904"/>
            <a:ext cx="177085" cy="17302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296805" y="6786661"/>
            <a:ext cx="1202267" cy="12457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150471" y="667903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YOLOv1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471" y="144683"/>
            <a:ext cx="204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YOLOv1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878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YOLO architectu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08" y="1163262"/>
            <a:ext cx="10770598" cy="324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 30"/>
          <p:cNvSpPr/>
          <p:nvPr/>
        </p:nvSpPr>
        <p:spPr>
          <a:xfrm>
            <a:off x="902525" y="1163261"/>
            <a:ext cx="4417620" cy="309998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6" descr="Object detection using YOL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576" y="4966308"/>
            <a:ext cx="2702117" cy="2691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/>
          <p:cNvGrpSpPr/>
          <p:nvPr/>
        </p:nvGrpSpPr>
        <p:grpSpPr>
          <a:xfrm>
            <a:off x="9583225" y="5197464"/>
            <a:ext cx="2010968" cy="2229413"/>
            <a:chOff x="7821801" y="4190850"/>
            <a:chExt cx="2010968" cy="2229413"/>
          </a:xfrm>
        </p:grpSpPr>
        <p:grpSp>
          <p:nvGrpSpPr>
            <p:cNvPr id="25" name="Group 24"/>
            <p:cNvGrpSpPr/>
            <p:nvPr/>
          </p:nvGrpSpPr>
          <p:grpSpPr>
            <a:xfrm>
              <a:off x="7821801" y="4190850"/>
              <a:ext cx="2010968" cy="2229413"/>
              <a:chOff x="7818612" y="4178975"/>
              <a:chExt cx="1741025" cy="1544931"/>
            </a:xfrm>
          </p:grpSpPr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4"/>
              <a:srcRect l="2609" r="4867" b="3841"/>
              <a:stretch/>
            </p:blipFill>
            <p:spPr>
              <a:xfrm>
                <a:off x="7873341" y="4178975"/>
                <a:ext cx="1686296" cy="1544931"/>
              </a:xfrm>
              <a:prstGeom prst="rect">
                <a:avLst/>
              </a:prstGeom>
            </p:spPr>
          </p:pic>
          <p:sp>
            <p:nvSpPr>
              <p:cNvPr id="28" name="Rectangle 27"/>
              <p:cNvSpPr/>
              <p:nvPr/>
            </p:nvSpPr>
            <p:spPr>
              <a:xfrm rot="2400249">
                <a:off x="9400007" y="5173920"/>
                <a:ext cx="114511" cy="3891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/>
              <p:cNvSpPr/>
              <p:nvPr/>
            </p:nvSpPr>
            <p:spPr>
              <a:xfrm rot="2400249">
                <a:off x="7818612" y="4367185"/>
                <a:ext cx="343963" cy="2408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82347" y="5130140"/>
              <a:ext cx="1268849" cy="1278248"/>
            </a:xfrm>
            <a:prstGeom prst="rect">
              <a:avLst/>
            </a:prstGeom>
          </p:spPr>
        </p:pic>
      </p:grpSp>
      <p:pic>
        <p:nvPicPr>
          <p:cNvPr id="30" name="Picture 10" descr="How does the YOLO network create boundaries for object detection? - Cross  Validated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64" t="7585" r="33637" b="43832"/>
          <a:stretch/>
        </p:blipFill>
        <p:spPr bwMode="auto">
          <a:xfrm>
            <a:off x="4825777" y="5340925"/>
            <a:ext cx="3858495" cy="1942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Arrow Connector 33"/>
          <p:cNvCxnSpPr>
            <a:stCxn id="23" idx="3"/>
            <a:endCxn id="30" idx="1"/>
          </p:cNvCxnSpPr>
          <p:nvPr/>
        </p:nvCxnSpPr>
        <p:spPr>
          <a:xfrm>
            <a:off x="4344693" y="6312170"/>
            <a:ext cx="481084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7900967" y="6443239"/>
            <a:ext cx="878774" cy="8431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9003525" y="6913970"/>
            <a:ext cx="2387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094797" y="7478841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7x7x1024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115" y="7734270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input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64223" y="6854425"/>
            <a:ext cx="177085" cy="17302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1642576" y="6037643"/>
            <a:ext cx="1202267" cy="124577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150471" y="667903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YOLOv1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471" y="144683"/>
            <a:ext cx="204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YOLOv1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089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YOLO architectu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08" y="1163262"/>
            <a:ext cx="10770598" cy="324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Object detection using YOL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576" y="4966745"/>
            <a:ext cx="2702117" cy="2691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9583225" y="5197901"/>
            <a:ext cx="2010968" cy="2229413"/>
            <a:chOff x="7821801" y="4190850"/>
            <a:chExt cx="2010968" cy="2229413"/>
          </a:xfrm>
        </p:grpSpPr>
        <p:grpSp>
          <p:nvGrpSpPr>
            <p:cNvPr id="10" name="Group 9"/>
            <p:cNvGrpSpPr/>
            <p:nvPr/>
          </p:nvGrpSpPr>
          <p:grpSpPr>
            <a:xfrm>
              <a:off x="7821801" y="4190850"/>
              <a:ext cx="2010968" cy="2229413"/>
              <a:chOff x="7818612" y="4178975"/>
              <a:chExt cx="1741025" cy="1544931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 rotWithShape="1">
              <a:blip r:embed="rId4"/>
              <a:srcRect l="2609" r="4867" b="3841"/>
              <a:stretch/>
            </p:blipFill>
            <p:spPr>
              <a:xfrm>
                <a:off x="7873341" y="4178975"/>
                <a:ext cx="1686296" cy="1544931"/>
              </a:xfrm>
              <a:prstGeom prst="rect">
                <a:avLst/>
              </a:prstGeom>
            </p:spPr>
          </p:pic>
          <p:sp>
            <p:nvSpPr>
              <p:cNvPr id="9" name="Rectangle 8"/>
              <p:cNvSpPr/>
              <p:nvPr/>
            </p:nvSpPr>
            <p:spPr>
              <a:xfrm rot="2400249">
                <a:off x="9400007" y="5173920"/>
                <a:ext cx="114511" cy="3891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 rot="2400249">
                <a:off x="7818612" y="4367185"/>
                <a:ext cx="343963" cy="2408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82347" y="5130140"/>
              <a:ext cx="1268849" cy="1278248"/>
            </a:xfrm>
            <a:prstGeom prst="rect">
              <a:avLst/>
            </a:prstGeom>
          </p:spPr>
        </p:pic>
      </p:grpSp>
      <p:pic>
        <p:nvPicPr>
          <p:cNvPr id="1034" name="Picture 10" descr="How does the YOLO network create boundaries for object detection? - Cross  Validated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64" t="7585" r="33637" b="43832"/>
          <a:stretch/>
        </p:blipFill>
        <p:spPr bwMode="auto">
          <a:xfrm>
            <a:off x="4825777" y="5341362"/>
            <a:ext cx="3858495" cy="1942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Arrow Connector 13"/>
          <p:cNvCxnSpPr>
            <a:stCxn id="1030" idx="3"/>
            <a:endCxn id="1034" idx="1"/>
          </p:cNvCxnSpPr>
          <p:nvPr/>
        </p:nvCxnSpPr>
        <p:spPr>
          <a:xfrm>
            <a:off x="4344693" y="6312607"/>
            <a:ext cx="481084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900967" y="6443676"/>
            <a:ext cx="878774" cy="8431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9003525" y="6914407"/>
            <a:ext cx="2387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02525" y="1163261"/>
            <a:ext cx="4417620" cy="309998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10094797" y="7479278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7x7x1024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115" y="7734707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input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9664223" y="6854862"/>
            <a:ext cx="177085" cy="17302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642576" y="6038080"/>
            <a:ext cx="1202267" cy="124577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7954257" y="7899474"/>
            <a:ext cx="1038993" cy="1142553"/>
          </a:xfrm>
          <a:prstGeom prst="rect">
            <a:avLst/>
          </a:prstGeom>
        </p:spPr>
      </p:pic>
      <p:cxnSp>
        <p:nvCxnSpPr>
          <p:cNvPr id="17" name="Curved Connector 16"/>
          <p:cNvCxnSpPr>
            <a:stCxn id="3" idx="1"/>
            <a:endCxn id="12" idx="1"/>
          </p:cNvCxnSpPr>
          <p:nvPr/>
        </p:nvCxnSpPr>
        <p:spPr>
          <a:xfrm rot="10800000" flipV="1">
            <a:off x="8993251" y="6941375"/>
            <a:ext cx="670973" cy="152937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948234" y="9124938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1x1x1024</a:t>
            </a:r>
          </a:p>
        </p:txBody>
      </p:sp>
      <p:pic>
        <p:nvPicPr>
          <p:cNvPr id="35" name="Picture 6" descr="Object detection using YOL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" t="38584" r="55119" b="14210"/>
          <a:stretch/>
        </p:blipFill>
        <p:spPr bwMode="auto">
          <a:xfrm>
            <a:off x="4825777" y="7901223"/>
            <a:ext cx="1123725" cy="127066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isometricOffAxis1Right"/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Curved Connector 36"/>
          <p:cNvCxnSpPr>
            <a:stCxn id="22" idx="2"/>
            <a:endCxn id="35" idx="1"/>
          </p:cNvCxnSpPr>
          <p:nvPr/>
        </p:nvCxnSpPr>
        <p:spPr>
          <a:xfrm rot="16200000" flipH="1">
            <a:off x="2908394" y="6619170"/>
            <a:ext cx="1252698" cy="258206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826495" y="9163686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55x55x3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6187045" y="8470751"/>
            <a:ext cx="160316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50471" y="667903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YOLOv1 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471" y="144683"/>
            <a:ext cx="204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YOLOv1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072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YOLO architectu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08" y="1163262"/>
            <a:ext cx="10770598" cy="324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Object detection using YOL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576" y="4966745"/>
            <a:ext cx="2702117" cy="2691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9583225" y="5197901"/>
            <a:ext cx="2010968" cy="2229413"/>
            <a:chOff x="7821801" y="4190850"/>
            <a:chExt cx="2010968" cy="2229413"/>
          </a:xfrm>
        </p:grpSpPr>
        <p:grpSp>
          <p:nvGrpSpPr>
            <p:cNvPr id="10" name="Group 9"/>
            <p:cNvGrpSpPr/>
            <p:nvPr/>
          </p:nvGrpSpPr>
          <p:grpSpPr>
            <a:xfrm>
              <a:off x="7821801" y="4190850"/>
              <a:ext cx="2010968" cy="2229413"/>
              <a:chOff x="7818612" y="4178975"/>
              <a:chExt cx="1741025" cy="1544931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 rotWithShape="1">
              <a:blip r:embed="rId4"/>
              <a:srcRect l="2609" r="4867" b="3841"/>
              <a:stretch/>
            </p:blipFill>
            <p:spPr>
              <a:xfrm>
                <a:off x="7873341" y="4178975"/>
                <a:ext cx="1686296" cy="1544931"/>
              </a:xfrm>
              <a:prstGeom prst="rect">
                <a:avLst/>
              </a:prstGeom>
            </p:spPr>
          </p:pic>
          <p:sp>
            <p:nvSpPr>
              <p:cNvPr id="9" name="Rectangle 8"/>
              <p:cNvSpPr/>
              <p:nvPr/>
            </p:nvSpPr>
            <p:spPr>
              <a:xfrm rot="2400249">
                <a:off x="9400007" y="5173920"/>
                <a:ext cx="114511" cy="3891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 rot="2400249">
                <a:off x="7818612" y="4367185"/>
                <a:ext cx="343963" cy="2408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82347" y="5130140"/>
              <a:ext cx="1268849" cy="1278248"/>
            </a:xfrm>
            <a:prstGeom prst="rect">
              <a:avLst/>
            </a:prstGeom>
          </p:spPr>
        </p:pic>
      </p:grpSp>
      <p:pic>
        <p:nvPicPr>
          <p:cNvPr id="1034" name="Picture 10" descr="How does the YOLO network create boundaries for object detection? - Cross  Validated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64" t="7585" r="33637" b="43832"/>
          <a:stretch/>
        </p:blipFill>
        <p:spPr bwMode="auto">
          <a:xfrm>
            <a:off x="4825777" y="5341362"/>
            <a:ext cx="3858495" cy="1942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Arrow Connector 13"/>
          <p:cNvCxnSpPr>
            <a:stCxn id="1030" idx="3"/>
            <a:endCxn id="1034" idx="1"/>
          </p:cNvCxnSpPr>
          <p:nvPr/>
        </p:nvCxnSpPr>
        <p:spPr>
          <a:xfrm>
            <a:off x="4344693" y="6312607"/>
            <a:ext cx="481084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900967" y="6443676"/>
            <a:ext cx="878774" cy="8431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9003525" y="6914407"/>
            <a:ext cx="2387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02525" y="1163261"/>
            <a:ext cx="4417620" cy="309998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10094797" y="7479278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7x7x1024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115" y="7734707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input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9664223" y="6854862"/>
            <a:ext cx="177085" cy="17302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642576" y="6038080"/>
            <a:ext cx="1202267" cy="124577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7954257" y="7899474"/>
            <a:ext cx="1038993" cy="1142553"/>
          </a:xfrm>
          <a:prstGeom prst="rect">
            <a:avLst/>
          </a:prstGeom>
        </p:spPr>
      </p:pic>
      <p:cxnSp>
        <p:nvCxnSpPr>
          <p:cNvPr id="17" name="Curved Connector 16"/>
          <p:cNvCxnSpPr>
            <a:stCxn id="3" idx="1"/>
            <a:endCxn id="12" idx="1"/>
          </p:cNvCxnSpPr>
          <p:nvPr/>
        </p:nvCxnSpPr>
        <p:spPr>
          <a:xfrm rot="10800000" flipV="1">
            <a:off x="8993251" y="6941375"/>
            <a:ext cx="670973" cy="152937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948234" y="9124938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1x1x1024</a:t>
            </a:r>
          </a:p>
        </p:txBody>
      </p:sp>
      <p:pic>
        <p:nvPicPr>
          <p:cNvPr id="35" name="Picture 6" descr="Object detection using YOL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" t="38584" r="55119" b="14210"/>
          <a:stretch/>
        </p:blipFill>
        <p:spPr bwMode="auto">
          <a:xfrm>
            <a:off x="4825777" y="7901223"/>
            <a:ext cx="1123725" cy="127066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isometricOffAxis1Right"/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Curved Connector 36"/>
          <p:cNvCxnSpPr>
            <a:stCxn id="22" idx="2"/>
            <a:endCxn id="35" idx="1"/>
          </p:cNvCxnSpPr>
          <p:nvPr/>
        </p:nvCxnSpPr>
        <p:spPr>
          <a:xfrm rot="16200000" flipH="1">
            <a:off x="2908394" y="6619170"/>
            <a:ext cx="1252698" cy="258206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826495" y="9163686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55x55x3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6187045" y="8470751"/>
            <a:ext cx="160316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50471" y="667903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YOLOv1 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471" y="144683"/>
            <a:ext cx="204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YOLOv1</a:t>
            </a:r>
            <a:endParaRPr lang="en-US"/>
          </a:p>
        </p:txBody>
      </p:sp>
      <p:pic>
        <p:nvPicPr>
          <p:cNvPr id="1028" name="Picture 4" descr="Generate a heatmap in MatPlotLib using a scatter data set - Stack Overflow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-8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146" t="25686" r="25932" b="31665"/>
          <a:stretch/>
        </p:blipFill>
        <p:spPr bwMode="auto">
          <a:xfrm>
            <a:off x="4825109" y="7963633"/>
            <a:ext cx="1184852" cy="117763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effectLst>
            <a:softEdge rad="292100"/>
          </a:effectLst>
          <a:scene3d>
            <a:camera prst="isometricOffAxis1Righ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652632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YOLO architectu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08" y="1163262"/>
            <a:ext cx="10770598" cy="324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3251108" y="4745979"/>
            <a:ext cx="2010968" cy="2229413"/>
            <a:chOff x="7821801" y="4190850"/>
            <a:chExt cx="2010968" cy="2229413"/>
          </a:xfrm>
        </p:grpSpPr>
        <p:grpSp>
          <p:nvGrpSpPr>
            <p:cNvPr id="10" name="Group 9"/>
            <p:cNvGrpSpPr/>
            <p:nvPr/>
          </p:nvGrpSpPr>
          <p:grpSpPr>
            <a:xfrm>
              <a:off x="7821801" y="4190850"/>
              <a:ext cx="2010968" cy="2229413"/>
              <a:chOff x="7818612" y="4178975"/>
              <a:chExt cx="1741025" cy="1544931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 rotWithShape="1">
              <a:blip r:embed="rId3"/>
              <a:srcRect l="2609" r="4867" b="3841"/>
              <a:stretch/>
            </p:blipFill>
            <p:spPr>
              <a:xfrm>
                <a:off x="7873341" y="4178975"/>
                <a:ext cx="1686296" cy="1544931"/>
              </a:xfrm>
              <a:prstGeom prst="rect">
                <a:avLst/>
              </a:prstGeom>
            </p:spPr>
          </p:pic>
          <p:sp>
            <p:nvSpPr>
              <p:cNvPr id="9" name="Rectangle 8"/>
              <p:cNvSpPr/>
              <p:nvPr/>
            </p:nvSpPr>
            <p:spPr>
              <a:xfrm rot="2400249">
                <a:off x="9400007" y="5173920"/>
                <a:ext cx="114511" cy="3891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 rot="2400249">
                <a:off x="7818612" y="4367185"/>
                <a:ext cx="343963" cy="2408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82347" y="5130140"/>
              <a:ext cx="1268849" cy="1278248"/>
            </a:xfrm>
            <a:prstGeom prst="rect">
              <a:avLst/>
            </a:prstGeom>
          </p:spPr>
        </p:pic>
      </p:grpSp>
      <p:sp>
        <p:nvSpPr>
          <p:cNvPr id="31" name="Rectangle 30"/>
          <p:cNvSpPr/>
          <p:nvPr/>
        </p:nvSpPr>
        <p:spPr>
          <a:xfrm>
            <a:off x="4127942" y="1163262"/>
            <a:ext cx="3602896" cy="309998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3762680" y="7027356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7x7x1024</a:t>
            </a:r>
          </a:p>
        </p:txBody>
      </p:sp>
      <p:sp>
        <p:nvSpPr>
          <p:cNvPr id="3" name="Rectangle 2"/>
          <p:cNvSpPr/>
          <p:nvPr/>
        </p:nvSpPr>
        <p:spPr>
          <a:xfrm>
            <a:off x="3332106" y="6402940"/>
            <a:ext cx="177085" cy="17302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8336220" y="7027356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7x7x30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4330" y="5190466"/>
            <a:ext cx="1940137" cy="178492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8061820" y="6429004"/>
            <a:ext cx="166470" cy="16037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Curved Connector 36"/>
          <p:cNvCxnSpPr/>
          <p:nvPr/>
        </p:nvCxnSpPr>
        <p:spPr>
          <a:xfrm rot="5400000">
            <a:off x="3810705" y="3906495"/>
            <a:ext cx="1480509" cy="52551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urved Connector 37"/>
          <p:cNvCxnSpPr/>
          <p:nvPr/>
        </p:nvCxnSpPr>
        <p:spPr>
          <a:xfrm rot="16200000" flipH="1">
            <a:off x="7067656" y="3816456"/>
            <a:ext cx="1812499" cy="1197192"/>
          </a:xfrm>
          <a:prstGeom prst="curvedConnector3">
            <a:avLst>
              <a:gd name="adj1" fmla="val 5000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50471" y="667903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YOLOv1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471" y="144683"/>
            <a:ext cx="204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YOLOv1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789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YOLO architectu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08" y="1163262"/>
            <a:ext cx="10770598" cy="324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3251108" y="4745979"/>
            <a:ext cx="2010968" cy="2229413"/>
            <a:chOff x="7821801" y="4190850"/>
            <a:chExt cx="2010968" cy="2229413"/>
          </a:xfrm>
        </p:grpSpPr>
        <p:grpSp>
          <p:nvGrpSpPr>
            <p:cNvPr id="10" name="Group 9"/>
            <p:cNvGrpSpPr/>
            <p:nvPr/>
          </p:nvGrpSpPr>
          <p:grpSpPr>
            <a:xfrm>
              <a:off x="7821801" y="4190850"/>
              <a:ext cx="2010968" cy="2229413"/>
              <a:chOff x="7818612" y="4178975"/>
              <a:chExt cx="1741025" cy="1544931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 rotWithShape="1">
              <a:blip r:embed="rId3"/>
              <a:srcRect l="2609" r="4867" b="3841"/>
              <a:stretch/>
            </p:blipFill>
            <p:spPr>
              <a:xfrm>
                <a:off x="7873341" y="4178975"/>
                <a:ext cx="1686296" cy="1544931"/>
              </a:xfrm>
              <a:prstGeom prst="rect">
                <a:avLst/>
              </a:prstGeom>
            </p:spPr>
          </p:pic>
          <p:sp>
            <p:nvSpPr>
              <p:cNvPr id="9" name="Rectangle 8"/>
              <p:cNvSpPr/>
              <p:nvPr/>
            </p:nvSpPr>
            <p:spPr>
              <a:xfrm rot="2400249">
                <a:off x="9400007" y="5173920"/>
                <a:ext cx="114511" cy="3891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 rot="2400249">
                <a:off x="7818612" y="4367185"/>
                <a:ext cx="343963" cy="2408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82347" y="5130140"/>
              <a:ext cx="1268849" cy="1278248"/>
            </a:xfrm>
            <a:prstGeom prst="rect">
              <a:avLst/>
            </a:prstGeom>
          </p:spPr>
        </p:pic>
      </p:grpSp>
      <p:sp>
        <p:nvSpPr>
          <p:cNvPr id="31" name="Rectangle 30"/>
          <p:cNvSpPr/>
          <p:nvPr/>
        </p:nvSpPr>
        <p:spPr>
          <a:xfrm>
            <a:off x="4127942" y="1163262"/>
            <a:ext cx="3602896" cy="309998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3762680" y="7027356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7x7x1024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6220" y="7027356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7x7x30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4330" y="5190466"/>
            <a:ext cx="1940137" cy="1784926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3885245" y="7726700"/>
            <a:ext cx="1263962" cy="138994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897579" y="9138881"/>
            <a:ext cx="2145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50176</a:t>
            </a:r>
          </a:p>
        </p:txBody>
      </p:sp>
      <p:cxnSp>
        <p:nvCxnSpPr>
          <p:cNvPr id="19" name="Curved Connector 18"/>
          <p:cNvCxnSpPr>
            <a:endCxn id="35" idx="3"/>
          </p:cNvCxnSpPr>
          <p:nvPr/>
        </p:nvCxnSpPr>
        <p:spPr>
          <a:xfrm rot="10800000" flipH="1" flipV="1">
            <a:off x="3332105" y="6489453"/>
            <a:ext cx="553139" cy="1932220"/>
          </a:xfrm>
          <a:prstGeom prst="curvedConnector3">
            <a:avLst>
              <a:gd name="adj1" fmla="val -4132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591300" y="7948190"/>
            <a:ext cx="922623" cy="107955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14207" y="9138881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1470</a:t>
            </a:r>
          </a:p>
        </p:txBody>
      </p:sp>
      <p:cxnSp>
        <p:nvCxnSpPr>
          <p:cNvPr id="25" name="Curved Connector 24"/>
          <p:cNvCxnSpPr>
            <a:stCxn id="14" idx="1"/>
          </p:cNvCxnSpPr>
          <p:nvPr/>
        </p:nvCxnSpPr>
        <p:spPr>
          <a:xfrm flipV="1">
            <a:off x="7513923" y="6975392"/>
            <a:ext cx="691926" cy="1512576"/>
          </a:xfrm>
          <a:prstGeom prst="curved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50471" y="667903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YOLOv1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471" y="144683"/>
            <a:ext cx="204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YOLOv1</a:t>
            </a:r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150696" y="7455563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flatten</a:t>
            </a:r>
          </a:p>
        </p:txBody>
      </p:sp>
      <p:pic>
        <p:nvPicPr>
          <p:cNvPr id="28" name="Picture 2" descr="4. Fully Connected Deep Networks - TensorFlow for Deep Learning [Book]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325245">
            <a:off x="4922675" y="7489866"/>
            <a:ext cx="1813691" cy="1945401"/>
          </a:xfrm>
          <a:prstGeom prst="rect">
            <a:avLst/>
          </a:prstGeom>
          <a:noFill/>
          <a:scene3d>
            <a:camera prst="isometricBottomDown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/>
          <p:cNvSpPr txBox="1"/>
          <p:nvPr/>
        </p:nvSpPr>
        <p:spPr>
          <a:xfrm>
            <a:off x="7974330" y="7798100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reshape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00891" y="7391134"/>
            <a:ext cx="1208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4096</a:t>
            </a:r>
          </a:p>
        </p:txBody>
      </p:sp>
    </p:spTree>
    <p:extLst>
      <p:ext uri="{BB962C8B-B14F-4D97-AF65-F5344CB8AC3E}">
        <p14:creationId xmlns:p14="http://schemas.microsoft.com/office/powerpoint/2010/main" val="948091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YOLO architectu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08" y="1163262"/>
            <a:ext cx="10770598" cy="324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3251108" y="4745979"/>
            <a:ext cx="2010968" cy="2229413"/>
            <a:chOff x="7821801" y="4190850"/>
            <a:chExt cx="2010968" cy="2229413"/>
          </a:xfrm>
        </p:grpSpPr>
        <p:grpSp>
          <p:nvGrpSpPr>
            <p:cNvPr id="10" name="Group 9"/>
            <p:cNvGrpSpPr/>
            <p:nvPr/>
          </p:nvGrpSpPr>
          <p:grpSpPr>
            <a:xfrm>
              <a:off x="7821801" y="4190850"/>
              <a:ext cx="2010968" cy="2229413"/>
              <a:chOff x="7818612" y="4178975"/>
              <a:chExt cx="1741025" cy="1544931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 rotWithShape="1">
              <a:blip r:embed="rId3"/>
              <a:srcRect l="2609" r="4867" b="3841"/>
              <a:stretch/>
            </p:blipFill>
            <p:spPr>
              <a:xfrm>
                <a:off x="7873341" y="4178975"/>
                <a:ext cx="1686296" cy="1544931"/>
              </a:xfrm>
              <a:prstGeom prst="rect">
                <a:avLst/>
              </a:prstGeom>
            </p:spPr>
          </p:pic>
          <p:sp>
            <p:nvSpPr>
              <p:cNvPr id="9" name="Rectangle 8"/>
              <p:cNvSpPr/>
              <p:nvPr/>
            </p:nvSpPr>
            <p:spPr>
              <a:xfrm rot="2400249">
                <a:off x="9400007" y="5173920"/>
                <a:ext cx="114511" cy="3891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 rot="2400249">
                <a:off x="7818612" y="4367185"/>
                <a:ext cx="343963" cy="2408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82347" y="5130140"/>
              <a:ext cx="1268849" cy="1278248"/>
            </a:xfrm>
            <a:prstGeom prst="rect">
              <a:avLst/>
            </a:prstGeom>
          </p:spPr>
        </p:pic>
      </p:grpSp>
      <p:sp>
        <p:nvSpPr>
          <p:cNvPr id="31" name="Rectangle 30"/>
          <p:cNvSpPr/>
          <p:nvPr/>
        </p:nvSpPr>
        <p:spPr>
          <a:xfrm>
            <a:off x="4127942" y="1163262"/>
            <a:ext cx="3602896" cy="309998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3762680" y="7027356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7x7x1024</a:t>
            </a:r>
          </a:p>
        </p:txBody>
      </p:sp>
      <p:sp>
        <p:nvSpPr>
          <p:cNvPr id="3" name="Rectangle 2"/>
          <p:cNvSpPr/>
          <p:nvPr/>
        </p:nvSpPr>
        <p:spPr>
          <a:xfrm>
            <a:off x="3332106" y="6402940"/>
            <a:ext cx="177085" cy="17302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8336220" y="7027356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7x7x30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4330" y="5190466"/>
            <a:ext cx="1940137" cy="178492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8061820" y="6429004"/>
            <a:ext cx="166470" cy="16037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3885245" y="7726700"/>
            <a:ext cx="1263962" cy="1389945"/>
          </a:xfrm>
          <a:prstGeom prst="rect">
            <a:avLst/>
          </a:prstGeom>
        </p:spPr>
      </p:pic>
      <p:cxnSp>
        <p:nvCxnSpPr>
          <p:cNvPr id="19" name="Curved Connector 18"/>
          <p:cNvCxnSpPr>
            <a:stCxn id="3" idx="1"/>
            <a:endCxn id="35" idx="3"/>
          </p:cNvCxnSpPr>
          <p:nvPr/>
        </p:nvCxnSpPr>
        <p:spPr>
          <a:xfrm rot="10800000" flipH="1" flipV="1">
            <a:off x="3332105" y="6489453"/>
            <a:ext cx="553139" cy="1932220"/>
          </a:xfrm>
          <a:prstGeom prst="curvedConnector3">
            <a:avLst>
              <a:gd name="adj1" fmla="val -4132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591300" y="7948190"/>
            <a:ext cx="922623" cy="1079555"/>
          </a:xfrm>
          <a:prstGeom prst="rect">
            <a:avLst/>
          </a:prstGeom>
        </p:spPr>
      </p:pic>
      <p:pic>
        <p:nvPicPr>
          <p:cNvPr id="8194" name="Picture 2" descr="4. Fully Connected Deep Networks - TensorFlow for Deep Learning [Book]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325245">
            <a:off x="4922675" y="7489866"/>
            <a:ext cx="1813691" cy="1945401"/>
          </a:xfrm>
          <a:prstGeom prst="rect">
            <a:avLst/>
          </a:prstGeom>
          <a:noFill/>
          <a:scene3d>
            <a:camera prst="isometricBottomDown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 descr="Object detection using YOLO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" t="38584" r="55119" b="14210"/>
          <a:stretch/>
        </p:blipFill>
        <p:spPr bwMode="auto">
          <a:xfrm>
            <a:off x="1309582" y="7868221"/>
            <a:ext cx="1123725" cy="127066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isometricOffAxis1Right"/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Straight Arrow Connector 27"/>
          <p:cNvCxnSpPr/>
          <p:nvPr/>
        </p:nvCxnSpPr>
        <p:spPr>
          <a:xfrm>
            <a:off x="2501023" y="8673951"/>
            <a:ext cx="160316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50471" y="667903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YOLOv1 Architecture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471" y="144683"/>
            <a:ext cx="204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YOLOv1</a:t>
            </a:r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2897579" y="9138881"/>
            <a:ext cx="2145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50176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4207" y="9138881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1470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00891" y="7391134"/>
            <a:ext cx="1208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4096</a:t>
            </a:r>
          </a:p>
        </p:txBody>
      </p:sp>
      <p:cxnSp>
        <p:nvCxnSpPr>
          <p:cNvPr id="40" name="Curved Connector 39"/>
          <p:cNvCxnSpPr>
            <a:stCxn id="14" idx="1"/>
            <a:endCxn id="34" idx="1"/>
          </p:cNvCxnSpPr>
          <p:nvPr/>
        </p:nvCxnSpPr>
        <p:spPr>
          <a:xfrm flipV="1">
            <a:off x="7513923" y="6509192"/>
            <a:ext cx="547897" cy="1978776"/>
          </a:xfrm>
          <a:prstGeom prst="curvedConnector3">
            <a:avLst>
              <a:gd name="adj1" fmla="val 5000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742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YOLO architectu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08" y="1163262"/>
            <a:ext cx="10770598" cy="324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3251108" y="4745979"/>
            <a:ext cx="2010968" cy="2229413"/>
            <a:chOff x="7821801" y="4190850"/>
            <a:chExt cx="2010968" cy="2229413"/>
          </a:xfrm>
        </p:grpSpPr>
        <p:grpSp>
          <p:nvGrpSpPr>
            <p:cNvPr id="10" name="Group 9"/>
            <p:cNvGrpSpPr/>
            <p:nvPr/>
          </p:nvGrpSpPr>
          <p:grpSpPr>
            <a:xfrm>
              <a:off x="7821801" y="4190850"/>
              <a:ext cx="2010968" cy="2229413"/>
              <a:chOff x="7818612" y="4178975"/>
              <a:chExt cx="1741025" cy="1544931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 rotWithShape="1">
              <a:blip r:embed="rId3"/>
              <a:srcRect l="2609" r="4867" b="3841"/>
              <a:stretch/>
            </p:blipFill>
            <p:spPr>
              <a:xfrm>
                <a:off x="7873341" y="4178975"/>
                <a:ext cx="1686296" cy="1544931"/>
              </a:xfrm>
              <a:prstGeom prst="rect">
                <a:avLst/>
              </a:prstGeom>
            </p:spPr>
          </p:pic>
          <p:sp>
            <p:nvSpPr>
              <p:cNvPr id="9" name="Rectangle 8"/>
              <p:cNvSpPr/>
              <p:nvPr/>
            </p:nvSpPr>
            <p:spPr>
              <a:xfrm rot="2400249">
                <a:off x="9400007" y="5173920"/>
                <a:ext cx="114511" cy="3891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 rot="2400249">
                <a:off x="7818612" y="4367185"/>
                <a:ext cx="343963" cy="2408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82347" y="5130140"/>
              <a:ext cx="1268849" cy="1278248"/>
            </a:xfrm>
            <a:prstGeom prst="rect">
              <a:avLst/>
            </a:prstGeom>
          </p:spPr>
        </p:pic>
      </p:grpSp>
      <p:sp>
        <p:nvSpPr>
          <p:cNvPr id="31" name="Rectangle 30"/>
          <p:cNvSpPr/>
          <p:nvPr/>
        </p:nvSpPr>
        <p:spPr>
          <a:xfrm>
            <a:off x="4127942" y="1163262"/>
            <a:ext cx="3602896" cy="309998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3762680" y="7027356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7x7x1024</a:t>
            </a:r>
          </a:p>
        </p:txBody>
      </p:sp>
      <p:sp>
        <p:nvSpPr>
          <p:cNvPr id="3" name="Rectangle 2"/>
          <p:cNvSpPr/>
          <p:nvPr/>
        </p:nvSpPr>
        <p:spPr>
          <a:xfrm>
            <a:off x="3332106" y="6402940"/>
            <a:ext cx="177085" cy="17302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8336220" y="7027356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7x7x30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4330" y="5190466"/>
            <a:ext cx="1940137" cy="178492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8061820" y="6429004"/>
            <a:ext cx="166470" cy="16037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3885245" y="7726700"/>
            <a:ext cx="1263962" cy="1389945"/>
          </a:xfrm>
          <a:prstGeom prst="rect">
            <a:avLst/>
          </a:prstGeom>
        </p:spPr>
      </p:pic>
      <p:cxnSp>
        <p:nvCxnSpPr>
          <p:cNvPr id="19" name="Curved Connector 18"/>
          <p:cNvCxnSpPr>
            <a:stCxn id="3" idx="1"/>
            <a:endCxn id="35" idx="3"/>
          </p:cNvCxnSpPr>
          <p:nvPr/>
        </p:nvCxnSpPr>
        <p:spPr>
          <a:xfrm rot="10800000" flipH="1" flipV="1">
            <a:off x="3332105" y="6489453"/>
            <a:ext cx="553139" cy="1932220"/>
          </a:xfrm>
          <a:prstGeom prst="curvedConnector3">
            <a:avLst>
              <a:gd name="adj1" fmla="val -4132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591300" y="7948190"/>
            <a:ext cx="922623" cy="1079555"/>
          </a:xfrm>
          <a:prstGeom prst="rect">
            <a:avLst/>
          </a:prstGeom>
        </p:spPr>
      </p:pic>
      <p:pic>
        <p:nvPicPr>
          <p:cNvPr id="8194" name="Picture 2" descr="4. Fully Connected Deep Networks - TensorFlow for Deep Learning [Book]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325245">
            <a:off x="4922675" y="7489866"/>
            <a:ext cx="1813691" cy="1945401"/>
          </a:xfrm>
          <a:prstGeom prst="rect">
            <a:avLst/>
          </a:prstGeom>
          <a:noFill/>
          <a:scene3d>
            <a:camera prst="isometricBottomDown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 descr="Object detection using YOLO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" t="38584" r="55119" b="14210"/>
          <a:stretch/>
        </p:blipFill>
        <p:spPr bwMode="auto">
          <a:xfrm>
            <a:off x="1309582" y="7868221"/>
            <a:ext cx="1123725" cy="127066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isometricOffAxis1Right"/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Straight Arrow Connector 27"/>
          <p:cNvCxnSpPr/>
          <p:nvPr/>
        </p:nvCxnSpPr>
        <p:spPr>
          <a:xfrm>
            <a:off x="2501023" y="8673951"/>
            <a:ext cx="160316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234117"/>
              </p:ext>
            </p:extLst>
          </p:nvPr>
        </p:nvGraphicFramePr>
        <p:xfrm>
          <a:off x="10722872" y="3760698"/>
          <a:ext cx="627140" cy="5657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7140">
                  <a:extLst>
                    <a:ext uri="{9D8B030D-6E8A-4147-A177-3AD203B41FA5}">
                      <a16:colId xmlns:a16="http://schemas.microsoft.com/office/drawing/2014/main" val="1899832617"/>
                    </a:ext>
                  </a:extLst>
                </a:gridCol>
              </a:tblGrid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71337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y1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791423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w1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058638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h1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003377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p1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427133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14939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p2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835270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c0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131950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951396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cn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697538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988716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c19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908433"/>
                  </a:ext>
                </a:extLst>
              </a:tr>
            </a:tbl>
          </a:graphicData>
        </a:graphic>
      </p:graphicFrame>
      <p:cxnSp>
        <p:nvCxnSpPr>
          <p:cNvPr id="30" name="Straight Arrow Connector 29"/>
          <p:cNvCxnSpPr/>
          <p:nvPr/>
        </p:nvCxnSpPr>
        <p:spPr>
          <a:xfrm flipV="1">
            <a:off x="8291604" y="6509192"/>
            <a:ext cx="2300452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ight Brace 6"/>
          <p:cNvSpPr/>
          <p:nvPr/>
        </p:nvSpPr>
        <p:spPr>
          <a:xfrm>
            <a:off x="11480800" y="3760698"/>
            <a:ext cx="362206" cy="2348002"/>
          </a:xfrm>
          <a:prstGeom prst="rightBrace">
            <a:avLst>
              <a:gd name="adj1" fmla="val 18852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11714971" y="4761261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Box1</a:t>
            </a:r>
          </a:p>
        </p:txBody>
      </p:sp>
      <p:sp>
        <p:nvSpPr>
          <p:cNvPr id="37" name="Right Brace 36"/>
          <p:cNvSpPr/>
          <p:nvPr/>
        </p:nvSpPr>
        <p:spPr>
          <a:xfrm>
            <a:off x="11437239" y="6108699"/>
            <a:ext cx="424212" cy="958087"/>
          </a:xfrm>
          <a:prstGeom prst="rightBrace">
            <a:avLst>
              <a:gd name="adj1" fmla="val 254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11714971" y="6416636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Box2</a:t>
            </a:r>
          </a:p>
        </p:txBody>
      </p:sp>
      <p:sp>
        <p:nvSpPr>
          <p:cNvPr id="39" name="Right Brace 38"/>
          <p:cNvSpPr/>
          <p:nvPr/>
        </p:nvSpPr>
        <p:spPr>
          <a:xfrm>
            <a:off x="11480799" y="7063126"/>
            <a:ext cx="393209" cy="2354936"/>
          </a:xfrm>
          <a:prstGeom prst="rightBrace">
            <a:avLst>
              <a:gd name="adj1" fmla="val 254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11917568" y="8071317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20 classes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471" y="667903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YOLOv1 Architecture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0471" y="144683"/>
            <a:ext cx="204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YOLOv1</a:t>
            </a:r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2897579" y="9138881"/>
            <a:ext cx="2145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50176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4207" y="9138881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1470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00891" y="7391134"/>
            <a:ext cx="1208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4096</a:t>
            </a:r>
          </a:p>
        </p:txBody>
      </p:sp>
      <p:cxnSp>
        <p:nvCxnSpPr>
          <p:cNvPr id="46" name="Curved Connector 45"/>
          <p:cNvCxnSpPr/>
          <p:nvPr/>
        </p:nvCxnSpPr>
        <p:spPr>
          <a:xfrm flipV="1">
            <a:off x="7513923" y="6509192"/>
            <a:ext cx="547897" cy="1978776"/>
          </a:xfrm>
          <a:prstGeom prst="curvedConnector3">
            <a:avLst>
              <a:gd name="adj1" fmla="val 5000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998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YOLO architectu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08" y="1163262"/>
            <a:ext cx="10770598" cy="324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3251108" y="4745979"/>
            <a:ext cx="2010968" cy="2229413"/>
            <a:chOff x="7821801" y="4190850"/>
            <a:chExt cx="2010968" cy="2229413"/>
          </a:xfrm>
        </p:grpSpPr>
        <p:grpSp>
          <p:nvGrpSpPr>
            <p:cNvPr id="10" name="Group 9"/>
            <p:cNvGrpSpPr/>
            <p:nvPr/>
          </p:nvGrpSpPr>
          <p:grpSpPr>
            <a:xfrm>
              <a:off x="7821801" y="4190850"/>
              <a:ext cx="2010968" cy="2229413"/>
              <a:chOff x="7818612" y="4178975"/>
              <a:chExt cx="1741025" cy="1544931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 rotWithShape="1">
              <a:blip r:embed="rId3"/>
              <a:srcRect l="2609" r="4867" b="3841"/>
              <a:stretch/>
            </p:blipFill>
            <p:spPr>
              <a:xfrm>
                <a:off x="7873341" y="4178975"/>
                <a:ext cx="1686296" cy="1544931"/>
              </a:xfrm>
              <a:prstGeom prst="rect">
                <a:avLst/>
              </a:prstGeom>
            </p:spPr>
          </p:pic>
          <p:sp>
            <p:nvSpPr>
              <p:cNvPr id="9" name="Rectangle 8"/>
              <p:cNvSpPr/>
              <p:nvPr/>
            </p:nvSpPr>
            <p:spPr>
              <a:xfrm rot="2400249">
                <a:off x="9400007" y="5173920"/>
                <a:ext cx="114511" cy="3891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 rot="2400249">
                <a:off x="7818612" y="4367185"/>
                <a:ext cx="343963" cy="2408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82347" y="5130140"/>
              <a:ext cx="1268849" cy="1278248"/>
            </a:xfrm>
            <a:prstGeom prst="rect">
              <a:avLst/>
            </a:prstGeom>
          </p:spPr>
        </p:pic>
      </p:grpSp>
      <p:sp>
        <p:nvSpPr>
          <p:cNvPr id="31" name="Rectangle 30"/>
          <p:cNvSpPr/>
          <p:nvPr/>
        </p:nvSpPr>
        <p:spPr>
          <a:xfrm>
            <a:off x="4127942" y="1163262"/>
            <a:ext cx="3602896" cy="309998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3762680" y="7027356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7x7x1024</a:t>
            </a:r>
          </a:p>
        </p:txBody>
      </p:sp>
      <p:sp>
        <p:nvSpPr>
          <p:cNvPr id="3" name="Rectangle 2"/>
          <p:cNvSpPr/>
          <p:nvPr/>
        </p:nvSpPr>
        <p:spPr>
          <a:xfrm>
            <a:off x="3332106" y="6402940"/>
            <a:ext cx="177085" cy="17302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8336220" y="7027356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7x7x30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4330" y="5190466"/>
            <a:ext cx="1940137" cy="178492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8061820" y="6429004"/>
            <a:ext cx="166470" cy="16037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3885245" y="7726700"/>
            <a:ext cx="1263962" cy="1389945"/>
          </a:xfrm>
          <a:prstGeom prst="rect">
            <a:avLst/>
          </a:prstGeom>
        </p:spPr>
      </p:pic>
      <p:cxnSp>
        <p:nvCxnSpPr>
          <p:cNvPr id="19" name="Curved Connector 18"/>
          <p:cNvCxnSpPr>
            <a:stCxn id="3" idx="1"/>
            <a:endCxn id="35" idx="3"/>
          </p:cNvCxnSpPr>
          <p:nvPr/>
        </p:nvCxnSpPr>
        <p:spPr>
          <a:xfrm rot="10800000" flipH="1" flipV="1">
            <a:off x="3332105" y="6489453"/>
            <a:ext cx="553139" cy="1932220"/>
          </a:xfrm>
          <a:prstGeom prst="curvedConnector3">
            <a:avLst>
              <a:gd name="adj1" fmla="val -4132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591300" y="7948190"/>
            <a:ext cx="922623" cy="1079555"/>
          </a:xfrm>
          <a:prstGeom prst="rect">
            <a:avLst/>
          </a:prstGeom>
        </p:spPr>
      </p:pic>
      <p:pic>
        <p:nvPicPr>
          <p:cNvPr id="8194" name="Picture 2" descr="4. Fully Connected Deep Networks - TensorFlow for Deep Learning [Book]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325245">
            <a:off x="4922675" y="7489866"/>
            <a:ext cx="1813691" cy="1945401"/>
          </a:xfrm>
          <a:prstGeom prst="rect">
            <a:avLst/>
          </a:prstGeom>
          <a:noFill/>
          <a:scene3d>
            <a:camera prst="isometricBottomDown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 descr="Object detection using YOLO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" t="38584" r="55119" b="14210"/>
          <a:stretch/>
        </p:blipFill>
        <p:spPr bwMode="auto">
          <a:xfrm>
            <a:off x="1309582" y="7868221"/>
            <a:ext cx="1123725" cy="127066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isometricOffAxis1Right"/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Straight Arrow Connector 27"/>
          <p:cNvCxnSpPr/>
          <p:nvPr/>
        </p:nvCxnSpPr>
        <p:spPr>
          <a:xfrm>
            <a:off x="2501023" y="8673951"/>
            <a:ext cx="160316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0722872" y="3760698"/>
          <a:ext cx="627140" cy="5657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7140">
                  <a:extLst>
                    <a:ext uri="{9D8B030D-6E8A-4147-A177-3AD203B41FA5}">
                      <a16:colId xmlns:a16="http://schemas.microsoft.com/office/drawing/2014/main" val="1899832617"/>
                    </a:ext>
                  </a:extLst>
                </a:gridCol>
              </a:tblGrid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71337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y1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791423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w1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058638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h1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003377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p1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427133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14939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p2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835270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c0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131950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951396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cn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697538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988716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c19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908433"/>
                  </a:ext>
                </a:extLst>
              </a:tr>
            </a:tbl>
          </a:graphicData>
        </a:graphic>
      </p:graphicFrame>
      <p:sp>
        <p:nvSpPr>
          <p:cNvPr id="7" name="Right Brace 6"/>
          <p:cNvSpPr/>
          <p:nvPr/>
        </p:nvSpPr>
        <p:spPr>
          <a:xfrm>
            <a:off x="11480800" y="3760698"/>
            <a:ext cx="362206" cy="2348002"/>
          </a:xfrm>
          <a:prstGeom prst="rightBrace">
            <a:avLst>
              <a:gd name="adj1" fmla="val 18852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11714971" y="4761261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Box1</a:t>
            </a:r>
          </a:p>
        </p:txBody>
      </p:sp>
      <p:sp>
        <p:nvSpPr>
          <p:cNvPr id="37" name="Right Brace 36"/>
          <p:cNvSpPr/>
          <p:nvPr/>
        </p:nvSpPr>
        <p:spPr>
          <a:xfrm>
            <a:off x="11437239" y="6108699"/>
            <a:ext cx="424212" cy="958087"/>
          </a:xfrm>
          <a:prstGeom prst="rightBrace">
            <a:avLst>
              <a:gd name="adj1" fmla="val 254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11714971" y="6416636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Box2</a:t>
            </a:r>
          </a:p>
        </p:txBody>
      </p:sp>
      <p:sp>
        <p:nvSpPr>
          <p:cNvPr id="39" name="Right Brace 38"/>
          <p:cNvSpPr/>
          <p:nvPr/>
        </p:nvSpPr>
        <p:spPr>
          <a:xfrm>
            <a:off x="11480799" y="7063126"/>
            <a:ext cx="393209" cy="2354936"/>
          </a:xfrm>
          <a:prstGeom prst="rightBrace">
            <a:avLst>
              <a:gd name="adj1" fmla="val 254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11917568" y="8071317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20 classes</a:t>
            </a:r>
          </a:p>
        </p:txBody>
      </p:sp>
      <p:pic>
        <p:nvPicPr>
          <p:cNvPr id="41" name="Picture 6" descr="Object detection using YOLO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368" y="4960231"/>
            <a:ext cx="1960828" cy="1953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2" name="Straight Arrow Connector 41"/>
          <p:cNvCxnSpPr/>
          <p:nvPr/>
        </p:nvCxnSpPr>
        <p:spPr>
          <a:xfrm flipV="1">
            <a:off x="2556643" y="5977467"/>
            <a:ext cx="438534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349040" y="5732552"/>
            <a:ext cx="830771" cy="940001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150471" y="667903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YOLOv1 Architecture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0471" y="144683"/>
            <a:ext cx="204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YOLOv1</a:t>
            </a:r>
            <a:endParaRPr lang="en-US"/>
          </a:p>
        </p:txBody>
      </p:sp>
      <p:cxnSp>
        <p:nvCxnSpPr>
          <p:cNvPr id="46" name="Straight Arrow Connector 45"/>
          <p:cNvCxnSpPr/>
          <p:nvPr/>
        </p:nvCxnSpPr>
        <p:spPr>
          <a:xfrm flipV="1">
            <a:off x="8291604" y="6509192"/>
            <a:ext cx="2300452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897579" y="9138881"/>
            <a:ext cx="2145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50176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4207" y="9138881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1470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00891" y="7391134"/>
            <a:ext cx="1208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4096</a:t>
            </a:r>
          </a:p>
        </p:txBody>
      </p:sp>
      <p:cxnSp>
        <p:nvCxnSpPr>
          <p:cNvPr id="50" name="Curved Connector 49"/>
          <p:cNvCxnSpPr/>
          <p:nvPr/>
        </p:nvCxnSpPr>
        <p:spPr>
          <a:xfrm flipV="1">
            <a:off x="7513923" y="6509192"/>
            <a:ext cx="547897" cy="1978776"/>
          </a:xfrm>
          <a:prstGeom prst="curvedConnector3">
            <a:avLst>
              <a:gd name="adj1" fmla="val 5000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5706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YOLO architectu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08" y="1163262"/>
            <a:ext cx="10770598" cy="324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3251108" y="4745979"/>
            <a:ext cx="2010968" cy="2229413"/>
            <a:chOff x="7821801" y="4190850"/>
            <a:chExt cx="2010968" cy="2229413"/>
          </a:xfrm>
        </p:grpSpPr>
        <p:grpSp>
          <p:nvGrpSpPr>
            <p:cNvPr id="10" name="Group 9"/>
            <p:cNvGrpSpPr/>
            <p:nvPr/>
          </p:nvGrpSpPr>
          <p:grpSpPr>
            <a:xfrm>
              <a:off x="7821801" y="4190850"/>
              <a:ext cx="2010968" cy="2229413"/>
              <a:chOff x="7818612" y="4178975"/>
              <a:chExt cx="1741025" cy="1544931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 rotWithShape="1">
              <a:blip r:embed="rId3"/>
              <a:srcRect l="2609" r="4867" b="3841"/>
              <a:stretch/>
            </p:blipFill>
            <p:spPr>
              <a:xfrm>
                <a:off x="7873341" y="4178975"/>
                <a:ext cx="1686296" cy="1544931"/>
              </a:xfrm>
              <a:prstGeom prst="rect">
                <a:avLst/>
              </a:prstGeom>
            </p:spPr>
          </p:pic>
          <p:sp>
            <p:nvSpPr>
              <p:cNvPr id="9" name="Rectangle 8"/>
              <p:cNvSpPr/>
              <p:nvPr/>
            </p:nvSpPr>
            <p:spPr>
              <a:xfrm rot="2400249">
                <a:off x="9400007" y="5173920"/>
                <a:ext cx="114511" cy="3891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 rot="2400249">
                <a:off x="7818612" y="4367185"/>
                <a:ext cx="343963" cy="2408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82347" y="5130140"/>
              <a:ext cx="1268849" cy="1278248"/>
            </a:xfrm>
            <a:prstGeom prst="rect">
              <a:avLst/>
            </a:prstGeom>
          </p:spPr>
        </p:pic>
      </p:grpSp>
      <p:sp>
        <p:nvSpPr>
          <p:cNvPr id="31" name="Rectangle 30"/>
          <p:cNvSpPr/>
          <p:nvPr/>
        </p:nvSpPr>
        <p:spPr>
          <a:xfrm>
            <a:off x="4127942" y="1163262"/>
            <a:ext cx="3602896" cy="309998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3762680" y="7027356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7x7x1024</a:t>
            </a:r>
          </a:p>
        </p:txBody>
      </p:sp>
      <p:sp>
        <p:nvSpPr>
          <p:cNvPr id="3" name="Rectangle 2"/>
          <p:cNvSpPr/>
          <p:nvPr/>
        </p:nvSpPr>
        <p:spPr>
          <a:xfrm>
            <a:off x="4411437" y="5689215"/>
            <a:ext cx="177085" cy="17302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8336220" y="7027356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7x7x30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4330" y="5190466"/>
            <a:ext cx="1940137" cy="178492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9096010" y="5725728"/>
            <a:ext cx="166470" cy="16037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3885245" y="7726700"/>
            <a:ext cx="1263962" cy="1389945"/>
          </a:xfrm>
          <a:prstGeom prst="rect">
            <a:avLst/>
          </a:prstGeom>
        </p:spPr>
      </p:pic>
      <p:cxnSp>
        <p:nvCxnSpPr>
          <p:cNvPr id="19" name="Curved Connector 18"/>
          <p:cNvCxnSpPr>
            <a:stCxn id="3" idx="3"/>
            <a:endCxn id="35" idx="3"/>
          </p:cNvCxnSpPr>
          <p:nvPr/>
        </p:nvCxnSpPr>
        <p:spPr>
          <a:xfrm flipH="1">
            <a:off x="3885245" y="5775728"/>
            <a:ext cx="703277" cy="2645945"/>
          </a:xfrm>
          <a:prstGeom prst="curvedConnector5">
            <a:avLst>
              <a:gd name="adj1" fmla="val -32505"/>
              <a:gd name="adj2" fmla="val 38502"/>
              <a:gd name="adj3" fmla="val 13250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591300" y="7948190"/>
            <a:ext cx="922623" cy="1079555"/>
          </a:xfrm>
          <a:prstGeom prst="rect">
            <a:avLst/>
          </a:prstGeom>
        </p:spPr>
      </p:pic>
      <p:cxnSp>
        <p:nvCxnSpPr>
          <p:cNvPr id="25" name="Curved Connector 24"/>
          <p:cNvCxnSpPr>
            <a:stCxn id="34" idx="3"/>
            <a:endCxn id="14" idx="1"/>
          </p:cNvCxnSpPr>
          <p:nvPr/>
        </p:nvCxnSpPr>
        <p:spPr>
          <a:xfrm flipH="1">
            <a:off x="7513923" y="5805916"/>
            <a:ext cx="1748557" cy="2682052"/>
          </a:xfrm>
          <a:prstGeom prst="curvedConnector3">
            <a:avLst>
              <a:gd name="adj1" fmla="val -13074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94" name="Picture 2" descr="4. Fully Connected Deep Networks - TensorFlow for Deep Learning [Book]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325245">
            <a:off x="4922675" y="7489866"/>
            <a:ext cx="1813691" cy="1945401"/>
          </a:xfrm>
          <a:prstGeom prst="rect">
            <a:avLst/>
          </a:prstGeom>
          <a:noFill/>
          <a:scene3d>
            <a:camera prst="isometricBottomDown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 descr="Object detection using YOLO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07" t="1525" r="1245" b="51269"/>
          <a:stretch/>
        </p:blipFill>
        <p:spPr bwMode="auto">
          <a:xfrm>
            <a:off x="1309582" y="7868221"/>
            <a:ext cx="1123725" cy="127066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isometricOffAxis1Right"/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Straight Arrow Connector 27"/>
          <p:cNvCxnSpPr/>
          <p:nvPr/>
        </p:nvCxnSpPr>
        <p:spPr>
          <a:xfrm>
            <a:off x="2501023" y="8673951"/>
            <a:ext cx="160316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0722872" y="3760698"/>
          <a:ext cx="627140" cy="5657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7140">
                  <a:extLst>
                    <a:ext uri="{9D8B030D-6E8A-4147-A177-3AD203B41FA5}">
                      <a16:colId xmlns:a16="http://schemas.microsoft.com/office/drawing/2014/main" val="1899832617"/>
                    </a:ext>
                  </a:extLst>
                </a:gridCol>
              </a:tblGrid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71337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y1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791423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w1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058638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h1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003377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p1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427133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14939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p2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835270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c0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131950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951396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cn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697538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988716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c19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908433"/>
                  </a:ext>
                </a:extLst>
              </a:tr>
            </a:tbl>
          </a:graphicData>
        </a:graphic>
      </p:graphicFrame>
      <p:sp>
        <p:nvSpPr>
          <p:cNvPr id="7" name="Right Brace 6"/>
          <p:cNvSpPr/>
          <p:nvPr/>
        </p:nvSpPr>
        <p:spPr>
          <a:xfrm>
            <a:off x="11480800" y="3760698"/>
            <a:ext cx="362206" cy="2348002"/>
          </a:xfrm>
          <a:prstGeom prst="rightBrace">
            <a:avLst>
              <a:gd name="adj1" fmla="val 18852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11714971" y="4761261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Box1</a:t>
            </a:r>
          </a:p>
        </p:txBody>
      </p:sp>
      <p:sp>
        <p:nvSpPr>
          <p:cNvPr id="37" name="Right Brace 36"/>
          <p:cNvSpPr/>
          <p:nvPr/>
        </p:nvSpPr>
        <p:spPr>
          <a:xfrm>
            <a:off x="11437239" y="6108699"/>
            <a:ext cx="424212" cy="958087"/>
          </a:xfrm>
          <a:prstGeom prst="rightBrace">
            <a:avLst>
              <a:gd name="adj1" fmla="val 254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11714971" y="6416636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Box2</a:t>
            </a:r>
          </a:p>
        </p:txBody>
      </p:sp>
      <p:sp>
        <p:nvSpPr>
          <p:cNvPr id="39" name="Right Brace 38"/>
          <p:cNvSpPr/>
          <p:nvPr/>
        </p:nvSpPr>
        <p:spPr>
          <a:xfrm>
            <a:off x="11480799" y="7063126"/>
            <a:ext cx="393209" cy="2354936"/>
          </a:xfrm>
          <a:prstGeom prst="rightBrace">
            <a:avLst>
              <a:gd name="adj1" fmla="val 254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11917568" y="8071317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20 classes</a:t>
            </a:r>
          </a:p>
        </p:txBody>
      </p:sp>
      <p:pic>
        <p:nvPicPr>
          <p:cNvPr id="41" name="Picture 6" descr="Object detection using YOLO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368" y="4960231"/>
            <a:ext cx="1960828" cy="1953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2" name="Straight Arrow Connector 41"/>
          <p:cNvCxnSpPr/>
          <p:nvPr/>
        </p:nvCxnSpPr>
        <p:spPr>
          <a:xfrm flipV="1">
            <a:off x="2556643" y="5977467"/>
            <a:ext cx="438534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1439973" y="4992420"/>
            <a:ext cx="830771" cy="940001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150471" y="667903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YOLOv1 Architecture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0471" y="144683"/>
            <a:ext cx="204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YOLOv1</a:t>
            </a:r>
            <a:endParaRPr lang="en-US"/>
          </a:p>
        </p:txBody>
      </p:sp>
      <p:cxnSp>
        <p:nvCxnSpPr>
          <p:cNvPr id="46" name="Straight Arrow Connector 45"/>
          <p:cNvCxnSpPr/>
          <p:nvPr/>
        </p:nvCxnSpPr>
        <p:spPr>
          <a:xfrm>
            <a:off x="9387258" y="5818167"/>
            <a:ext cx="1253939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897579" y="9138881"/>
            <a:ext cx="2145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50176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4207" y="9138881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1470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00891" y="7391134"/>
            <a:ext cx="1208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4096</a:t>
            </a:r>
          </a:p>
        </p:txBody>
      </p:sp>
    </p:spTree>
    <p:extLst>
      <p:ext uri="{BB962C8B-B14F-4D97-AF65-F5344CB8AC3E}">
        <p14:creationId xmlns:p14="http://schemas.microsoft.com/office/powerpoint/2010/main" val="1102472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YOLO architectu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08" y="1163262"/>
            <a:ext cx="10770598" cy="324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3251108" y="4745979"/>
            <a:ext cx="2010968" cy="2229413"/>
            <a:chOff x="7821801" y="4190850"/>
            <a:chExt cx="2010968" cy="2229413"/>
          </a:xfrm>
        </p:grpSpPr>
        <p:grpSp>
          <p:nvGrpSpPr>
            <p:cNvPr id="10" name="Group 9"/>
            <p:cNvGrpSpPr/>
            <p:nvPr/>
          </p:nvGrpSpPr>
          <p:grpSpPr>
            <a:xfrm>
              <a:off x="7821801" y="4190850"/>
              <a:ext cx="2010968" cy="2229413"/>
              <a:chOff x="7818612" y="4178975"/>
              <a:chExt cx="1741025" cy="1544931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 rotWithShape="1">
              <a:blip r:embed="rId3"/>
              <a:srcRect l="2609" r="4867" b="3841"/>
              <a:stretch/>
            </p:blipFill>
            <p:spPr>
              <a:xfrm>
                <a:off x="7873341" y="4178975"/>
                <a:ext cx="1686296" cy="1544931"/>
              </a:xfrm>
              <a:prstGeom prst="rect">
                <a:avLst/>
              </a:prstGeom>
            </p:spPr>
          </p:pic>
          <p:sp>
            <p:nvSpPr>
              <p:cNvPr id="9" name="Rectangle 8"/>
              <p:cNvSpPr/>
              <p:nvPr/>
            </p:nvSpPr>
            <p:spPr>
              <a:xfrm rot="2400249">
                <a:off x="9400007" y="5173920"/>
                <a:ext cx="114511" cy="3891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 rot="2400249">
                <a:off x="7818612" y="4367185"/>
                <a:ext cx="343963" cy="2408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82347" y="5130140"/>
              <a:ext cx="1268849" cy="1278248"/>
            </a:xfrm>
            <a:prstGeom prst="rect">
              <a:avLst/>
            </a:prstGeom>
          </p:spPr>
        </p:pic>
      </p:grpSp>
      <p:sp>
        <p:nvSpPr>
          <p:cNvPr id="31" name="Rectangle 30"/>
          <p:cNvSpPr/>
          <p:nvPr/>
        </p:nvSpPr>
        <p:spPr>
          <a:xfrm>
            <a:off x="4127942" y="1163262"/>
            <a:ext cx="3602896" cy="309998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3762680" y="7027356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7x7x1024</a:t>
            </a:r>
          </a:p>
        </p:txBody>
      </p:sp>
      <p:sp>
        <p:nvSpPr>
          <p:cNvPr id="3" name="Rectangle 2"/>
          <p:cNvSpPr/>
          <p:nvPr/>
        </p:nvSpPr>
        <p:spPr>
          <a:xfrm>
            <a:off x="4400802" y="6769468"/>
            <a:ext cx="177085" cy="17302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8336220" y="7027356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7x7x30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4330" y="5190466"/>
            <a:ext cx="1940137" cy="178492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9107369" y="6777851"/>
            <a:ext cx="166470" cy="16037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3885245" y="7726700"/>
            <a:ext cx="1263962" cy="1389945"/>
          </a:xfrm>
          <a:prstGeom prst="rect">
            <a:avLst/>
          </a:prstGeom>
        </p:spPr>
      </p:pic>
      <p:cxnSp>
        <p:nvCxnSpPr>
          <p:cNvPr id="19" name="Curved Connector 18"/>
          <p:cNvCxnSpPr>
            <a:stCxn id="3" idx="1"/>
          </p:cNvCxnSpPr>
          <p:nvPr/>
        </p:nvCxnSpPr>
        <p:spPr>
          <a:xfrm rot="10800000" flipV="1">
            <a:off x="3886488" y="6855980"/>
            <a:ext cx="514315" cy="160221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591300" y="7948190"/>
            <a:ext cx="922623" cy="1079555"/>
          </a:xfrm>
          <a:prstGeom prst="rect">
            <a:avLst/>
          </a:prstGeom>
        </p:spPr>
      </p:pic>
      <p:cxnSp>
        <p:nvCxnSpPr>
          <p:cNvPr id="25" name="Curved Connector 24"/>
          <p:cNvCxnSpPr>
            <a:stCxn id="34" idx="3"/>
            <a:endCxn id="14" idx="1"/>
          </p:cNvCxnSpPr>
          <p:nvPr/>
        </p:nvCxnSpPr>
        <p:spPr>
          <a:xfrm flipH="1">
            <a:off x="7513923" y="6858039"/>
            <a:ext cx="1759916" cy="1629929"/>
          </a:xfrm>
          <a:prstGeom prst="curvedConnector3">
            <a:avLst>
              <a:gd name="adj1" fmla="val -12989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94" name="Picture 2" descr="4. Fully Connected Deep Networks - TensorFlow for Deep Learning [Book]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325245">
            <a:off x="4922675" y="7489866"/>
            <a:ext cx="1813691" cy="1945401"/>
          </a:xfrm>
          <a:prstGeom prst="rect">
            <a:avLst/>
          </a:prstGeom>
          <a:noFill/>
          <a:scene3d>
            <a:camera prst="isometricBottomDown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 descr="Object detection using YOLO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07" t="52302" r="1245" b="492"/>
          <a:stretch/>
        </p:blipFill>
        <p:spPr bwMode="auto">
          <a:xfrm>
            <a:off x="1309582" y="7868221"/>
            <a:ext cx="1123725" cy="127066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isometricOffAxis1Right"/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Straight Arrow Connector 27"/>
          <p:cNvCxnSpPr/>
          <p:nvPr/>
        </p:nvCxnSpPr>
        <p:spPr>
          <a:xfrm>
            <a:off x="2501023" y="8673951"/>
            <a:ext cx="160316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0722872" y="3760698"/>
          <a:ext cx="627140" cy="5657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7140">
                  <a:extLst>
                    <a:ext uri="{9D8B030D-6E8A-4147-A177-3AD203B41FA5}">
                      <a16:colId xmlns:a16="http://schemas.microsoft.com/office/drawing/2014/main" val="1899832617"/>
                    </a:ext>
                  </a:extLst>
                </a:gridCol>
              </a:tblGrid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71337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y1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791423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w1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058638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h1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003377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p1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427133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14939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p2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835270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c0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131950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951396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cn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697538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988716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c19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908433"/>
                  </a:ext>
                </a:extLst>
              </a:tr>
            </a:tbl>
          </a:graphicData>
        </a:graphic>
      </p:graphicFrame>
      <p:cxnSp>
        <p:nvCxnSpPr>
          <p:cNvPr id="30" name="Straight Arrow Connector 29"/>
          <p:cNvCxnSpPr/>
          <p:nvPr/>
        </p:nvCxnSpPr>
        <p:spPr>
          <a:xfrm flipV="1">
            <a:off x="9387258" y="6854841"/>
            <a:ext cx="1204826" cy="113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ight Brace 6"/>
          <p:cNvSpPr/>
          <p:nvPr/>
        </p:nvSpPr>
        <p:spPr>
          <a:xfrm>
            <a:off x="11480800" y="3760698"/>
            <a:ext cx="362206" cy="2348002"/>
          </a:xfrm>
          <a:prstGeom prst="rightBrace">
            <a:avLst>
              <a:gd name="adj1" fmla="val 18852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11714971" y="4761261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Box1</a:t>
            </a:r>
          </a:p>
        </p:txBody>
      </p:sp>
      <p:sp>
        <p:nvSpPr>
          <p:cNvPr id="37" name="Right Brace 36"/>
          <p:cNvSpPr/>
          <p:nvPr/>
        </p:nvSpPr>
        <p:spPr>
          <a:xfrm>
            <a:off x="11437239" y="6108699"/>
            <a:ext cx="424212" cy="958087"/>
          </a:xfrm>
          <a:prstGeom prst="rightBrace">
            <a:avLst>
              <a:gd name="adj1" fmla="val 254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11714971" y="6416636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Box2</a:t>
            </a:r>
          </a:p>
        </p:txBody>
      </p:sp>
      <p:sp>
        <p:nvSpPr>
          <p:cNvPr id="39" name="Right Brace 38"/>
          <p:cNvSpPr/>
          <p:nvPr/>
        </p:nvSpPr>
        <p:spPr>
          <a:xfrm>
            <a:off x="11480799" y="7063126"/>
            <a:ext cx="393209" cy="2354936"/>
          </a:xfrm>
          <a:prstGeom prst="rightBrace">
            <a:avLst>
              <a:gd name="adj1" fmla="val 254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11917568" y="8071317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20 classes</a:t>
            </a:r>
          </a:p>
        </p:txBody>
      </p:sp>
      <p:pic>
        <p:nvPicPr>
          <p:cNvPr id="41" name="Picture 6" descr="Object detection using YOLO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368" y="4960231"/>
            <a:ext cx="1960828" cy="1953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2" name="Straight Arrow Connector 41"/>
          <p:cNvCxnSpPr/>
          <p:nvPr/>
        </p:nvCxnSpPr>
        <p:spPr>
          <a:xfrm flipV="1">
            <a:off x="2556643" y="5977467"/>
            <a:ext cx="438534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1441705" y="5941053"/>
            <a:ext cx="830771" cy="940001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150471" y="667903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YOLOv1 Architecture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0471" y="144683"/>
            <a:ext cx="204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YOLOv1</a:t>
            </a:r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2897579" y="9138881"/>
            <a:ext cx="2145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50176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4207" y="9138881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1470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00891" y="7391134"/>
            <a:ext cx="1208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4096</a:t>
            </a:r>
          </a:p>
        </p:txBody>
      </p:sp>
    </p:spTree>
    <p:extLst>
      <p:ext uri="{BB962C8B-B14F-4D97-AF65-F5344CB8AC3E}">
        <p14:creationId xmlns:p14="http://schemas.microsoft.com/office/powerpoint/2010/main" val="2848578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YOLO architectu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08" y="1163262"/>
            <a:ext cx="10770598" cy="324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 30"/>
          <p:cNvSpPr/>
          <p:nvPr/>
        </p:nvSpPr>
        <p:spPr>
          <a:xfrm>
            <a:off x="4127942" y="1163262"/>
            <a:ext cx="3602896" cy="309998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8336220" y="7027356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7x7x30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4330" y="5190466"/>
            <a:ext cx="1940137" cy="178492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9107369" y="6777851"/>
            <a:ext cx="166470" cy="16037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0722872" y="3760698"/>
          <a:ext cx="627140" cy="5657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7140">
                  <a:extLst>
                    <a:ext uri="{9D8B030D-6E8A-4147-A177-3AD203B41FA5}">
                      <a16:colId xmlns:a16="http://schemas.microsoft.com/office/drawing/2014/main" val="1899832617"/>
                    </a:ext>
                  </a:extLst>
                </a:gridCol>
              </a:tblGrid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71337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y1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791423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w1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058638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h1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003377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p1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427133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14939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p2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835270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c0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131950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951396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cn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697538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988716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c19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908433"/>
                  </a:ext>
                </a:extLst>
              </a:tr>
            </a:tbl>
          </a:graphicData>
        </a:graphic>
      </p:graphicFrame>
      <p:sp>
        <p:nvSpPr>
          <p:cNvPr id="7" name="Right Brace 6"/>
          <p:cNvSpPr/>
          <p:nvPr/>
        </p:nvSpPr>
        <p:spPr>
          <a:xfrm>
            <a:off x="11480800" y="3760698"/>
            <a:ext cx="362206" cy="2348002"/>
          </a:xfrm>
          <a:prstGeom prst="rightBrace">
            <a:avLst>
              <a:gd name="adj1" fmla="val 18852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11714971" y="4761261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Box1</a:t>
            </a:r>
          </a:p>
        </p:txBody>
      </p:sp>
      <p:sp>
        <p:nvSpPr>
          <p:cNvPr id="37" name="Right Brace 36"/>
          <p:cNvSpPr/>
          <p:nvPr/>
        </p:nvSpPr>
        <p:spPr>
          <a:xfrm>
            <a:off x="11437239" y="6108699"/>
            <a:ext cx="424212" cy="958087"/>
          </a:xfrm>
          <a:prstGeom prst="rightBrace">
            <a:avLst>
              <a:gd name="adj1" fmla="val 254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11714971" y="6416636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Box2</a:t>
            </a:r>
          </a:p>
        </p:txBody>
      </p:sp>
      <p:sp>
        <p:nvSpPr>
          <p:cNvPr id="39" name="Right Brace 38"/>
          <p:cNvSpPr/>
          <p:nvPr/>
        </p:nvSpPr>
        <p:spPr>
          <a:xfrm>
            <a:off x="11480799" y="7063126"/>
            <a:ext cx="393209" cy="2354936"/>
          </a:xfrm>
          <a:prstGeom prst="rightBrace">
            <a:avLst>
              <a:gd name="adj1" fmla="val 254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11917568" y="8071317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20 classes</a:t>
            </a:r>
          </a:p>
        </p:txBody>
      </p:sp>
      <p:cxnSp>
        <p:nvCxnSpPr>
          <p:cNvPr id="44" name="Curved Connector 43"/>
          <p:cNvCxnSpPr/>
          <p:nvPr/>
        </p:nvCxnSpPr>
        <p:spPr>
          <a:xfrm rot="16200000" flipH="1">
            <a:off x="7067656" y="3816456"/>
            <a:ext cx="1812499" cy="1197192"/>
          </a:xfrm>
          <a:prstGeom prst="curvedConnector3">
            <a:avLst>
              <a:gd name="adj1" fmla="val 5000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612" y="5237629"/>
            <a:ext cx="6080016" cy="3918007"/>
          </a:xfrm>
          <a:prstGeom prst="rect">
            <a:avLst/>
          </a:prstGeom>
        </p:spPr>
      </p:pic>
      <p:cxnSp>
        <p:nvCxnSpPr>
          <p:cNvPr id="45" name="Straight Arrow Connector 44"/>
          <p:cNvCxnSpPr/>
          <p:nvPr/>
        </p:nvCxnSpPr>
        <p:spPr>
          <a:xfrm flipV="1">
            <a:off x="7031202" y="6416636"/>
            <a:ext cx="438534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urved Connector 19"/>
          <p:cNvCxnSpPr>
            <a:stCxn id="34" idx="3"/>
            <a:endCxn id="16" idx="1"/>
          </p:cNvCxnSpPr>
          <p:nvPr/>
        </p:nvCxnSpPr>
        <p:spPr>
          <a:xfrm flipV="1">
            <a:off x="9273839" y="6589380"/>
            <a:ext cx="1449033" cy="268659"/>
          </a:xfrm>
          <a:prstGeom prst="curvedConnector3">
            <a:avLst/>
          </a:prstGeom>
          <a:ln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760925" y="5021189"/>
            <a:ext cx="17060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YOLOv1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71" y="667903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YOLOv1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471" y="144683"/>
            <a:ext cx="204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YOLOv1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884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YOLO architectu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08" y="1163262"/>
            <a:ext cx="10770598" cy="324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3251108" y="4745979"/>
            <a:ext cx="2010968" cy="2229413"/>
            <a:chOff x="7821801" y="4190850"/>
            <a:chExt cx="2010968" cy="2229413"/>
          </a:xfrm>
        </p:grpSpPr>
        <p:grpSp>
          <p:nvGrpSpPr>
            <p:cNvPr id="10" name="Group 9"/>
            <p:cNvGrpSpPr/>
            <p:nvPr/>
          </p:nvGrpSpPr>
          <p:grpSpPr>
            <a:xfrm>
              <a:off x="7821801" y="4190850"/>
              <a:ext cx="2010968" cy="2229413"/>
              <a:chOff x="7818612" y="4178975"/>
              <a:chExt cx="1741025" cy="1544931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 rotWithShape="1">
              <a:blip r:embed="rId3"/>
              <a:srcRect l="2609" r="4867" b="3841"/>
              <a:stretch/>
            </p:blipFill>
            <p:spPr>
              <a:xfrm>
                <a:off x="7873341" y="4178975"/>
                <a:ext cx="1686296" cy="1544931"/>
              </a:xfrm>
              <a:prstGeom prst="rect">
                <a:avLst/>
              </a:prstGeom>
            </p:spPr>
          </p:pic>
          <p:sp>
            <p:nvSpPr>
              <p:cNvPr id="9" name="Rectangle 8"/>
              <p:cNvSpPr/>
              <p:nvPr/>
            </p:nvSpPr>
            <p:spPr>
              <a:xfrm rot="2400249">
                <a:off x="9400007" y="5173920"/>
                <a:ext cx="114511" cy="3891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 rot="2400249">
                <a:off x="7818612" y="4367185"/>
                <a:ext cx="343963" cy="2408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82347" y="5130140"/>
              <a:ext cx="1268849" cy="1278248"/>
            </a:xfrm>
            <a:prstGeom prst="rect">
              <a:avLst/>
            </a:prstGeom>
          </p:spPr>
        </p:pic>
      </p:grpSp>
      <p:sp>
        <p:nvSpPr>
          <p:cNvPr id="31" name="Rectangle 30"/>
          <p:cNvSpPr/>
          <p:nvPr/>
        </p:nvSpPr>
        <p:spPr>
          <a:xfrm>
            <a:off x="4127942" y="1163262"/>
            <a:ext cx="3602896" cy="309998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3762680" y="7027356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7x7x1024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6220" y="7027356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7x7x30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4330" y="5190466"/>
            <a:ext cx="1940137" cy="1784926"/>
          </a:xfrm>
          <a:prstGeom prst="rect">
            <a:avLst/>
          </a:prstGeom>
        </p:spPr>
      </p:pic>
      <p:cxnSp>
        <p:nvCxnSpPr>
          <p:cNvPr id="42" name="Straight Arrow Connector 41"/>
          <p:cNvCxnSpPr/>
          <p:nvPr/>
        </p:nvCxnSpPr>
        <p:spPr>
          <a:xfrm flipV="1">
            <a:off x="2556643" y="5977467"/>
            <a:ext cx="438534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5" name="Picture 6" descr="Object detection using YOLO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368" y="4960231"/>
            <a:ext cx="1960828" cy="1953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50471" y="667903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YOLOv1 </a:t>
            </a:r>
            <a:r>
              <a:rPr lang="en-US" sz="2000" b="1"/>
              <a:t>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471" y="144683"/>
            <a:ext cx="204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YOLOv1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844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" descr="Object detection using YOL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508" y="4960231"/>
            <a:ext cx="1953287" cy="1953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YOLO architectur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08" y="1163262"/>
            <a:ext cx="10770598" cy="324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3251108" y="4745979"/>
            <a:ext cx="2010968" cy="2229413"/>
            <a:chOff x="7821801" y="4190850"/>
            <a:chExt cx="2010968" cy="2229413"/>
          </a:xfrm>
        </p:grpSpPr>
        <p:grpSp>
          <p:nvGrpSpPr>
            <p:cNvPr id="10" name="Group 9"/>
            <p:cNvGrpSpPr/>
            <p:nvPr/>
          </p:nvGrpSpPr>
          <p:grpSpPr>
            <a:xfrm>
              <a:off x="7821801" y="4190850"/>
              <a:ext cx="2010968" cy="2229413"/>
              <a:chOff x="7818612" y="4178975"/>
              <a:chExt cx="1741025" cy="1544931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 rotWithShape="1">
              <a:blip r:embed="rId5"/>
              <a:srcRect l="2609" r="4867" b="3841"/>
              <a:stretch/>
            </p:blipFill>
            <p:spPr>
              <a:xfrm>
                <a:off x="7873341" y="4178975"/>
                <a:ext cx="1686296" cy="1544931"/>
              </a:xfrm>
              <a:prstGeom prst="rect">
                <a:avLst/>
              </a:prstGeom>
            </p:spPr>
          </p:pic>
          <p:sp>
            <p:nvSpPr>
              <p:cNvPr id="9" name="Rectangle 8"/>
              <p:cNvSpPr/>
              <p:nvPr/>
            </p:nvSpPr>
            <p:spPr>
              <a:xfrm rot="2400249">
                <a:off x="9400007" y="5173920"/>
                <a:ext cx="114511" cy="3891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 rot="2400249">
                <a:off x="7818612" y="4367185"/>
                <a:ext cx="343963" cy="2408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82347" y="5130140"/>
              <a:ext cx="1268849" cy="1278248"/>
            </a:xfrm>
            <a:prstGeom prst="rect">
              <a:avLst/>
            </a:prstGeom>
          </p:spPr>
        </p:pic>
      </p:grpSp>
      <p:sp>
        <p:nvSpPr>
          <p:cNvPr id="31" name="Rectangle 30"/>
          <p:cNvSpPr/>
          <p:nvPr/>
        </p:nvSpPr>
        <p:spPr>
          <a:xfrm>
            <a:off x="4127942" y="1163262"/>
            <a:ext cx="3602896" cy="309998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3762680" y="7027356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7x7x1024</a:t>
            </a:r>
          </a:p>
        </p:txBody>
      </p:sp>
      <p:sp>
        <p:nvSpPr>
          <p:cNvPr id="3" name="Rectangle 2"/>
          <p:cNvSpPr/>
          <p:nvPr/>
        </p:nvSpPr>
        <p:spPr>
          <a:xfrm>
            <a:off x="3498362" y="6402940"/>
            <a:ext cx="177085" cy="17302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8336220" y="7027356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7x7x30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4330" y="5190466"/>
            <a:ext cx="1940137" cy="178492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8228076" y="6417129"/>
            <a:ext cx="166470" cy="16037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3885245" y="7726700"/>
            <a:ext cx="1263962" cy="1389945"/>
          </a:xfrm>
          <a:prstGeom prst="rect">
            <a:avLst/>
          </a:prstGeom>
        </p:spPr>
      </p:pic>
      <p:cxnSp>
        <p:nvCxnSpPr>
          <p:cNvPr id="19" name="Curved Connector 18"/>
          <p:cNvCxnSpPr>
            <a:stCxn id="3" idx="2"/>
            <a:endCxn id="35" idx="3"/>
          </p:cNvCxnSpPr>
          <p:nvPr/>
        </p:nvCxnSpPr>
        <p:spPr>
          <a:xfrm rot="16200000" flipH="1">
            <a:off x="2813222" y="7349649"/>
            <a:ext cx="1845707" cy="29834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6591300" y="7948190"/>
            <a:ext cx="922623" cy="1079555"/>
          </a:xfrm>
          <a:prstGeom prst="rect">
            <a:avLst/>
          </a:prstGeom>
        </p:spPr>
      </p:pic>
      <p:cxnSp>
        <p:nvCxnSpPr>
          <p:cNvPr id="25" name="Curved Connector 24"/>
          <p:cNvCxnSpPr>
            <a:stCxn id="34" idx="2"/>
            <a:endCxn id="14" idx="1"/>
          </p:cNvCxnSpPr>
          <p:nvPr/>
        </p:nvCxnSpPr>
        <p:spPr>
          <a:xfrm rot="5400000">
            <a:off x="6957386" y="7134042"/>
            <a:ext cx="1910463" cy="797388"/>
          </a:xfrm>
          <a:prstGeom prst="curved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94" name="Picture 2" descr="4. Fully Connected Deep Networks - TensorFlow for Deep Learning [Book]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325245">
            <a:off x="4922675" y="7489866"/>
            <a:ext cx="1813691" cy="1945401"/>
          </a:xfrm>
          <a:prstGeom prst="rect">
            <a:avLst/>
          </a:prstGeom>
          <a:noFill/>
          <a:scene3d>
            <a:camera prst="isometricBottomDown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 descr="Object detection using YOLO"/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" t="38584" r="55119" b="14210"/>
          <a:stretch/>
        </p:blipFill>
        <p:spPr bwMode="auto">
          <a:xfrm>
            <a:off x="1309582" y="7868221"/>
            <a:ext cx="1123725" cy="127066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isometricOffAxis1Right"/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Straight Arrow Connector 27"/>
          <p:cNvCxnSpPr/>
          <p:nvPr/>
        </p:nvCxnSpPr>
        <p:spPr>
          <a:xfrm>
            <a:off x="2501023" y="8673951"/>
            <a:ext cx="160316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902532"/>
              </p:ext>
            </p:extLst>
          </p:nvPr>
        </p:nvGraphicFramePr>
        <p:xfrm>
          <a:off x="10722872" y="3760698"/>
          <a:ext cx="627140" cy="5657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7140">
                  <a:extLst>
                    <a:ext uri="{9D8B030D-6E8A-4147-A177-3AD203B41FA5}">
                      <a16:colId xmlns:a16="http://schemas.microsoft.com/office/drawing/2014/main" val="1899832617"/>
                    </a:ext>
                  </a:extLst>
                </a:gridCol>
              </a:tblGrid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71337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791423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058638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420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003377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427133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14939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835270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131950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951396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697538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988716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908433"/>
                  </a:ext>
                </a:extLst>
              </a:tr>
            </a:tbl>
          </a:graphicData>
        </a:graphic>
      </p:graphicFrame>
      <p:cxnSp>
        <p:nvCxnSpPr>
          <p:cNvPr id="30" name="Straight Arrow Connector 29"/>
          <p:cNvCxnSpPr/>
          <p:nvPr/>
        </p:nvCxnSpPr>
        <p:spPr>
          <a:xfrm>
            <a:off x="7363813" y="8762851"/>
            <a:ext cx="3100987" cy="1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ight Brace 36"/>
          <p:cNvSpPr/>
          <p:nvPr/>
        </p:nvSpPr>
        <p:spPr>
          <a:xfrm>
            <a:off x="11437239" y="6108699"/>
            <a:ext cx="424212" cy="958087"/>
          </a:xfrm>
          <a:prstGeom prst="rightBrace">
            <a:avLst>
              <a:gd name="adj1" fmla="val 254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11714971" y="6416636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Box2</a:t>
            </a:r>
          </a:p>
        </p:txBody>
      </p:sp>
      <p:sp>
        <p:nvSpPr>
          <p:cNvPr id="39" name="Right Brace 38"/>
          <p:cNvSpPr/>
          <p:nvPr/>
        </p:nvSpPr>
        <p:spPr>
          <a:xfrm>
            <a:off x="11480799" y="7063126"/>
            <a:ext cx="393209" cy="2354936"/>
          </a:xfrm>
          <a:prstGeom prst="rightBrace">
            <a:avLst>
              <a:gd name="adj1" fmla="val 254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11917568" y="8071317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20 classes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 flipV="1">
            <a:off x="2556643" y="5977467"/>
            <a:ext cx="438534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396540" y="5697144"/>
            <a:ext cx="545173" cy="1105546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617518" y="6213385"/>
            <a:ext cx="110616" cy="12814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834753" y="4446838"/>
            <a:ext cx="1971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[10, 172, 140, 420] </a:t>
            </a:r>
          </a:p>
        </p:txBody>
      </p:sp>
      <p:cxnSp>
        <p:nvCxnSpPr>
          <p:cNvPr id="46" name="Curved Connector 45"/>
          <p:cNvCxnSpPr>
            <a:stCxn id="43" idx="1"/>
            <a:endCxn id="17" idx="1"/>
          </p:cNvCxnSpPr>
          <p:nvPr/>
        </p:nvCxnSpPr>
        <p:spPr>
          <a:xfrm rot="10800000" flipH="1">
            <a:off x="396539" y="4631505"/>
            <a:ext cx="438213" cy="1618413"/>
          </a:xfrm>
          <a:prstGeom prst="curvedConnector3">
            <a:avLst>
              <a:gd name="adj1" fmla="val -5216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7" idx="3"/>
          </p:cNvCxnSpPr>
          <p:nvPr/>
        </p:nvCxnSpPr>
        <p:spPr>
          <a:xfrm>
            <a:off x="2806059" y="4631504"/>
            <a:ext cx="7108408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694037" y="4463016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Box1</a:t>
            </a:r>
          </a:p>
        </p:txBody>
      </p:sp>
      <p:sp>
        <p:nvSpPr>
          <p:cNvPr id="49" name="Right Brace 48"/>
          <p:cNvSpPr/>
          <p:nvPr/>
        </p:nvSpPr>
        <p:spPr>
          <a:xfrm flipH="1">
            <a:off x="10493632" y="3748950"/>
            <a:ext cx="191268" cy="2348002"/>
          </a:xfrm>
          <a:prstGeom prst="rightBrace">
            <a:avLst>
              <a:gd name="adj1" fmla="val 18852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11749406" y="8425801"/>
            <a:ext cx="13649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/>
              <a:t>e.g. c[10] = 1</a:t>
            </a:r>
          </a:p>
          <a:p>
            <a:pPr algn="ctr"/>
            <a:r>
              <a:rPr lang="en-US" sz="1600" b="1"/>
              <a:t>10</a:t>
            </a:r>
            <a:r>
              <a:rPr lang="en-US" sz="1600" b="1" baseline="30000"/>
              <a:t>th</a:t>
            </a:r>
            <a:r>
              <a:rPr lang="en-US" sz="1600" b="1"/>
              <a:t>: dog</a:t>
            </a:r>
          </a:p>
        </p:txBody>
      </p:sp>
      <p:cxnSp>
        <p:nvCxnSpPr>
          <p:cNvPr id="53" name="Straight Arrow Connector 52"/>
          <p:cNvCxnSpPr/>
          <p:nvPr/>
        </p:nvCxnSpPr>
        <p:spPr>
          <a:xfrm flipH="1">
            <a:off x="5811771" y="7532735"/>
            <a:ext cx="970069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759532" y="7123918"/>
            <a:ext cx="1971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Back-Prob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0471" y="667903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YOLOv1 </a:t>
            </a:r>
            <a:r>
              <a:rPr lang="en-US" sz="2000" b="1"/>
              <a:t>TRAINING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0471" y="144683"/>
            <a:ext cx="204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YOLOv1</a:t>
            </a:r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2897579" y="9138881"/>
            <a:ext cx="2145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50176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4207" y="9138881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1470</a:t>
            </a:r>
          </a:p>
        </p:txBody>
      </p:sp>
    </p:spTree>
    <p:extLst>
      <p:ext uri="{BB962C8B-B14F-4D97-AF65-F5344CB8AC3E}">
        <p14:creationId xmlns:p14="http://schemas.microsoft.com/office/powerpoint/2010/main" val="27560977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" descr="Object detection using YOL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508" y="4960231"/>
            <a:ext cx="1953287" cy="1953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YOLO architectur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08" y="1163262"/>
            <a:ext cx="10770598" cy="324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3251108" y="4745979"/>
            <a:ext cx="2010968" cy="2229413"/>
            <a:chOff x="7821801" y="4190850"/>
            <a:chExt cx="2010968" cy="2229413"/>
          </a:xfrm>
        </p:grpSpPr>
        <p:grpSp>
          <p:nvGrpSpPr>
            <p:cNvPr id="10" name="Group 9"/>
            <p:cNvGrpSpPr/>
            <p:nvPr/>
          </p:nvGrpSpPr>
          <p:grpSpPr>
            <a:xfrm>
              <a:off x="7821801" y="4190850"/>
              <a:ext cx="2010968" cy="2229413"/>
              <a:chOff x="7818612" y="4178975"/>
              <a:chExt cx="1741025" cy="1544931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 rotWithShape="1">
              <a:blip r:embed="rId5"/>
              <a:srcRect l="2609" r="4867" b="3841"/>
              <a:stretch/>
            </p:blipFill>
            <p:spPr>
              <a:xfrm>
                <a:off x="7873341" y="4178975"/>
                <a:ext cx="1686296" cy="1544931"/>
              </a:xfrm>
              <a:prstGeom prst="rect">
                <a:avLst/>
              </a:prstGeom>
            </p:spPr>
          </p:pic>
          <p:sp>
            <p:nvSpPr>
              <p:cNvPr id="9" name="Rectangle 8"/>
              <p:cNvSpPr/>
              <p:nvPr/>
            </p:nvSpPr>
            <p:spPr>
              <a:xfrm rot="2400249">
                <a:off x="9400007" y="5173920"/>
                <a:ext cx="114511" cy="3891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 rot="2400249">
                <a:off x="7818612" y="4367185"/>
                <a:ext cx="343963" cy="2408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82347" y="5130140"/>
              <a:ext cx="1268849" cy="1278248"/>
            </a:xfrm>
            <a:prstGeom prst="rect">
              <a:avLst/>
            </a:prstGeom>
          </p:spPr>
        </p:pic>
      </p:grpSp>
      <p:sp>
        <p:nvSpPr>
          <p:cNvPr id="31" name="Rectangle 30"/>
          <p:cNvSpPr/>
          <p:nvPr/>
        </p:nvSpPr>
        <p:spPr>
          <a:xfrm>
            <a:off x="4127942" y="1163262"/>
            <a:ext cx="3602896" cy="309998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3762680" y="7027356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7x7x1024</a:t>
            </a:r>
          </a:p>
        </p:txBody>
      </p:sp>
      <p:sp>
        <p:nvSpPr>
          <p:cNvPr id="3" name="Rectangle 2"/>
          <p:cNvSpPr/>
          <p:nvPr/>
        </p:nvSpPr>
        <p:spPr>
          <a:xfrm>
            <a:off x="4395071" y="6769186"/>
            <a:ext cx="177085" cy="17302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8336220" y="7027356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7x7x30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4330" y="5190466"/>
            <a:ext cx="1940137" cy="178492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9097747" y="6771453"/>
            <a:ext cx="166470" cy="16037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3885245" y="7726700"/>
            <a:ext cx="1263962" cy="1389945"/>
          </a:xfrm>
          <a:prstGeom prst="rect">
            <a:avLst/>
          </a:prstGeom>
        </p:spPr>
      </p:pic>
      <p:cxnSp>
        <p:nvCxnSpPr>
          <p:cNvPr id="19" name="Curved Connector 18"/>
          <p:cNvCxnSpPr>
            <a:stCxn id="3" idx="1"/>
            <a:endCxn id="35" idx="3"/>
          </p:cNvCxnSpPr>
          <p:nvPr/>
        </p:nvCxnSpPr>
        <p:spPr>
          <a:xfrm rot="10800000" flipV="1">
            <a:off x="3885245" y="6855699"/>
            <a:ext cx="509826" cy="1565974"/>
          </a:xfrm>
          <a:prstGeom prst="curvedConnector3">
            <a:avLst>
              <a:gd name="adj1" fmla="val 14483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6591300" y="7948190"/>
            <a:ext cx="922623" cy="1079555"/>
          </a:xfrm>
          <a:prstGeom prst="rect">
            <a:avLst/>
          </a:prstGeom>
        </p:spPr>
      </p:pic>
      <p:cxnSp>
        <p:nvCxnSpPr>
          <p:cNvPr id="25" name="Curved Connector 24"/>
          <p:cNvCxnSpPr>
            <a:stCxn id="34" idx="3"/>
            <a:endCxn id="14" idx="1"/>
          </p:cNvCxnSpPr>
          <p:nvPr/>
        </p:nvCxnSpPr>
        <p:spPr>
          <a:xfrm flipH="1">
            <a:off x="7513923" y="6851641"/>
            <a:ext cx="1750294" cy="1636327"/>
          </a:xfrm>
          <a:prstGeom prst="curvedConnector3">
            <a:avLst>
              <a:gd name="adj1" fmla="val -13061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94" name="Picture 2" descr="4. Fully Connected Deep Networks - TensorFlow for Deep Learning [Book]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325245">
            <a:off x="4922675" y="7489866"/>
            <a:ext cx="1813691" cy="1945401"/>
          </a:xfrm>
          <a:prstGeom prst="rect">
            <a:avLst/>
          </a:prstGeom>
          <a:noFill/>
          <a:scene3d>
            <a:camera prst="isometricBottomDown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568011"/>
              </p:ext>
            </p:extLst>
          </p:nvPr>
        </p:nvGraphicFramePr>
        <p:xfrm>
          <a:off x="10722872" y="3760698"/>
          <a:ext cx="627140" cy="5657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7140">
                  <a:extLst>
                    <a:ext uri="{9D8B030D-6E8A-4147-A177-3AD203B41FA5}">
                      <a16:colId xmlns:a16="http://schemas.microsoft.com/office/drawing/2014/main" val="1899832617"/>
                    </a:ext>
                  </a:extLst>
                </a:gridCol>
              </a:tblGrid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71337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791423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058638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003377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427133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14939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835270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131950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951396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697538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988716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908433"/>
                  </a:ext>
                </a:extLst>
              </a:tr>
            </a:tbl>
          </a:graphicData>
        </a:graphic>
      </p:graphicFrame>
      <p:cxnSp>
        <p:nvCxnSpPr>
          <p:cNvPr id="30" name="Straight Arrow Connector 29"/>
          <p:cNvCxnSpPr/>
          <p:nvPr/>
        </p:nvCxnSpPr>
        <p:spPr>
          <a:xfrm>
            <a:off x="7363813" y="8762851"/>
            <a:ext cx="3100987" cy="1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ight Brace 36"/>
          <p:cNvSpPr/>
          <p:nvPr/>
        </p:nvSpPr>
        <p:spPr>
          <a:xfrm>
            <a:off x="11437239" y="6108699"/>
            <a:ext cx="424212" cy="958087"/>
          </a:xfrm>
          <a:prstGeom prst="rightBrace">
            <a:avLst>
              <a:gd name="adj1" fmla="val 254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11714971" y="6416636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Box2</a:t>
            </a:r>
          </a:p>
        </p:txBody>
      </p:sp>
      <p:sp>
        <p:nvSpPr>
          <p:cNvPr id="39" name="Right Brace 38"/>
          <p:cNvSpPr/>
          <p:nvPr/>
        </p:nvSpPr>
        <p:spPr>
          <a:xfrm>
            <a:off x="11480799" y="7063126"/>
            <a:ext cx="393209" cy="2354936"/>
          </a:xfrm>
          <a:prstGeom prst="rightBrace">
            <a:avLst>
              <a:gd name="adj1" fmla="val 254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11917568" y="8071317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20 classes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 flipV="1">
            <a:off x="2556643" y="5977467"/>
            <a:ext cx="438534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694037" y="4463016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Box1</a:t>
            </a:r>
          </a:p>
        </p:txBody>
      </p:sp>
      <p:sp>
        <p:nvSpPr>
          <p:cNvPr id="49" name="Right Brace 48"/>
          <p:cNvSpPr/>
          <p:nvPr/>
        </p:nvSpPr>
        <p:spPr>
          <a:xfrm flipH="1">
            <a:off x="10493632" y="3748950"/>
            <a:ext cx="191268" cy="2348002"/>
          </a:xfrm>
          <a:prstGeom prst="rightBrace">
            <a:avLst>
              <a:gd name="adj1" fmla="val 18852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11749406" y="8425801"/>
            <a:ext cx="13649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/>
              <a:t>e.g. c[10] = 1</a:t>
            </a:r>
          </a:p>
          <a:p>
            <a:pPr algn="ctr"/>
            <a:r>
              <a:rPr lang="en-US" sz="1600" b="1"/>
              <a:t>10</a:t>
            </a:r>
            <a:r>
              <a:rPr lang="en-US" sz="1600" b="1" baseline="30000"/>
              <a:t>th</a:t>
            </a:r>
            <a:r>
              <a:rPr lang="en-US" sz="1600" b="1"/>
              <a:t>: dog</a:t>
            </a:r>
          </a:p>
        </p:txBody>
      </p:sp>
      <p:cxnSp>
        <p:nvCxnSpPr>
          <p:cNvPr id="53" name="Straight Arrow Connector 52"/>
          <p:cNvCxnSpPr/>
          <p:nvPr/>
        </p:nvCxnSpPr>
        <p:spPr>
          <a:xfrm flipH="1">
            <a:off x="5811771" y="7532735"/>
            <a:ext cx="970069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759532" y="7123918"/>
            <a:ext cx="1971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Back-Prob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0471" y="667903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YOLOv1 </a:t>
            </a:r>
            <a:r>
              <a:rPr lang="en-US" sz="2000" b="1"/>
              <a:t>TRAINING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0471" y="144683"/>
            <a:ext cx="204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YOLOv1</a:t>
            </a:r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2897579" y="9138881"/>
            <a:ext cx="2145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50176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4207" y="9138881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1470</a:t>
            </a:r>
          </a:p>
        </p:txBody>
      </p:sp>
    </p:spTree>
    <p:extLst>
      <p:ext uri="{BB962C8B-B14F-4D97-AF65-F5344CB8AC3E}">
        <p14:creationId xmlns:p14="http://schemas.microsoft.com/office/powerpoint/2010/main" val="11218802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YOLO architectu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08" y="1163262"/>
            <a:ext cx="10770598" cy="324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 30"/>
          <p:cNvSpPr/>
          <p:nvPr/>
        </p:nvSpPr>
        <p:spPr>
          <a:xfrm>
            <a:off x="4127942" y="1163262"/>
            <a:ext cx="3602896" cy="309998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0722872" y="3760698"/>
          <a:ext cx="627140" cy="5657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7140">
                  <a:extLst>
                    <a:ext uri="{9D8B030D-6E8A-4147-A177-3AD203B41FA5}">
                      <a16:colId xmlns:a16="http://schemas.microsoft.com/office/drawing/2014/main" val="1899832617"/>
                    </a:ext>
                  </a:extLst>
                </a:gridCol>
              </a:tblGrid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71337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791423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058638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003377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427133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14939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835270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131950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951396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697538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988716"/>
                  </a:ext>
                </a:extLst>
              </a:tr>
              <a:tr h="47144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908433"/>
                  </a:ext>
                </a:extLst>
              </a:tr>
            </a:tbl>
          </a:graphicData>
        </a:graphic>
      </p:graphicFrame>
      <p:sp>
        <p:nvSpPr>
          <p:cNvPr id="37" name="Right Brace 36"/>
          <p:cNvSpPr/>
          <p:nvPr/>
        </p:nvSpPr>
        <p:spPr>
          <a:xfrm>
            <a:off x="11437239" y="6108699"/>
            <a:ext cx="424212" cy="958087"/>
          </a:xfrm>
          <a:prstGeom prst="rightBrace">
            <a:avLst>
              <a:gd name="adj1" fmla="val 254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11714971" y="6416636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Box2</a:t>
            </a:r>
          </a:p>
        </p:txBody>
      </p:sp>
      <p:sp>
        <p:nvSpPr>
          <p:cNvPr id="39" name="Right Brace 38"/>
          <p:cNvSpPr/>
          <p:nvPr/>
        </p:nvSpPr>
        <p:spPr>
          <a:xfrm>
            <a:off x="11480799" y="7063126"/>
            <a:ext cx="393209" cy="2354936"/>
          </a:xfrm>
          <a:prstGeom prst="rightBrace">
            <a:avLst>
              <a:gd name="adj1" fmla="val 254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11917568" y="8071317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20 classes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4037" y="4463016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Box1</a:t>
            </a:r>
          </a:p>
        </p:txBody>
      </p:sp>
      <p:sp>
        <p:nvSpPr>
          <p:cNvPr id="49" name="Right Brace 48"/>
          <p:cNvSpPr/>
          <p:nvPr/>
        </p:nvSpPr>
        <p:spPr>
          <a:xfrm flipH="1">
            <a:off x="10493632" y="3748950"/>
            <a:ext cx="191268" cy="2348002"/>
          </a:xfrm>
          <a:prstGeom prst="rightBrace">
            <a:avLst>
              <a:gd name="adj1" fmla="val 18852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11749406" y="8425801"/>
            <a:ext cx="13649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/>
              <a:t>e.g. c[10] = 1</a:t>
            </a:r>
          </a:p>
          <a:p>
            <a:pPr algn="ctr"/>
            <a:r>
              <a:rPr lang="en-US" sz="1600" b="1"/>
              <a:t>10</a:t>
            </a:r>
            <a:r>
              <a:rPr lang="en-US" sz="1600" b="1" baseline="30000"/>
              <a:t>th</a:t>
            </a:r>
            <a:r>
              <a:rPr lang="en-US" sz="1600" b="1"/>
              <a:t>: dog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0471" y="667903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YOLOv1 </a:t>
            </a:r>
            <a:r>
              <a:rPr lang="en-US" sz="2000" b="1"/>
              <a:t>TRAINING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0471" y="144683"/>
            <a:ext cx="204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YOLOv1</a:t>
            </a:r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150471" y="4938563"/>
            <a:ext cx="20917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LOSS</a:t>
            </a:r>
            <a:r>
              <a:rPr lang="en-US" sz="2000"/>
              <a:t> FUNCTION:</a:t>
            </a:r>
            <a:endParaRPr lang="en-US" sz="2000" b="1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6419" y="4625866"/>
            <a:ext cx="7186061" cy="4922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2874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YOLO architectu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08" y="1163262"/>
            <a:ext cx="10770598" cy="324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50471" y="144683"/>
            <a:ext cx="204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YOLOv2</a:t>
            </a:r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4127942" y="1163262"/>
            <a:ext cx="3602896" cy="309998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4711104" y="1638719"/>
            <a:ext cx="961563" cy="396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5929390" y="1545585"/>
            <a:ext cx="961563" cy="396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5149262" y="1966578"/>
            <a:ext cx="1522471" cy="15280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4221890" y="3533898"/>
            <a:ext cx="3451746" cy="3761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Picture 2" descr="The architecture of YOLOv2. | Download Scientific Diagram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27" t="56549" r="22204" b="32955"/>
          <a:stretch/>
        </p:blipFill>
        <p:spPr bwMode="auto">
          <a:xfrm>
            <a:off x="5454798" y="1894767"/>
            <a:ext cx="609468" cy="24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/>
          <p:cNvSpPr txBox="1"/>
          <p:nvPr/>
        </p:nvSpPr>
        <p:spPr>
          <a:xfrm>
            <a:off x="4134663" y="3462512"/>
            <a:ext cx="149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13x13x1024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81840" y="3533897"/>
            <a:ext cx="106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13x13</a:t>
            </a:r>
          </a:p>
          <a:p>
            <a:pPr algn="ctr"/>
            <a:r>
              <a:rPr lang="en-US"/>
              <a:t>xlength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29517" y="1545282"/>
            <a:ext cx="2060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[1x1x1024] x length</a:t>
            </a:r>
          </a:p>
        </p:txBody>
      </p:sp>
      <p:cxnSp>
        <p:nvCxnSpPr>
          <p:cNvPr id="59" name="Straight Arrow Connector 58"/>
          <p:cNvCxnSpPr>
            <a:stCxn id="51" idx="1"/>
            <a:endCxn id="51" idx="3"/>
          </p:cNvCxnSpPr>
          <p:nvPr/>
        </p:nvCxnSpPr>
        <p:spPr>
          <a:xfrm>
            <a:off x="5149262" y="2730583"/>
            <a:ext cx="15224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914411" y="3955664"/>
            <a:ext cx="1522471" cy="307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/>
          <p:cNvSpPr txBox="1"/>
          <p:nvPr/>
        </p:nvSpPr>
        <p:spPr>
          <a:xfrm>
            <a:off x="905734" y="3784821"/>
            <a:ext cx="149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416x416x3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82572" y="2957965"/>
            <a:ext cx="1522471" cy="262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9712706" y="2850947"/>
            <a:ext cx="149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B(5+C)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91927" y="3450527"/>
            <a:ext cx="1860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YOLOv1: 5B+C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57322" y="1545282"/>
            <a:ext cx="3684104" cy="590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8280070" y="2486486"/>
            <a:ext cx="3461356" cy="2201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50470" y="656028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YOLOv2 Architecture [</a:t>
            </a:r>
            <a:r>
              <a:rPr lang="en-US" sz="2000">
                <a:hlinkClick r:id="rId5"/>
              </a:rPr>
              <a:t>Link</a:t>
            </a:r>
            <a:r>
              <a:rPr lang="en-US" sz="2000"/>
              <a:t>]</a:t>
            </a: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13735914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YOLO architectu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08" y="1163262"/>
            <a:ext cx="10770598" cy="324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50471" y="144683"/>
            <a:ext cx="204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YOLOv2</a:t>
            </a:r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4127942" y="1163262"/>
            <a:ext cx="3602896" cy="309998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4711104" y="1638719"/>
            <a:ext cx="961563" cy="396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5929390" y="1545585"/>
            <a:ext cx="961563" cy="396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5149262" y="1966578"/>
            <a:ext cx="1522471" cy="15280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4221890" y="3533898"/>
            <a:ext cx="3451746" cy="3761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Picture 2" descr="The architecture of YOLOv2. | Download Scientific Diagram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27" t="56549" r="22204" b="32955"/>
          <a:stretch/>
        </p:blipFill>
        <p:spPr bwMode="auto">
          <a:xfrm>
            <a:off x="5454798" y="1894767"/>
            <a:ext cx="609468" cy="24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/>
          <p:cNvSpPr txBox="1"/>
          <p:nvPr/>
        </p:nvSpPr>
        <p:spPr>
          <a:xfrm>
            <a:off x="4134663" y="3462512"/>
            <a:ext cx="149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13x13x1024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81840" y="3533897"/>
            <a:ext cx="106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13x13</a:t>
            </a:r>
          </a:p>
          <a:p>
            <a:pPr algn="ctr"/>
            <a:r>
              <a:rPr lang="en-US"/>
              <a:t>xlength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29517" y="1545282"/>
            <a:ext cx="2060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[1x1x1024] x length</a:t>
            </a:r>
          </a:p>
        </p:txBody>
      </p:sp>
      <p:cxnSp>
        <p:nvCxnSpPr>
          <p:cNvPr id="59" name="Straight Arrow Connector 58"/>
          <p:cNvCxnSpPr>
            <a:stCxn id="51" idx="1"/>
            <a:endCxn id="51" idx="3"/>
          </p:cNvCxnSpPr>
          <p:nvPr/>
        </p:nvCxnSpPr>
        <p:spPr>
          <a:xfrm>
            <a:off x="5149262" y="2730583"/>
            <a:ext cx="15224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914411" y="3955664"/>
            <a:ext cx="1522471" cy="307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/>
          <p:cNvSpPr txBox="1"/>
          <p:nvPr/>
        </p:nvSpPr>
        <p:spPr>
          <a:xfrm>
            <a:off x="905734" y="3784821"/>
            <a:ext cx="149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416x416x3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82572" y="2957965"/>
            <a:ext cx="1522471" cy="262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9712706" y="2850947"/>
            <a:ext cx="149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B(5+C)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91927" y="3450527"/>
            <a:ext cx="1860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YOLOv1: 5B+C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57322" y="1545282"/>
            <a:ext cx="3684104" cy="590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8280070" y="2486486"/>
            <a:ext cx="3461356" cy="2201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50470" y="656028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YOLOv2 Architecture [</a:t>
            </a:r>
            <a:r>
              <a:rPr lang="en-US" sz="2000">
                <a:hlinkClick r:id="rId5"/>
              </a:rPr>
              <a:t>Link</a:t>
            </a:r>
            <a:r>
              <a:rPr lang="en-US" sz="2000"/>
              <a:t>]</a:t>
            </a:r>
            <a:endParaRPr lang="en-US" sz="2000" b="1"/>
          </a:p>
        </p:txBody>
      </p:sp>
      <p:pic>
        <p:nvPicPr>
          <p:cNvPr id="3" name="Picture 2" descr="A Comprehensive Introduction to Different Types of Convolutions in Deep  Learning | by Kunlun Bai | Towards Data Scienc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2" y="5172980"/>
            <a:ext cx="5135426" cy="3966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 descr="A Comprehensive Introduction to Different Types of Convolutions in Deep  Learning | by Kunlun Bai | Towards Data Science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39" t="53881"/>
          <a:stretch/>
        </p:blipFill>
        <p:spPr bwMode="auto">
          <a:xfrm>
            <a:off x="6203102" y="6443985"/>
            <a:ext cx="1117541" cy="1829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 flipV="1">
            <a:off x="6080168" y="8273531"/>
            <a:ext cx="890649" cy="6329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227729" y="8495009"/>
            <a:ext cx="149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B(5+C)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15422" y="5971921"/>
            <a:ext cx="149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 B(5+C)</a:t>
            </a:r>
          </a:p>
        </p:txBody>
      </p:sp>
    </p:spTree>
    <p:extLst>
      <p:ext uri="{BB962C8B-B14F-4D97-AF65-F5344CB8AC3E}">
        <p14:creationId xmlns:p14="http://schemas.microsoft.com/office/powerpoint/2010/main" val="41533485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YOLO architectu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08" y="1163262"/>
            <a:ext cx="10770598" cy="324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50471" y="144683"/>
            <a:ext cx="204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YOLOv2</a:t>
            </a:r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4127942" y="1163262"/>
            <a:ext cx="3602896" cy="309998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4711104" y="1638719"/>
            <a:ext cx="961563" cy="396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5929390" y="1545585"/>
            <a:ext cx="961563" cy="396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5149262" y="1966578"/>
            <a:ext cx="1522471" cy="15280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4221890" y="3533898"/>
            <a:ext cx="3451746" cy="3761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Picture 2" descr="The architecture of YOLOv2. | Download Scientific Diagram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27" t="56549" r="22204" b="32955"/>
          <a:stretch/>
        </p:blipFill>
        <p:spPr bwMode="auto">
          <a:xfrm>
            <a:off x="5454798" y="1894767"/>
            <a:ext cx="609468" cy="24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/>
          <p:cNvSpPr txBox="1"/>
          <p:nvPr/>
        </p:nvSpPr>
        <p:spPr>
          <a:xfrm>
            <a:off x="4134663" y="3462512"/>
            <a:ext cx="149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13x13x1024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81840" y="3533897"/>
            <a:ext cx="106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13x13</a:t>
            </a:r>
          </a:p>
          <a:p>
            <a:pPr algn="ctr"/>
            <a:r>
              <a:rPr lang="en-US"/>
              <a:t>xlength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29517" y="1545282"/>
            <a:ext cx="2060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[1x1x1024] x length</a:t>
            </a:r>
          </a:p>
        </p:txBody>
      </p:sp>
      <p:cxnSp>
        <p:nvCxnSpPr>
          <p:cNvPr id="59" name="Straight Arrow Connector 58"/>
          <p:cNvCxnSpPr>
            <a:stCxn id="51" idx="1"/>
            <a:endCxn id="51" idx="3"/>
          </p:cNvCxnSpPr>
          <p:nvPr/>
        </p:nvCxnSpPr>
        <p:spPr>
          <a:xfrm>
            <a:off x="5149262" y="2730583"/>
            <a:ext cx="15224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914411" y="3955664"/>
            <a:ext cx="1522471" cy="307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/>
          <p:cNvSpPr txBox="1"/>
          <p:nvPr/>
        </p:nvSpPr>
        <p:spPr>
          <a:xfrm>
            <a:off x="905734" y="3784821"/>
            <a:ext cx="149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416x416x3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82572" y="2957965"/>
            <a:ext cx="1522471" cy="262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9712706" y="2850947"/>
            <a:ext cx="149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B(5+C)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91927" y="3450527"/>
            <a:ext cx="1860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YOLOv1: 5B+C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57322" y="1545282"/>
            <a:ext cx="3684104" cy="590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8280070" y="2486486"/>
            <a:ext cx="3461356" cy="2201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50470" y="656028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YOLOv2 Architecture [</a:t>
            </a:r>
            <a:r>
              <a:rPr lang="en-US" sz="2000">
                <a:hlinkClick r:id="rId5"/>
              </a:rPr>
              <a:t>Link</a:t>
            </a:r>
            <a:r>
              <a:rPr lang="en-US" sz="2000"/>
              <a:t>]</a:t>
            </a:r>
            <a:endParaRPr lang="en-US" sz="2000" b="1"/>
          </a:p>
        </p:txBody>
      </p:sp>
      <p:pic>
        <p:nvPicPr>
          <p:cNvPr id="3" name="Picture 2" descr="A Comprehensive Introduction to Different Types of Convolutions in Deep  Learning | by Kunlun Bai | Towards Data Scienc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2" y="5172980"/>
            <a:ext cx="5135426" cy="3966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 descr="A Comprehensive Introduction to Different Types of Convolutions in Deep  Learning | by Kunlun Bai | Towards Data Science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39" t="53881"/>
          <a:stretch/>
        </p:blipFill>
        <p:spPr bwMode="auto">
          <a:xfrm>
            <a:off x="6203102" y="6443985"/>
            <a:ext cx="1117541" cy="1829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 flipV="1">
            <a:off x="6080168" y="8273531"/>
            <a:ext cx="890649" cy="6329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227729" y="8495009"/>
            <a:ext cx="149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B(5+C)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15422" y="5971921"/>
            <a:ext cx="149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 B(5+C)</a:t>
            </a:r>
          </a:p>
        </p:txBody>
      </p:sp>
      <p:pic>
        <p:nvPicPr>
          <p:cNvPr id="2050" name="Picture 2" descr="The beginner's guide to implementing Yolov3 in TensorFlow 2.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3576" y="4408975"/>
            <a:ext cx="4518102" cy="5330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51295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YOLO architectu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08" y="1163262"/>
            <a:ext cx="10770598" cy="324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 30"/>
          <p:cNvSpPr/>
          <p:nvPr/>
        </p:nvSpPr>
        <p:spPr>
          <a:xfrm>
            <a:off x="4127942" y="1163262"/>
            <a:ext cx="3602896" cy="309998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4711104" y="1638719"/>
            <a:ext cx="961563" cy="396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5929390" y="1545585"/>
            <a:ext cx="961563" cy="396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5149262" y="1966578"/>
            <a:ext cx="1522471" cy="15280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4221890" y="3533898"/>
            <a:ext cx="3451746" cy="3761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Picture 2" descr="The architecture of YOLOv2. | Download Scientific Diagram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27" t="56549" r="22204" b="32955"/>
          <a:stretch/>
        </p:blipFill>
        <p:spPr bwMode="auto">
          <a:xfrm>
            <a:off x="5454798" y="1894767"/>
            <a:ext cx="609468" cy="24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/>
          <p:cNvSpPr txBox="1"/>
          <p:nvPr/>
        </p:nvSpPr>
        <p:spPr>
          <a:xfrm>
            <a:off x="4134663" y="3462512"/>
            <a:ext cx="149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13x13x1024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81840" y="3533897"/>
            <a:ext cx="106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13x13</a:t>
            </a:r>
          </a:p>
          <a:p>
            <a:pPr algn="ctr"/>
            <a:r>
              <a:rPr lang="en-US"/>
              <a:t>xlength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29517" y="1545282"/>
            <a:ext cx="2060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[1x1x1024] x length</a:t>
            </a:r>
          </a:p>
        </p:txBody>
      </p:sp>
      <p:cxnSp>
        <p:nvCxnSpPr>
          <p:cNvPr id="59" name="Straight Arrow Connector 58"/>
          <p:cNvCxnSpPr>
            <a:stCxn id="51" idx="1"/>
            <a:endCxn id="51" idx="3"/>
          </p:cNvCxnSpPr>
          <p:nvPr/>
        </p:nvCxnSpPr>
        <p:spPr>
          <a:xfrm>
            <a:off x="5149262" y="2730583"/>
            <a:ext cx="15224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914411" y="3955664"/>
            <a:ext cx="1522471" cy="307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/>
          <p:cNvSpPr txBox="1"/>
          <p:nvPr/>
        </p:nvSpPr>
        <p:spPr>
          <a:xfrm>
            <a:off x="905734" y="3784821"/>
            <a:ext cx="149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416x416x3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82572" y="2957965"/>
            <a:ext cx="1522471" cy="262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9712706" y="2850947"/>
            <a:ext cx="149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B(5+C)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91927" y="3450527"/>
            <a:ext cx="1860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YOLOv1: 5B+C</a:t>
            </a:r>
          </a:p>
        </p:txBody>
      </p:sp>
      <p:pic>
        <p:nvPicPr>
          <p:cNvPr id="3" name="Picture 2" descr="Image for post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453" y="6938636"/>
            <a:ext cx="4414560" cy="1143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for post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467" y="4511770"/>
            <a:ext cx="8272480" cy="1921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2517913" y="5523693"/>
            <a:ext cx="1603498" cy="8035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Curved Connector 6"/>
          <p:cNvCxnSpPr>
            <a:stCxn id="5" idx="1"/>
            <a:endCxn id="3" idx="1"/>
          </p:cNvCxnSpPr>
          <p:nvPr/>
        </p:nvCxnSpPr>
        <p:spPr>
          <a:xfrm rot="10800000" flipH="1" flipV="1">
            <a:off x="2517913" y="5925461"/>
            <a:ext cx="1946540" cy="1584940"/>
          </a:xfrm>
          <a:prstGeom prst="curvedConnector3">
            <a:avLst>
              <a:gd name="adj1" fmla="val -117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/>
          <p:cNvCxnSpPr>
            <a:stCxn id="1026" idx="3"/>
            <a:endCxn id="1028" idx="3"/>
          </p:cNvCxnSpPr>
          <p:nvPr/>
        </p:nvCxnSpPr>
        <p:spPr>
          <a:xfrm flipH="1">
            <a:off x="10593947" y="2786119"/>
            <a:ext cx="1249059" cy="2686200"/>
          </a:xfrm>
          <a:prstGeom prst="curvedConnector3">
            <a:avLst>
              <a:gd name="adj1" fmla="val -1830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057322" y="1545282"/>
            <a:ext cx="3684104" cy="590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8280070" y="2486486"/>
            <a:ext cx="3461356" cy="2201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2289647" y="6319540"/>
            <a:ext cx="2060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1 box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471" y="144683"/>
            <a:ext cx="204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YOLOv2</a:t>
            </a:r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150470" y="656028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YOLOv2 Architecture [</a:t>
            </a:r>
            <a:r>
              <a:rPr lang="en-US" sz="2000">
                <a:hlinkClick r:id="rId7"/>
              </a:rPr>
              <a:t>Link</a:t>
            </a:r>
            <a:r>
              <a:rPr lang="en-US" sz="2000"/>
              <a:t>]</a:t>
            </a: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40558830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2" descr="Gentle guide on how YOLO Object Localization works with Keras (Part 2) | by  Chengwei Zhang | Heartbea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412" y="4947893"/>
            <a:ext cx="1948433" cy="196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YOLO architectur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08" y="1163262"/>
            <a:ext cx="10770598" cy="324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 30"/>
          <p:cNvSpPr/>
          <p:nvPr/>
        </p:nvSpPr>
        <p:spPr>
          <a:xfrm>
            <a:off x="4127942" y="1163262"/>
            <a:ext cx="3602896" cy="309998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4711104" y="1638719"/>
            <a:ext cx="961563" cy="396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5929390" y="1545585"/>
            <a:ext cx="961563" cy="396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5149262" y="1966578"/>
            <a:ext cx="1522471" cy="15280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4221890" y="3533898"/>
            <a:ext cx="3451746" cy="3761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Picture 2" descr="The architecture of YOLOv2. | Download Scientific Diagram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27" t="56549" r="22204" b="32955"/>
          <a:stretch/>
        </p:blipFill>
        <p:spPr bwMode="auto">
          <a:xfrm>
            <a:off x="5454798" y="1894767"/>
            <a:ext cx="609468" cy="24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/>
          <p:cNvSpPr txBox="1"/>
          <p:nvPr/>
        </p:nvSpPr>
        <p:spPr>
          <a:xfrm>
            <a:off x="4134663" y="3462512"/>
            <a:ext cx="149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13x13x1024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81840" y="3533897"/>
            <a:ext cx="106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13x13</a:t>
            </a:r>
          </a:p>
          <a:p>
            <a:pPr algn="ctr"/>
            <a:r>
              <a:rPr lang="en-US"/>
              <a:t>xlength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29517" y="1545282"/>
            <a:ext cx="2060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[1x1x1024] x length</a:t>
            </a:r>
          </a:p>
        </p:txBody>
      </p:sp>
      <p:cxnSp>
        <p:nvCxnSpPr>
          <p:cNvPr id="59" name="Straight Arrow Connector 58"/>
          <p:cNvCxnSpPr>
            <a:stCxn id="51" idx="1"/>
            <a:endCxn id="51" idx="3"/>
          </p:cNvCxnSpPr>
          <p:nvPr/>
        </p:nvCxnSpPr>
        <p:spPr>
          <a:xfrm>
            <a:off x="5149262" y="2730583"/>
            <a:ext cx="15224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914411" y="3955664"/>
            <a:ext cx="1522471" cy="307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/>
          <p:cNvSpPr txBox="1"/>
          <p:nvPr/>
        </p:nvSpPr>
        <p:spPr>
          <a:xfrm>
            <a:off x="905734" y="3784821"/>
            <a:ext cx="149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416x416x3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82572" y="2957965"/>
            <a:ext cx="1522471" cy="262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9712706" y="2850947"/>
            <a:ext cx="149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B(5+C)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91927" y="3450527"/>
            <a:ext cx="1860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YOLOv1: 5B+C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57322" y="1545282"/>
            <a:ext cx="3684104" cy="590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8280070" y="2486486"/>
            <a:ext cx="3461356" cy="2201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4" name="Group 73"/>
          <p:cNvGrpSpPr/>
          <p:nvPr/>
        </p:nvGrpSpPr>
        <p:grpSpPr>
          <a:xfrm>
            <a:off x="3251108" y="4745979"/>
            <a:ext cx="2010968" cy="2229413"/>
            <a:chOff x="7821801" y="4190850"/>
            <a:chExt cx="2010968" cy="2229413"/>
          </a:xfrm>
        </p:grpSpPr>
        <p:grpSp>
          <p:nvGrpSpPr>
            <p:cNvPr id="75" name="Group 74"/>
            <p:cNvGrpSpPr/>
            <p:nvPr/>
          </p:nvGrpSpPr>
          <p:grpSpPr>
            <a:xfrm>
              <a:off x="7821801" y="4190850"/>
              <a:ext cx="2010968" cy="2229413"/>
              <a:chOff x="7818612" y="4178975"/>
              <a:chExt cx="1741025" cy="1544931"/>
            </a:xfrm>
          </p:grpSpPr>
          <p:pic>
            <p:nvPicPr>
              <p:cNvPr id="77" name="Picture 76"/>
              <p:cNvPicPr>
                <a:picLocks noChangeAspect="1"/>
              </p:cNvPicPr>
              <p:nvPr/>
            </p:nvPicPr>
            <p:blipFill rotWithShape="1">
              <a:blip r:embed="rId6"/>
              <a:srcRect l="2609" r="4867" b="3841"/>
              <a:stretch/>
            </p:blipFill>
            <p:spPr>
              <a:xfrm>
                <a:off x="7873341" y="4178975"/>
                <a:ext cx="1686296" cy="1544931"/>
              </a:xfrm>
              <a:prstGeom prst="rect">
                <a:avLst/>
              </a:prstGeom>
            </p:spPr>
          </p:pic>
          <p:sp>
            <p:nvSpPr>
              <p:cNvPr id="78" name="Rectangle 77"/>
              <p:cNvSpPr/>
              <p:nvPr/>
            </p:nvSpPr>
            <p:spPr>
              <a:xfrm rot="2400249">
                <a:off x="9400007" y="5173920"/>
                <a:ext cx="114511" cy="3891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 rot="2400249">
                <a:off x="7818612" y="4367185"/>
                <a:ext cx="343963" cy="2408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76" name="Picture 7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882347" y="5130140"/>
              <a:ext cx="1268849" cy="1278248"/>
            </a:xfrm>
            <a:prstGeom prst="rect">
              <a:avLst/>
            </a:prstGeom>
          </p:spPr>
        </p:pic>
      </p:grpSp>
      <p:sp>
        <p:nvSpPr>
          <p:cNvPr id="81" name="Rectangle 80"/>
          <p:cNvSpPr/>
          <p:nvPr/>
        </p:nvSpPr>
        <p:spPr>
          <a:xfrm>
            <a:off x="3880811" y="6404478"/>
            <a:ext cx="177085" cy="17302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3" name="Picture 8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4330" y="5190466"/>
            <a:ext cx="1940137" cy="1784926"/>
          </a:xfrm>
          <a:prstGeom prst="rect">
            <a:avLst/>
          </a:prstGeom>
        </p:spPr>
      </p:pic>
      <p:sp>
        <p:nvSpPr>
          <p:cNvPr id="84" name="Rectangle 83"/>
          <p:cNvSpPr/>
          <p:nvPr/>
        </p:nvSpPr>
        <p:spPr>
          <a:xfrm>
            <a:off x="8585885" y="6427806"/>
            <a:ext cx="166470" cy="16037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5" name="Picture 8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3885245" y="7726700"/>
            <a:ext cx="1263962" cy="1389945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3779673" y="9138881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1x1xdepth</a:t>
            </a:r>
          </a:p>
        </p:txBody>
      </p:sp>
      <p:cxnSp>
        <p:nvCxnSpPr>
          <p:cNvPr id="87" name="Curved Connector 86"/>
          <p:cNvCxnSpPr>
            <a:stCxn id="81" idx="2"/>
            <a:endCxn id="85" idx="3"/>
          </p:cNvCxnSpPr>
          <p:nvPr/>
        </p:nvCxnSpPr>
        <p:spPr>
          <a:xfrm rot="5400000">
            <a:off x="3005216" y="7457534"/>
            <a:ext cx="1844169" cy="84109"/>
          </a:xfrm>
          <a:prstGeom prst="curvedConnector4">
            <a:avLst>
              <a:gd name="adj1" fmla="val 31158"/>
              <a:gd name="adj2" fmla="val 37179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8" name="Picture 8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6591300" y="7948190"/>
            <a:ext cx="922623" cy="1079555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6214207" y="9138881"/>
            <a:ext cx="11937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1x1xlength</a:t>
            </a:r>
          </a:p>
        </p:txBody>
      </p:sp>
      <p:cxnSp>
        <p:nvCxnSpPr>
          <p:cNvPr id="90" name="Curved Connector 89"/>
          <p:cNvCxnSpPr>
            <a:stCxn id="84" idx="2"/>
            <a:endCxn id="88" idx="1"/>
          </p:cNvCxnSpPr>
          <p:nvPr/>
        </p:nvCxnSpPr>
        <p:spPr>
          <a:xfrm rot="5400000">
            <a:off x="7141629" y="6960477"/>
            <a:ext cx="1899786" cy="1155197"/>
          </a:xfrm>
          <a:prstGeom prst="curved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1" name="Picture 2" descr="4. Fully Connected Deep Networks - TensorFlow for Deep Learning [Book]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325245">
            <a:off x="4922675" y="7489866"/>
            <a:ext cx="1813691" cy="1945401"/>
          </a:xfrm>
          <a:prstGeom prst="rect">
            <a:avLst/>
          </a:prstGeom>
          <a:noFill/>
          <a:scene3d>
            <a:camera prst="isometricBottomDown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3" name="Straight Arrow Connector 92"/>
          <p:cNvCxnSpPr/>
          <p:nvPr/>
        </p:nvCxnSpPr>
        <p:spPr>
          <a:xfrm>
            <a:off x="2501023" y="8673951"/>
            <a:ext cx="160316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 flipV="1">
            <a:off x="2556643" y="5977467"/>
            <a:ext cx="438534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Rectangle 103"/>
          <p:cNvSpPr/>
          <p:nvPr/>
        </p:nvSpPr>
        <p:spPr>
          <a:xfrm>
            <a:off x="568014" y="5424694"/>
            <a:ext cx="1476687" cy="1351018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" name="Picture 2" descr="Gentle guide on how YOLO Object Localization works with Keras (Part 2) | by  Chengwei Zhang | Heartbeat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17" t="25734" r="11727" b="6846"/>
          <a:stretch/>
        </p:blipFill>
        <p:spPr bwMode="auto">
          <a:xfrm>
            <a:off x="1065783" y="8011342"/>
            <a:ext cx="1497496" cy="1325217"/>
          </a:xfrm>
          <a:prstGeom prst="rect">
            <a:avLst/>
          </a:prstGeom>
          <a:noFill/>
          <a:scene3d>
            <a:camera prst="isometricOffAxis2Right"/>
            <a:lightRig rig="threePt" dir="t"/>
          </a:scene3d>
          <a:sp3d>
            <a:bevelT w="152400" h="50800" prst="softRound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" name="TextBox 105"/>
          <p:cNvSpPr txBox="1"/>
          <p:nvPr/>
        </p:nvSpPr>
        <p:spPr>
          <a:xfrm>
            <a:off x="9147733" y="8277900"/>
            <a:ext cx="3296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YOLOv1: car </a:t>
            </a:r>
            <a:r>
              <a:rPr lang="en-US" sz="2400" b="1"/>
              <a:t>or</a:t>
            </a:r>
            <a:r>
              <a:rPr lang="en-US" sz="2400"/>
              <a:t> person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063256" y="8799602"/>
            <a:ext cx="3561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YOLOv2: car </a:t>
            </a:r>
            <a:r>
              <a:rPr lang="en-US" sz="2400" b="1"/>
              <a:t>and</a:t>
            </a:r>
            <a:r>
              <a:rPr lang="en-US" sz="2400"/>
              <a:t> person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0471" y="144683"/>
            <a:ext cx="204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YOLOv2</a:t>
            </a:r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150470" y="656028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YOLOv2 Architecture [</a:t>
            </a:r>
            <a:r>
              <a:rPr lang="en-US" sz="2000">
                <a:hlinkClick r:id="rId12"/>
              </a:rPr>
              <a:t>Link</a:t>
            </a:r>
            <a:r>
              <a:rPr lang="en-US" sz="2000"/>
              <a:t>]</a:t>
            </a: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36720692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YOLO architectu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08" y="1163262"/>
            <a:ext cx="10770598" cy="324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 30"/>
          <p:cNvSpPr/>
          <p:nvPr/>
        </p:nvSpPr>
        <p:spPr>
          <a:xfrm>
            <a:off x="4127942" y="1163262"/>
            <a:ext cx="3602896" cy="309998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4711104" y="1638719"/>
            <a:ext cx="961563" cy="396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5929390" y="1545585"/>
            <a:ext cx="961563" cy="396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5149262" y="1966578"/>
            <a:ext cx="1522471" cy="15280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4221890" y="3533898"/>
            <a:ext cx="3451746" cy="3761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Picture 2" descr="The architecture of YOLOv2. | Download Scientific Diagram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27" t="56549" r="22204" b="32955"/>
          <a:stretch/>
        </p:blipFill>
        <p:spPr bwMode="auto">
          <a:xfrm>
            <a:off x="5454798" y="1894767"/>
            <a:ext cx="609468" cy="24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/>
          <p:cNvSpPr txBox="1"/>
          <p:nvPr/>
        </p:nvSpPr>
        <p:spPr>
          <a:xfrm>
            <a:off x="4134663" y="3462512"/>
            <a:ext cx="149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13x13x1024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81840" y="3533897"/>
            <a:ext cx="106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13x13</a:t>
            </a:r>
          </a:p>
          <a:p>
            <a:pPr algn="ctr"/>
            <a:r>
              <a:rPr lang="en-US"/>
              <a:t>xlength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29517" y="1545282"/>
            <a:ext cx="2060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[1x1x1024] x length</a:t>
            </a:r>
          </a:p>
        </p:txBody>
      </p:sp>
      <p:cxnSp>
        <p:nvCxnSpPr>
          <p:cNvPr id="59" name="Straight Arrow Connector 58"/>
          <p:cNvCxnSpPr>
            <a:stCxn id="51" idx="1"/>
            <a:endCxn id="51" idx="3"/>
          </p:cNvCxnSpPr>
          <p:nvPr/>
        </p:nvCxnSpPr>
        <p:spPr>
          <a:xfrm>
            <a:off x="5149262" y="2730583"/>
            <a:ext cx="15224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914411" y="3955664"/>
            <a:ext cx="1522471" cy="307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/>
          <p:cNvSpPr txBox="1"/>
          <p:nvPr/>
        </p:nvSpPr>
        <p:spPr>
          <a:xfrm>
            <a:off x="905734" y="3784821"/>
            <a:ext cx="149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416x416x3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3251108" y="4745979"/>
            <a:ext cx="2010968" cy="2229413"/>
            <a:chOff x="7818612" y="4178975"/>
            <a:chExt cx="1741025" cy="1544931"/>
          </a:xfrm>
        </p:grpSpPr>
        <p:pic>
          <p:nvPicPr>
            <p:cNvPr id="20" name="Picture 19"/>
            <p:cNvPicPr>
              <a:picLocks noChangeAspect="1"/>
            </p:cNvPicPr>
            <p:nvPr/>
          </p:nvPicPr>
          <p:blipFill rotWithShape="1">
            <a:blip r:embed="rId5"/>
            <a:srcRect l="2609" r="4867" b="3841"/>
            <a:stretch/>
          </p:blipFill>
          <p:spPr>
            <a:xfrm>
              <a:off x="7873341" y="4178975"/>
              <a:ext cx="1686296" cy="1544931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>
            <a:xfrm rot="2400249">
              <a:off x="9400007" y="5173920"/>
              <a:ext cx="114511" cy="3891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 rot="2400249">
              <a:off x="7818612" y="4367185"/>
              <a:ext cx="343963" cy="2408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3544440" y="6947844"/>
            <a:ext cx="12488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13x13x1024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0935" y="6987600"/>
            <a:ext cx="13643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13x13xlength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4330" y="5190466"/>
            <a:ext cx="1940137" cy="1784926"/>
          </a:xfrm>
          <a:prstGeom prst="rect">
            <a:avLst/>
          </a:prstGeom>
        </p:spPr>
      </p:pic>
      <p:cxnSp>
        <p:nvCxnSpPr>
          <p:cNvPr id="26" name="Straight Arrow Connector 25"/>
          <p:cNvCxnSpPr/>
          <p:nvPr/>
        </p:nvCxnSpPr>
        <p:spPr>
          <a:xfrm flipV="1">
            <a:off x="2556643" y="5977467"/>
            <a:ext cx="438534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7" name="Picture 6" descr="Object detection using YOLO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368" y="4960231"/>
            <a:ext cx="1960828" cy="1953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6483" y="5690107"/>
            <a:ext cx="1257063" cy="124991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1785" y="5714892"/>
            <a:ext cx="1257063" cy="1249915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10082572" y="2957965"/>
            <a:ext cx="1522471" cy="262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9712706" y="2850947"/>
            <a:ext cx="149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B(5+C)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57322" y="1545282"/>
            <a:ext cx="3684104" cy="590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8280070" y="2486486"/>
            <a:ext cx="3461356" cy="2201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3885245" y="7726700"/>
            <a:ext cx="1263962" cy="138994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779673" y="9138881"/>
            <a:ext cx="105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1x1x1024</a:t>
            </a:r>
          </a:p>
        </p:txBody>
      </p:sp>
      <p:cxnSp>
        <p:nvCxnSpPr>
          <p:cNvPr id="40" name="Curved Connector 39"/>
          <p:cNvCxnSpPr>
            <a:endCxn id="38" idx="3"/>
          </p:cNvCxnSpPr>
          <p:nvPr/>
        </p:nvCxnSpPr>
        <p:spPr>
          <a:xfrm rot="5400000">
            <a:off x="3005216" y="7457534"/>
            <a:ext cx="1844169" cy="84109"/>
          </a:xfrm>
          <a:prstGeom prst="curvedConnector4">
            <a:avLst>
              <a:gd name="adj1" fmla="val 31158"/>
              <a:gd name="adj2" fmla="val 37179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6591300" y="7948190"/>
            <a:ext cx="922623" cy="107955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214207" y="9138881"/>
            <a:ext cx="11937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1x1xlength</a:t>
            </a:r>
          </a:p>
        </p:txBody>
      </p:sp>
      <p:cxnSp>
        <p:nvCxnSpPr>
          <p:cNvPr id="43" name="Curved Connector 42"/>
          <p:cNvCxnSpPr>
            <a:endCxn id="41" idx="1"/>
          </p:cNvCxnSpPr>
          <p:nvPr/>
        </p:nvCxnSpPr>
        <p:spPr>
          <a:xfrm rot="5400000">
            <a:off x="7141629" y="6960477"/>
            <a:ext cx="1899786" cy="1155197"/>
          </a:xfrm>
          <a:prstGeom prst="curved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2" descr="4. Fully Connected Deep Networks - TensorFlow for Deep Learning [Book]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325245">
            <a:off x="4922675" y="7489866"/>
            <a:ext cx="1813691" cy="1945401"/>
          </a:xfrm>
          <a:prstGeom prst="rect">
            <a:avLst/>
          </a:prstGeom>
          <a:noFill/>
          <a:scene3d>
            <a:camera prst="isometricBottomDown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Rectangle 44"/>
          <p:cNvSpPr/>
          <p:nvPr/>
        </p:nvSpPr>
        <p:spPr>
          <a:xfrm>
            <a:off x="3927300" y="6456010"/>
            <a:ext cx="91440" cy="103064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8604596" y="6486186"/>
            <a:ext cx="91440" cy="103064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4" descr="Image for post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3365" y="8222117"/>
            <a:ext cx="4314930" cy="1002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7328452" y="8842409"/>
            <a:ext cx="9674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216949" y="8868207"/>
            <a:ext cx="11937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rgbClr val="FF0000"/>
                </a:solidFill>
              </a:rPr>
              <a:t>???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0471" y="144683"/>
            <a:ext cx="204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YOLOv2</a:t>
            </a:r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150470" y="656028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YOLOv2 Architecture [</a:t>
            </a:r>
            <a:r>
              <a:rPr lang="en-US" sz="2000">
                <a:hlinkClick r:id="rId13"/>
              </a:rPr>
              <a:t>Link</a:t>
            </a:r>
            <a:r>
              <a:rPr lang="en-US" sz="2000"/>
              <a:t>]</a:t>
            </a: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6957033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YOLO architectu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08" y="1163262"/>
            <a:ext cx="10770598" cy="324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 30"/>
          <p:cNvSpPr/>
          <p:nvPr/>
        </p:nvSpPr>
        <p:spPr>
          <a:xfrm>
            <a:off x="4127942" y="1163262"/>
            <a:ext cx="3602896" cy="309998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4711104" y="1638719"/>
            <a:ext cx="961563" cy="396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5929390" y="1545585"/>
            <a:ext cx="961563" cy="396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5149262" y="1966578"/>
            <a:ext cx="1522471" cy="15280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4221890" y="3533898"/>
            <a:ext cx="3451746" cy="3761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Picture 2" descr="The architecture of YOLOv2. | Download Scientific Diagram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27" t="56549" r="22204" b="32955"/>
          <a:stretch/>
        </p:blipFill>
        <p:spPr bwMode="auto">
          <a:xfrm>
            <a:off x="5454798" y="1894767"/>
            <a:ext cx="609468" cy="24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/>
          <p:cNvSpPr txBox="1"/>
          <p:nvPr/>
        </p:nvSpPr>
        <p:spPr>
          <a:xfrm>
            <a:off x="4134663" y="3462512"/>
            <a:ext cx="149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13x13x1024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81840" y="3533897"/>
            <a:ext cx="106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13x13</a:t>
            </a:r>
          </a:p>
          <a:p>
            <a:pPr algn="ctr"/>
            <a:r>
              <a:rPr lang="en-US"/>
              <a:t>xlength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29517" y="1545282"/>
            <a:ext cx="2060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[1x1x1024] x length</a:t>
            </a:r>
          </a:p>
        </p:txBody>
      </p:sp>
      <p:cxnSp>
        <p:nvCxnSpPr>
          <p:cNvPr id="59" name="Straight Arrow Connector 58"/>
          <p:cNvCxnSpPr>
            <a:stCxn id="51" idx="1"/>
            <a:endCxn id="51" idx="3"/>
          </p:cNvCxnSpPr>
          <p:nvPr/>
        </p:nvCxnSpPr>
        <p:spPr>
          <a:xfrm>
            <a:off x="5149262" y="2730583"/>
            <a:ext cx="15224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914411" y="3955664"/>
            <a:ext cx="1522471" cy="307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/>
          <p:cNvSpPr txBox="1"/>
          <p:nvPr/>
        </p:nvSpPr>
        <p:spPr>
          <a:xfrm>
            <a:off x="905734" y="3784821"/>
            <a:ext cx="149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416x416x3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82572" y="2957965"/>
            <a:ext cx="1522471" cy="262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9712706" y="2850947"/>
            <a:ext cx="149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B(5+C)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57322" y="1545282"/>
            <a:ext cx="3684104" cy="590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8280070" y="2486486"/>
            <a:ext cx="3461356" cy="2201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750460" y="4719154"/>
            <a:ext cx="922623" cy="107955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19378" y="5225216"/>
            <a:ext cx="874497" cy="345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box1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2238947" y="5457508"/>
            <a:ext cx="3098956" cy="224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750460" y="5457061"/>
            <a:ext cx="349344" cy="4262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186177"/>
              </p:ext>
            </p:extLst>
          </p:nvPr>
        </p:nvGraphicFramePr>
        <p:xfrm>
          <a:off x="5560080" y="5213221"/>
          <a:ext cx="6455781" cy="487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7309">
                  <a:extLst>
                    <a:ext uri="{9D8B030D-6E8A-4147-A177-3AD203B41FA5}">
                      <a16:colId xmlns:a16="http://schemas.microsoft.com/office/drawing/2014/main" val="2340641594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1193805749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2058954349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3232102763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1907847761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3872451438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3405958324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3065830122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39760192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517526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1925132" y="4408975"/>
            <a:ext cx="11937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1x1xlength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471" y="144683"/>
            <a:ext cx="204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YOLOv2</a:t>
            </a:r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150470" y="656028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YOLOv2 Architecture [</a:t>
            </a:r>
            <a:r>
              <a:rPr lang="en-US" sz="2000">
                <a:hlinkClick r:id="rId6"/>
              </a:rPr>
              <a:t>Link</a:t>
            </a:r>
            <a:r>
              <a:rPr lang="en-US" sz="2000"/>
              <a:t>]</a:t>
            </a: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29631361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YOLO architectu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08" y="1163262"/>
            <a:ext cx="10770598" cy="324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 30"/>
          <p:cNvSpPr/>
          <p:nvPr/>
        </p:nvSpPr>
        <p:spPr>
          <a:xfrm>
            <a:off x="4127942" y="1163262"/>
            <a:ext cx="3602896" cy="309998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4711104" y="1638719"/>
            <a:ext cx="961563" cy="396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5929390" y="1545585"/>
            <a:ext cx="961563" cy="396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5149262" y="1966578"/>
            <a:ext cx="1522471" cy="15280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4221890" y="3533898"/>
            <a:ext cx="3451746" cy="3761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Picture 2" descr="The architecture of YOLOv2. | Download Scientific Diagram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27" t="56549" r="22204" b="32955"/>
          <a:stretch/>
        </p:blipFill>
        <p:spPr bwMode="auto">
          <a:xfrm>
            <a:off x="5454798" y="1894767"/>
            <a:ext cx="609468" cy="24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/>
          <p:cNvSpPr txBox="1"/>
          <p:nvPr/>
        </p:nvSpPr>
        <p:spPr>
          <a:xfrm>
            <a:off x="4134663" y="3462512"/>
            <a:ext cx="149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13x13x1024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81840" y="3533897"/>
            <a:ext cx="106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13x13</a:t>
            </a:r>
          </a:p>
          <a:p>
            <a:pPr algn="ctr"/>
            <a:r>
              <a:rPr lang="en-US"/>
              <a:t>xlength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29517" y="1545282"/>
            <a:ext cx="2060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[1x1x1024] x length</a:t>
            </a:r>
          </a:p>
        </p:txBody>
      </p:sp>
      <p:cxnSp>
        <p:nvCxnSpPr>
          <p:cNvPr id="59" name="Straight Arrow Connector 58"/>
          <p:cNvCxnSpPr>
            <a:stCxn id="51" idx="1"/>
            <a:endCxn id="51" idx="3"/>
          </p:cNvCxnSpPr>
          <p:nvPr/>
        </p:nvCxnSpPr>
        <p:spPr>
          <a:xfrm>
            <a:off x="5149262" y="2730583"/>
            <a:ext cx="15224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914411" y="3955664"/>
            <a:ext cx="1522471" cy="307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/>
          <p:cNvSpPr txBox="1"/>
          <p:nvPr/>
        </p:nvSpPr>
        <p:spPr>
          <a:xfrm>
            <a:off x="905734" y="3784821"/>
            <a:ext cx="149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416x416x3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82572" y="2957965"/>
            <a:ext cx="1522471" cy="262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9712706" y="2850947"/>
            <a:ext cx="149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B(5+C)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57322" y="1545282"/>
            <a:ext cx="3684104" cy="590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8280070" y="2486486"/>
            <a:ext cx="3461356" cy="2201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750460" y="4719154"/>
            <a:ext cx="922623" cy="107955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416250" y="5889572"/>
            <a:ext cx="11937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1x1xlength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9378" y="5225216"/>
            <a:ext cx="874497" cy="345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box1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2238947" y="5457508"/>
            <a:ext cx="3098956" cy="224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750460" y="5457061"/>
            <a:ext cx="349344" cy="4262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60080" y="5213221"/>
          <a:ext cx="6455781" cy="487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7309">
                  <a:extLst>
                    <a:ext uri="{9D8B030D-6E8A-4147-A177-3AD203B41FA5}">
                      <a16:colId xmlns:a16="http://schemas.microsoft.com/office/drawing/2014/main" val="2340641594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1193805749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2058954349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3232102763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1907847761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3872451438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3405958324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3065830122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39760192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517526"/>
                  </a:ext>
                </a:extLst>
              </a:tr>
            </a:tbl>
          </a:graphicData>
        </a:graphic>
      </p:graphicFrame>
      <p:graphicFrame>
        <p:nvGraphicFramePr>
          <p:cNvPr id="58" name="Table 57"/>
          <p:cNvGraphicFramePr>
            <a:graphicFrameLocks noGrp="1"/>
          </p:cNvGraphicFramePr>
          <p:nvPr/>
        </p:nvGraphicFramePr>
        <p:xfrm>
          <a:off x="5560080" y="6802080"/>
          <a:ext cx="6455781" cy="487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7309">
                  <a:extLst>
                    <a:ext uri="{9D8B030D-6E8A-4147-A177-3AD203B41FA5}">
                      <a16:colId xmlns:a16="http://schemas.microsoft.com/office/drawing/2014/main" val="2340641594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1193805749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2058954349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3232102763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1907847761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3872451438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3405958324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3065830122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39760192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517526"/>
                  </a:ext>
                </a:extLst>
              </a:tr>
            </a:tbl>
          </a:graphicData>
        </a:graphic>
      </p:graphicFrame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289" y="6318989"/>
            <a:ext cx="4071419" cy="309455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5784" y="7708511"/>
            <a:ext cx="3888511" cy="170502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925132" y="4408975"/>
            <a:ext cx="11937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1x1xlength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8759687" y="5883309"/>
            <a:ext cx="0" cy="6632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50471" y="144683"/>
            <a:ext cx="204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YOLOv2</a:t>
            </a:r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150470" y="656028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YOLOv2 Architecture [</a:t>
            </a:r>
            <a:r>
              <a:rPr lang="en-US" sz="2000">
                <a:hlinkClick r:id="rId8"/>
              </a:rPr>
              <a:t>Link</a:t>
            </a:r>
            <a:r>
              <a:rPr lang="en-US" sz="2000"/>
              <a:t>]</a:t>
            </a: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22265861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YOLO architectu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08" y="1163262"/>
            <a:ext cx="10770598" cy="324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 30"/>
          <p:cNvSpPr/>
          <p:nvPr/>
        </p:nvSpPr>
        <p:spPr>
          <a:xfrm>
            <a:off x="4127942" y="1163262"/>
            <a:ext cx="3602896" cy="309998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4711104" y="1638719"/>
            <a:ext cx="961563" cy="396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5929390" y="1545585"/>
            <a:ext cx="961563" cy="396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5149262" y="1966578"/>
            <a:ext cx="1522471" cy="15280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4221890" y="3533898"/>
            <a:ext cx="3451746" cy="3761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Picture 2" descr="The architecture of YOLOv2. | Download Scientific Diagram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27" t="56549" r="22204" b="32955"/>
          <a:stretch/>
        </p:blipFill>
        <p:spPr bwMode="auto">
          <a:xfrm>
            <a:off x="5454798" y="1894767"/>
            <a:ext cx="609468" cy="24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/>
          <p:cNvSpPr txBox="1"/>
          <p:nvPr/>
        </p:nvSpPr>
        <p:spPr>
          <a:xfrm>
            <a:off x="4134663" y="3462512"/>
            <a:ext cx="149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13x13x1024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81840" y="3533897"/>
            <a:ext cx="106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13x13</a:t>
            </a:r>
          </a:p>
          <a:p>
            <a:pPr algn="ctr"/>
            <a:r>
              <a:rPr lang="en-US"/>
              <a:t>xlength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29517" y="1545282"/>
            <a:ext cx="2060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[1x1x1024] x length</a:t>
            </a:r>
          </a:p>
        </p:txBody>
      </p:sp>
      <p:cxnSp>
        <p:nvCxnSpPr>
          <p:cNvPr id="59" name="Straight Arrow Connector 58"/>
          <p:cNvCxnSpPr>
            <a:stCxn id="51" idx="1"/>
            <a:endCxn id="51" idx="3"/>
          </p:cNvCxnSpPr>
          <p:nvPr/>
        </p:nvCxnSpPr>
        <p:spPr>
          <a:xfrm>
            <a:off x="5149262" y="2730583"/>
            <a:ext cx="15224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914411" y="3955664"/>
            <a:ext cx="1522471" cy="307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/>
          <p:cNvSpPr txBox="1"/>
          <p:nvPr/>
        </p:nvSpPr>
        <p:spPr>
          <a:xfrm>
            <a:off x="905734" y="3784821"/>
            <a:ext cx="149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416x416x3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82572" y="2957965"/>
            <a:ext cx="1522471" cy="262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9712706" y="2850947"/>
            <a:ext cx="149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B(5+C)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57322" y="1545282"/>
            <a:ext cx="3684104" cy="590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8280070" y="2486486"/>
            <a:ext cx="3461356" cy="2201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750460" y="4719154"/>
            <a:ext cx="922623" cy="107955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416250" y="5889572"/>
            <a:ext cx="11937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1x1xlength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9378" y="5225216"/>
            <a:ext cx="874497" cy="345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box1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2238947" y="5457508"/>
            <a:ext cx="3098956" cy="224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750460" y="5457061"/>
            <a:ext cx="349344" cy="4262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60080" y="5213221"/>
          <a:ext cx="6455781" cy="487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7309">
                  <a:extLst>
                    <a:ext uri="{9D8B030D-6E8A-4147-A177-3AD203B41FA5}">
                      <a16:colId xmlns:a16="http://schemas.microsoft.com/office/drawing/2014/main" val="2340641594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1193805749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2058954349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3232102763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1907847761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3872451438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3405958324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3065830122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39760192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517526"/>
                  </a:ext>
                </a:extLst>
              </a:tr>
            </a:tbl>
          </a:graphicData>
        </a:graphic>
      </p:graphicFrame>
      <p:graphicFrame>
        <p:nvGraphicFramePr>
          <p:cNvPr id="58" name="Table 57"/>
          <p:cNvGraphicFramePr>
            <a:graphicFrameLocks noGrp="1"/>
          </p:cNvGraphicFramePr>
          <p:nvPr/>
        </p:nvGraphicFramePr>
        <p:xfrm>
          <a:off x="5560080" y="6802080"/>
          <a:ext cx="6455781" cy="487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7309">
                  <a:extLst>
                    <a:ext uri="{9D8B030D-6E8A-4147-A177-3AD203B41FA5}">
                      <a16:colId xmlns:a16="http://schemas.microsoft.com/office/drawing/2014/main" val="2340641594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1193805749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2058954349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3232102763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1907847761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3872451438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3405958324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3065830122"/>
                    </a:ext>
                  </a:extLst>
                </a:gridCol>
                <a:gridCol w="717309">
                  <a:extLst>
                    <a:ext uri="{9D8B030D-6E8A-4147-A177-3AD203B41FA5}">
                      <a16:colId xmlns:a16="http://schemas.microsoft.com/office/drawing/2014/main" val="39760192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517526"/>
                  </a:ext>
                </a:extLst>
              </a:tr>
            </a:tbl>
          </a:graphicData>
        </a:graphic>
      </p:graphicFrame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289" y="6318989"/>
            <a:ext cx="4071419" cy="309455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5784" y="7708511"/>
            <a:ext cx="3888511" cy="170502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925132" y="4408975"/>
            <a:ext cx="11937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1x1xlength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8759687" y="5883309"/>
            <a:ext cx="0" cy="6632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50471" y="144683"/>
            <a:ext cx="204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YOLOv2</a:t>
            </a:r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150470" y="656028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YOLOv2 Architecture [</a:t>
            </a:r>
            <a:r>
              <a:rPr lang="en-US" sz="2000">
                <a:hlinkClick r:id="rId8"/>
              </a:rPr>
              <a:t>Link</a:t>
            </a:r>
            <a:r>
              <a:rPr lang="en-US" sz="2000"/>
              <a:t>]</a:t>
            </a: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15261143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0471" y="144683"/>
            <a:ext cx="204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YOLOv3</a:t>
            </a:r>
            <a:endParaRPr lang="en-US"/>
          </a:p>
        </p:txBody>
      </p:sp>
      <p:pic>
        <p:nvPicPr>
          <p:cNvPr id="4098" name="Picture 2" descr="Image for pos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644" y="1049621"/>
            <a:ext cx="12293410" cy="6835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50469" y="656028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YOLOv3 Architecture [</a:t>
            </a:r>
            <a:r>
              <a:rPr lang="en-US" sz="2000">
                <a:hlinkClick r:id="rId4"/>
              </a:rPr>
              <a:t>Link</a:t>
            </a:r>
            <a:r>
              <a:rPr lang="en-US" sz="2000"/>
              <a:t>]</a:t>
            </a: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20273539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Image for pos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0898" y="1327918"/>
            <a:ext cx="5715000" cy="7800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50471" y="144683"/>
            <a:ext cx="204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YOLOv3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50469" y="656028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YOLOv3 Architecture [</a:t>
            </a:r>
            <a:r>
              <a:rPr lang="en-US" sz="2000">
                <a:hlinkClick r:id="rId4"/>
              </a:rPr>
              <a:t>Link</a:t>
            </a:r>
            <a:r>
              <a:rPr lang="en-US" sz="2000"/>
              <a:t>]</a:t>
            </a: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38133575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0471" y="144683"/>
            <a:ext cx="204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YOLOv3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50469" y="656028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YOLOv3 Architecture [</a:t>
            </a:r>
            <a:r>
              <a:rPr lang="en-US" sz="2000">
                <a:hlinkClick r:id="rId3"/>
              </a:rPr>
              <a:t>Link</a:t>
            </a:r>
            <a:r>
              <a:rPr lang="en-US" sz="2000"/>
              <a:t>]</a:t>
            </a:r>
            <a:endParaRPr lang="en-US" sz="2000" b="1"/>
          </a:p>
        </p:txBody>
      </p:sp>
      <p:pic>
        <p:nvPicPr>
          <p:cNvPr id="1026" name="Picture 2" descr="Tutorial on implementing YOLO v3 from scratch in PyTorch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76" t="72401" r="33777"/>
          <a:stretch/>
        </p:blipFill>
        <p:spPr bwMode="auto">
          <a:xfrm>
            <a:off x="7712718" y="7610745"/>
            <a:ext cx="1854869" cy="180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Tutorial on implementing YOLO v3 from scratch in PyTorch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06" t="8400" r="34347" b="64001"/>
          <a:stretch/>
        </p:blipFill>
        <p:spPr bwMode="auto">
          <a:xfrm>
            <a:off x="7712718" y="720466"/>
            <a:ext cx="1854869" cy="180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utorial on implementing YOLO v3 from scratch in PyTorch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26"/>
          <a:stretch/>
        </p:blipFill>
        <p:spPr bwMode="auto">
          <a:xfrm>
            <a:off x="2962108" y="2102424"/>
            <a:ext cx="4248150" cy="6139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50468" y="1056138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3 Scales???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H="1" flipV="1">
            <a:off x="6745184" y="1624326"/>
            <a:ext cx="2" cy="95676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6745184" y="7552704"/>
            <a:ext cx="0" cy="96190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807779" y="1424271"/>
            <a:ext cx="1454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</a:rPr>
              <a:t>7x7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07779" y="8314550"/>
            <a:ext cx="1454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</a:rPr>
              <a:t>104x104</a:t>
            </a:r>
          </a:p>
        </p:txBody>
      </p:sp>
    </p:spTree>
    <p:extLst>
      <p:ext uri="{BB962C8B-B14F-4D97-AF65-F5344CB8AC3E}">
        <p14:creationId xmlns:p14="http://schemas.microsoft.com/office/powerpoint/2010/main" val="5694546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0471" y="144683"/>
            <a:ext cx="204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YOLOv3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50469" y="656028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YOLOv3 Architecture [</a:t>
            </a:r>
            <a:r>
              <a:rPr lang="en-US" sz="2000">
                <a:hlinkClick r:id="rId3"/>
              </a:rPr>
              <a:t>Link</a:t>
            </a:r>
            <a:r>
              <a:rPr lang="en-US" sz="2000"/>
              <a:t>]</a:t>
            </a:r>
            <a:endParaRPr lang="en-US" sz="2000" b="1"/>
          </a:p>
        </p:txBody>
      </p:sp>
      <p:sp>
        <p:nvSpPr>
          <p:cNvPr id="8" name="TextBox 7"/>
          <p:cNvSpPr txBox="1"/>
          <p:nvPr/>
        </p:nvSpPr>
        <p:spPr>
          <a:xfrm>
            <a:off x="150468" y="1056138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3 Scales???</a:t>
            </a:r>
          </a:p>
        </p:txBody>
      </p:sp>
      <p:pic>
        <p:nvPicPr>
          <p:cNvPr id="12" name="Picture 2" descr="Tutorial on implementing YOLO v3 from scratch in PyTorch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06" t="8400" r="34347" b="64001"/>
          <a:stretch/>
        </p:blipFill>
        <p:spPr bwMode="auto">
          <a:xfrm>
            <a:off x="1442546" y="1886092"/>
            <a:ext cx="1854869" cy="180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3537607" y="2589897"/>
            <a:ext cx="1454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</a:rPr>
              <a:t>7x7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2489" y="2135472"/>
            <a:ext cx="5716570" cy="353467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2490" y="6197328"/>
            <a:ext cx="5716570" cy="215648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12489" y="6127667"/>
            <a:ext cx="5716570" cy="11875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5612489" y="1671826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YOLOv2 </a:t>
            </a:r>
            <a:r>
              <a:rPr lang="en-US" sz="2000">
                <a:hlinkClick r:id="rId7"/>
              </a:rPr>
              <a:t>Paper</a:t>
            </a:r>
            <a:r>
              <a:rPr lang="en-US" sz="2000"/>
              <a:t>:</a:t>
            </a:r>
            <a:endParaRPr lang="en-US" sz="2000" b="1"/>
          </a:p>
        </p:txBody>
      </p:sp>
      <p:sp>
        <p:nvSpPr>
          <p:cNvPr id="21" name="Rectangle 20"/>
          <p:cNvSpPr/>
          <p:nvPr/>
        </p:nvSpPr>
        <p:spPr>
          <a:xfrm>
            <a:off x="5612489" y="3216232"/>
            <a:ext cx="5716570" cy="16288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6283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Tutorial on implementing YOLO v3 from scratch in PyTorch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76" t="72401" r="33777"/>
          <a:stretch/>
        </p:blipFill>
        <p:spPr bwMode="auto">
          <a:xfrm>
            <a:off x="1442546" y="1886092"/>
            <a:ext cx="1854869" cy="180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50471" y="144683"/>
            <a:ext cx="204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YOLOv3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50469" y="656028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YOLOv3 Architecture [</a:t>
            </a:r>
            <a:r>
              <a:rPr lang="en-US" sz="2000">
                <a:hlinkClick r:id="rId4"/>
              </a:rPr>
              <a:t>Link</a:t>
            </a:r>
            <a:r>
              <a:rPr lang="en-US" sz="2000"/>
              <a:t>]</a:t>
            </a:r>
            <a:endParaRPr lang="en-US" sz="2000" b="1"/>
          </a:p>
        </p:txBody>
      </p:sp>
      <p:sp>
        <p:nvSpPr>
          <p:cNvPr id="8" name="TextBox 7"/>
          <p:cNvSpPr txBox="1"/>
          <p:nvPr/>
        </p:nvSpPr>
        <p:spPr>
          <a:xfrm>
            <a:off x="150468" y="1056138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3 Scales???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7607" y="2589897"/>
            <a:ext cx="1454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</a:rPr>
              <a:t>104x104</a:t>
            </a:r>
          </a:p>
        </p:txBody>
      </p:sp>
      <p:sp>
        <p:nvSpPr>
          <p:cNvPr id="3" name="Rectangle 2"/>
          <p:cNvSpPr/>
          <p:nvPr/>
        </p:nvSpPr>
        <p:spPr>
          <a:xfrm>
            <a:off x="606729" y="4523766"/>
            <a:ext cx="380072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Scale 1:  [116,90]  [156,198]  [373,326]</a:t>
            </a:r>
          </a:p>
          <a:p>
            <a:r>
              <a:rPr lang="en-US"/>
              <a:t>Scale 2:  [30,61]  [62,45]  [59,119]</a:t>
            </a:r>
          </a:p>
          <a:p>
            <a:r>
              <a:rPr lang="en-US"/>
              <a:t>Scale 3:  </a:t>
            </a:r>
            <a:r>
              <a:rPr lang="en-US">
                <a:solidFill>
                  <a:srgbClr val="FF0000"/>
                </a:solidFill>
              </a:rPr>
              <a:t>[10,13]  </a:t>
            </a:r>
            <a:r>
              <a:rPr lang="en-US"/>
              <a:t>[16,30]  [33,23] </a:t>
            </a:r>
          </a:p>
        </p:txBody>
      </p:sp>
      <p:pic>
        <p:nvPicPr>
          <p:cNvPr id="16" name="Picture 2" descr="Image for post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5600" y="1456248"/>
            <a:ext cx="7260363" cy="4036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345393" y="4123656"/>
            <a:ext cx="23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/>
              <a:t>Anchor Sizes</a:t>
            </a:r>
          </a:p>
        </p:txBody>
      </p:sp>
    </p:spTree>
    <p:extLst>
      <p:ext uri="{BB962C8B-B14F-4D97-AF65-F5344CB8AC3E}">
        <p14:creationId xmlns:p14="http://schemas.microsoft.com/office/powerpoint/2010/main" val="1241379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Tutorial on implementing YOLO v3 from scratch in PyTorch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76" t="72401" r="33777"/>
          <a:stretch/>
        </p:blipFill>
        <p:spPr bwMode="auto">
          <a:xfrm>
            <a:off x="1442546" y="1886092"/>
            <a:ext cx="1854869" cy="180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50471" y="144683"/>
            <a:ext cx="2048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YOLOv3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50469" y="656028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YOLOv3 Architecture [</a:t>
            </a:r>
            <a:r>
              <a:rPr lang="en-US" sz="2000">
                <a:hlinkClick r:id="rId4"/>
              </a:rPr>
              <a:t>Link</a:t>
            </a:r>
            <a:r>
              <a:rPr lang="en-US" sz="2000"/>
              <a:t>]</a:t>
            </a:r>
            <a:endParaRPr lang="en-US" sz="2000" b="1"/>
          </a:p>
        </p:txBody>
      </p:sp>
      <p:sp>
        <p:nvSpPr>
          <p:cNvPr id="8" name="TextBox 7"/>
          <p:cNvSpPr txBox="1"/>
          <p:nvPr/>
        </p:nvSpPr>
        <p:spPr>
          <a:xfrm>
            <a:off x="150468" y="1056138"/>
            <a:ext cx="3953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3 Scales???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7607" y="2589897"/>
            <a:ext cx="1454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</a:rPr>
              <a:t>104x104</a:t>
            </a:r>
          </a:p>
        </p:txBody>
      </p:sp>
      <p:sp>
        <p:nvSpPr>
          <p:cNvPr id="3" name="Rectangle 2"/>
          <p:cNvSpPr/>
          <p:nvPr/>
        </p:nvSpPr>
        <p:spPr>
          <a:xfrm>
            <a:off x="606729" y="4523766"/>
            <a:ext cx="380072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Scale 1:  [116,90]  [156,198]  [373,326]</a:t>
            </a:r>
          </a:p>
          <a:p>
            <a:r>
              <a:rPr lang="en-US"/>
              <a:t>Scale 2:  [30,61]  [62,45]  [59,119]</a:t>
            </a:r>
          </a:p>
          <a:p>
            <a:r>
              <a:rPr lang="en-US"/>
              <a:t>Scale 3:  </a:t>
            </a:r>
            <a:r>
              <a:rPr lang="en-US">
                <a:solidFill>
                  <a:srgbClr val="FF0000"/>
                </a:solidFill>
              </a:rPr>
              <a:t>[10,13]  </a:t>
            </a:r>
            <a:r>
              <a:rPr lang="en-US"/>
              <a:t>[16,30]  [33,23] </a:t>
            </a:r>
          </a:p>
        </p:txBody>
      </p:sp>
      <p:pic>
        <p:nvPicPr>
          <p:cNvPr id="16" name="Picture 2" descr="Image for post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5600" y="1456248"/>
            <a:ext cx="7260363" cy="4036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345393" y="4123656"/>
            <a:ext cx="2323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/>
              <a:t>Anchor Sizes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221" y="6057525"/>
            <a:ext cx="2641736" cy="262268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014005" y="5688193"/>
            <a:ext cx="9861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/>
              <a:t>416x416</a:t>
            </a:r>
          </a:p>
        </p:txBody>
      </p:sp>
    </p:spTree>
    <p:extLst>
      <p:ext uri="{BB962C8B-B14F-4D97-AF65-F5344CB8AC3E}">
        <p14:creationId xmlns:p14="http://schemas.microsoft.com/office/powerpoint/2010/main" val="5416100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85863" y="4236333"/>
            <a:ext cx="47861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86577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2087</TotalTime>
  <Words>783</Words>
  <Application>Microsoft Office PowerPoint</Application>
  <PresentationFormat>Custom</PresentationFormat>
  <Paragraphs>432</Paragraphs>
  <Slides>37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Tran Le Anh</cp:lastModifiedBy>
  <cp:revision>86</cp:revision>
  <cp:lastPrinted>2020-08-23T06:34:07Z</cp:lastPrinted>
  <dcterms:created xsi:type="dcterms:W3CDTF">2020-08-21T13:08:59Z</dcterms:created>
  <dcterms:modified xsi:type="dcterms:W3CDTF">2025-05-04T18:33:06Z</dcterms:modified>
</cp:coreProperties>
</file>