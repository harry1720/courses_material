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7"/>
  </p:notesMasterIdLst>
  <p:sldIdLst>
    <p:sldId id="261" r:id="rId2"/>
    <p:sldId id="331" r:id="rId3"/>
    <p:sldId id="1873" r:id="rId4"/>
    <p:sldId id="1871" r:id="rId5"/>
    <p:sldId id="1872" r:id="rId6"/>
    <p:sldId id="1874" r:id="rId7"/>
    <p:sldId id="1875" r:id="rId8"/>
    <p:sldId id="1870" r:id="rId9"/>
    <p:sldId id="1877" r:id="rId10"/>
    <p:sldId id="1878" r:id="rId11"/>
    <p:sldId id="1858" r:id="rId12"/>
    <p:sldId id="1879" r:id="rId13"/>
    <p:sldId id="1876" r:id="rId14"/>
    <p:sldId id="1804" r:id="rId15"/>
    <p:sldId id="267" r:id="rId16"/>
  </p:sldIdLst>
  <p:sldSz cx="12192000" cy="6858000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" initials="a" lastIdx="2" clrIdx="0">
    <p:extLst>
      <p:ext uri="{19B8F6BF-5375-455C-9EA6-DF929625EA0E}">
        <p15:presenceInfo xmlns:p15="http://schemas.microsoft.com/office/powerpoint/2012/main" userId="admin" providerId="None"/>
      </p:ext>
    </p:extLst>
  </p:cmAuthor>
  <p:cmAuthor id="2" name="Tran Le Anh" initials="TLA" lastIdx="3" clrIdx="1">
    <p:extLst>
      <p:ext uri="{19B8F6BF-5375-455C-9EA6-DF929625EA0E}">
        <p15:presenceInfo xmlns:p15="http://schemas.microsoft.com/office/powerpoint/2012/main" userId="Tran Le Anh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A8189E"/>
    <a:srgbClr val="F0F0F0"/>
    <a:srgbClr val="F5F5F5"/>
    <a:srgbClr val="FDFDFD"/>
    <a:srgbClr val="FBFB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220" autoAdjust="0"/>
    <p:restoredTop sz="93988" autoAdjust="0"/>
  </p:normalViewPr>
  <p:slideViewPr>
    <p:cSldViewPr snapToGrid="0">
      <p:cViewPr varScale="1">
        <p:scale>
          <a:sx n="112" d="100"/>
          <a:sy n="112" d="100"/>
        </p:scale>
        <p:origin x="822" y="78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247" cy="498328"/>
          </a:xfrm>
          <a:prstGeom prst="rect">
            <a:avLst/>
          </a:prstGeom>
        </p:spPr>
        <p:txBody>
          <a:bodyPr vert="horz" lIns="92108" tIns="46054" rIns="92108" bIns="46054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9826" y="0"/>
            <a:ext cx="2946246" cy="498328"/>
          </a:xfrm>
          <a:prstGeom prst="rect">
            <a:avLst/>
          </a:prstGeom>
        </p:spPr>
        <p:txBody>
          <a:bodyPr vert="horz" lIns="92108" tIns="46054" rIns="92108" bIns="46054" rtlCol="0"/>
          <a:lstStyle>
            <a:lvl1pPr algn="r">
              <a:defRPr sz="1200"/>
            </a:lvl1pPr>
          </a:lstStyle>
          <a:p>
            <a:fld id="{73FD9801-A144-4B40-9127-0684BD7D58AB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108" tIns="46054" rIns="92108" bIns="4605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288" y="4777245"/>
            <a:ext cx="5439101" cy="3908363"/>
          </a:xfrm>
          <a:prstGeom prst="rect">
            <a:avLst/>
          </a:prstGeom>
        </p:spPr>
        <p:txBody>
          <a:bodyPr vert="horz" lIns="92108" tIns="46054" rIns="92108" bIns="4605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310"/>
            <a:ext cx="2946247" cy="498328"/>
          </a:xfrm>
          <a:prstGeom prst="rect">
            <a:avLst/>
          </a:prstGeom>
        </p:spPr>
        <p:txBody>
          <a:bodyPr vert="horz" lIns="92108" tIns="46054" rIns="92108" bIns="46054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9826" y="9428310"/>
            <a:ext cx="2946246" cy="498328"/>
          </a:xfrm>
          <a:prstGeom prst="rect">
            <a:avLst/>
          </a:prstGeom>
        </p:spPr>
        <p:txBody>
          <a:bodyPr vert="horz" lIns="92108" tIns="46054" rIns="92108" bIns="46054" rtlCol="0" anchor="b"/>
          <a:lstStyle>
            <a:lvl1pPr algn="r">
              <a:defRPr sz="1200"/>
            </a:lvl1pPr>
          </a:lstStyle>
          <a:p>
            <a:fld id="{5E947791-EB80-4ECA-83D2-BD9595BD9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632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ko-KR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FE88-591F-4A3E-B0A4-257ECE97BEAB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976AA-E383-40E1-B8E8-5B4096AD0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182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FE88-591F-4A3E-B0A4-257ECE97BEAB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976AA-E383-40E1-B8E8-5B4096AD0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465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FE88-591F-4A3E-B0A4-257ECE97BEAB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976AA-E383-40E1-B8E8-5B4096AD0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135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FE88-591F-4A3E-B0A4-257ECE97BEAB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976AA-E383-40E1-B8E8-5B4096AD0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532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FE88-591F-4A3E-B0A4-257ECE97BEAB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976AA-E383-40E1-B8E8-5B4096AD0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8539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FE88-591F-4A3E-B0A4-257ECE97BEAB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976AA-E383-40E1-B8E8-5B4096AD0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810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FE88-591F-4A3E-B0A4-257ECE97BEAB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976AA-E383-40E1-B8E8-5B4096AD0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890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FE88-591F-4A3E-B0A4-257ECE97BEAB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976AA-E383-40E1-B8E8-5B4096AD0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9592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FE88-591F-4A3E-B0A4-257ECE97BEAB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976AA-E383-40E1-B8E8-5B4096AD0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544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FE88-591F-4A3E-B0A4-257ECE97BEAB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976AA-E383-40E1-B8E8-5B4096AD0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6720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FE88-591F-4A3E-B0A4-257ECE97BEAB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976AA-E383-40E1-B8E8-5B4096AD0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1809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2BFE88-591F-4A3E-B0A4-257ECE97BEAB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2F85EF-21C5-415F-AEF3-0F51C92A13CF}"/>
              </a:ext>
            </a:extLst>
          </p:cNvPr>
          <p:cNvSpPr/>
          <p:nvPr userDrawn="1"/>
        </p:nvSpPr>
        <p:spPr>
          <a:xfrm>
            <a:off x="9877587" y="6610027"/>
            <a:ext cx="2314413" cy="24797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100" dirty="0">
                <a:solidFill>
                  <a:schemeClr val="bg1">
                    <a:lumMod val="75000"/>
                  </a:schemeClr>
                </a:solidFill>
              </a:rPr>
              <a:t>anhtl@ut.edu.vn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3A4BF7-4007-4EE9-8948-4D4E0A77C823}"/>
              </a:ext>
            </a:extLst>
          </p:cNvPr>
          <p:cNvSpPr txBox="1"/>
          <p:nvPr userDrawn="1"/>
        </p:nvSpPr>
        <p:spPr>
          <a:xfrm>
            <a:off x="4053216" y="30693"/>
            <a:ext cx="4085568" cy="2840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46" dirty="0">
                <a:solidFill>
                  <a:schemeClr val="bg1">
                    <a:lumMod val="75000"/>
                  </a:schemeClr>
                </a:solidFill>
              </a:rPr>
              <a:t>Ho Chi Minh City University of Transport</a:t>
            </a:r>
          </a:p>
        </p:txBody>
      </p:sp>
    </p:spTree>
    <p:extLst>
      <p:ext uri="{BB962C8B-B14F-4D97-AF65-F5344CB8AC3E}">
        <p14:creationId xmlns:p14="http://schemas.microsoft.com/office/powerpoint/2010/main" val="1100574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opencv.com/contour-detection-using-opencv-python-c/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hyperlink" Target="https://www.youtube.com/watch?v=oI9Qz3ri2y0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opencv.com/contour-detection-using-opencv-python-c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hyperlink" Target="https://learnopencv.com/contour-detection-using-opencv-python-c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hyperlink" Target="https://learnopencv.com/contour-detection-using-opencv-python-c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yimagesearch.com/2021/10/06/opencv-contour-approximation/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hyperlink" Target="https://en.wikipedia.org/wiki/Ramer%E2%80%93Douglas%E2%80%93Peucker_algorithm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hyperlink" Target="https://en.wikipedia.org/wiki/Active_contour_model#:~:text=Active%20contour%20model%2C%20also%20called,learnt%20from%20a%20training%20set.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rand-asswad.xyz/active-contour-models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gif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access.thecvf.com/content_cvpr_2016/papers/Yang_Object_Contour_Detection_CVPR_2016_paper.pdf" TargetMode="Externa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06040" y="2762804"/>
            <a:ext cx="8579899" cy="754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/>
              <a:t>Contour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22430" y="4487464"/>
            <a:ext cx="23471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Tran Le Anh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63905" y="30525"/>
            <a:ext cx="3064176" cy="28405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46" dirty="0"/>
              <a:t>Ho Chi Minh City University of Transport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53013" y="4856796"/>
            <a:ext cx="24859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anhtl@ut.edu.vn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30894" y="6534648"/>
            <a:ext cx="1730195" cy="2840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46" dirty="0"/>
              <a:t>04-2025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52912" y="1458669"/>
            <a:ext cx="46861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Image Processing and Computer Vision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0714413" y="6534648"/>
            <a:ext cx="1454727" cy="315884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C10F536-84A9-F63C-9FC0-C898AC1A1BA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1141" y="61725"/>
            <a:ext cx="2252164" cy="505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25417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A89B116-55C3-657B-AF0B-0849FBE9CC15}"/>
              </a:ext>
            </a:extLst>
          </p:cNvPr>
          <p:cNvSpPr txBox="1"/>
          <p:nvPr/>
        </p:nvSpPr>
        <p:spPr>
          <a:xfrm>
            <a:off x="3099381" y="2505795"/>
            <a:ext cx="4872669" cy="506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/>
              <a:t>Contour Detection</a:t>
            </a:r>
          </a:p>
        </p:txBody>
      </p:sp>
    </p:spTree>
    <p:extLst>
      <p:ext uri="{BB962C8B-B14F-4D97-AF65-F5344CB8AC3E}">
        <p14:creationId xmlns:p14="http://schemas.microsoft.com/office/powerpoint/2010/main" val="18771931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DDCEA2-1A3C-DE79-FFDC-1601BC935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ontour Detection using OpenCV (Python/C++)">
            <a:extLst>
              <a:ext uri="{FF2B5EF4-FFF2-40B4-BE49-F238E27FC236}">
                <a16:creationId xmlns:a16="http://schemas.microsoft.com/office/drawing/2014/main" id="{12903251-29F5-0AC5-8D2E-B144EEBB77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9608" y="2500669"/>
            <a:ext cx="6992784" cy="3933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A3018C7-833D-5B8E-8410-93C1E9273772}"/>
              </a:ext>
            </a:extLst>
          </p:cNvPr>
          <p:cNvSpPr txBox="1"/>
          <p:nvPr/>
        </p:nvSpPr>
        <p:spPr>
          <a:xfrm>
            <a:off x="191115" y="931008"/>
            <a:ext cx="4279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i="1" dirty="0"/>
              <a:t>Concept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64F9BC-B97C-6790-EC1A-1A7123640F25}"/>
              </a:ext>
            </a:extLst>
          </p:cNvPr>
          <p:cNvSpPr txBox="1"/>
          <p:nvPr/>
        </p:nvSpPr>
        <p:spPr>
          <a:xfrm>
            <a:off x="109348" y="407788"/>
            <a:ext cx="38483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Contour Detection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3F9E593-44EC-18ED-A908-2DFBF68AC14B}"/>
              </a:ext>
            </a:extLst>
          </p:cNvPr>
          <p:cNvSpPr txBox="1"/>
          <p:nvPr/>
        </p:nvSpPr>
        <p:spPr>
          <a:xfrm>
            <a:off x="191115" y="1392673"/>
            <a:ext cx="118097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A contour refers to all the points on the boundary of an object that have the same color and intensity.</a:t>
            </a:r>
            <a:endParaRPr lang="en-US" altLang="ko-KR" sz="2000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5DD7E5-D11E-C852-9B38-E66392089936}"/>
              </a:ext>
            </a:extLst>
          </p:cNvPr>
          <p:cNvSpPr txBox="1"/>
          <p:nvPr/>
        </p:nvSpPr>
        <p:spPr>
          <a:xfrm>
            <a:off x="191115" y="1792783"/>
            <a:ext cx="118097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Contour detection refers to methods for extracting and tracking the borders of objects, which is often the first step for image-foreground extraction, image segmentation, detection and recognition, etc.</a:t>
            </a:r>
            <a:endParaRPr lang="en-US" altLang="ko-KR" sz="2000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8BDF59-2EE2-9760-3F17-7D7A42AD6981}"/>
              </a:ext>
            </a:extLst>
          </p:cNvPr>
          <p:cNvSpPr txBox="1"/>
          <p:nvPr/>
        </p:nvSpPr>
        <p:spPr>
          <a:xfrm>
            <a:off x="34184" y="6493808"/>
            <a:ext cx="101134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1600" dirty="0"/>
              <a:t>Ref: </a:t>
            </a:r>
            <a:r>
              <a:rPr lang="en-US" altLang="ko-KR" sz="1600" dirty="0">
                <a:hlinkClick r:id="rId3"/>
              </a:rPr>
              <a:t>https://learnopencv.com/contour-detection-using-opencv-python-c/</a:t>
            </a:r>
            <a:r>
              <a:rPr lang="en-US" altLang="ko-KR" sz="1600" dirty="0"/>
              <a:t> </a:t>
            </a:r>
            <a:endParaRPr lang="en-US" altLang="ko-KR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45342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848852-3CC6-1C3C-8A6F-55A92BF53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9914691F-470B-1194-598C-4D9747539528}"/>
              </a:ext>
            </a:extLst>
          </p:cNvPr>
          <p:cNvSpPr txBox="1"/>
          <p:nvPr/>
        </p:nvSpPr>
        <p:spPr>
          <a:xfrm>
            <a:off x="191115" y="931008"/>
            <a:ext cx="4279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i="1" dirty="0"/>
              <a:t>Edge vs Contour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077E23-6924-089B-5AC5-F76D9E8BDF5B}"/>
              </a:ext>
            </a:extLst>
          </p:cNvPr>
          <p:cNvSpPr txBox="1"/>
          <p:nvPr/>
        </p:nvSpPr>
        <p:spPr>
          <a:xfrm>
            <a:off x="109348" y="407788"/>
            <a:ext cx="38483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Contour Detection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B8BAF3C-714B-C558-873B-C881AB913288}"/>
              </a:ext>
            </a:extLst>
          </p:cNvPr>
          <p:cNvSpPr txBox="1"/>
          <p:nvPr/>
        </p:nvSpPr>
        <p:spPr>
          <a:xfrm>
            <a:off x="191115" y="1392673"/>
            <a:ext cx="118097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Edge detection focuses on finding points where there are sharp changes in intensity within an image.</a:t>
            </a:r>
            <a:endParaRPr lang="en-US" altLang="ko-KR" sz="2000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6CF487-B09E-AA6C-3D3A-BE59B260D9FC}"/>
              </a:ext>
            </a:extLst>
          </p:cNvPr>
          <p:cNvSpPr txBox="1"/>
          <p:nvPr/>
        </p:nvSpPr>
        <p:spPr>
          <a:xfrm>
            <a:off x="34184" y="6493808"/>
            <a:ext cx="101134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1600" dirty="0"/>
              <a:t>Ref: </a:t>
            </a:r>
            <a:r>
              <a:rPr lang="en-US" altLang="ko-KR" sz="1600" dirty="0">
                <a:hlinkClick r:id="rId2"/>
              </a:rPr>
              <a:t>https://www.youtube.com/watch?v=oI9Qz3ri2y0</a:t>
            </a:r>
            <a:r>
              <a:rPr lang="en-US" altLang="ko-KR" sz="1600" dirty="0"/>
              <a:t> </a:t>
            </a:r>
            <a:endParaRPr lang="en-US" altLang="ko-KR" sz="1600" dirty="0">
              <a:solidFill>
                <a:srgbClr val="FF0000"/>
              </a:solidFill>
            </a:endParaRPr>
          </a:p>
        </p:txBody>
      </p:sp>
      <p:pic>
        <p:nvPicPr>
          <p:cNvPr id="1028" name="Picture 4" descr="Introduction to Edge Detection and Contour Detection of an Object - YouTube">
            <a:extLst>
              <a:ext uri="{FF2B5EF4-FFF2-40B4-BE49-F238E27FC236}">
                <a16:creationId xmlns:a16="http://schemas.microsoft.com/office/drawing/2014/main" id="{28D038FB-B583-09E9-BC07-E277CBCAAF3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781" b="20944"/>
          <a:stretch/>
        </p:blipFill>
        <p:spPr bwMode="auto">
          <a:xfrm>
            <a:off x="2051621" y="2371765"/>
            <a:ext cx="8095989" cy="3963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9D02412-320D-F884-9C3B-306964FD44E8}"/>
              </a:ext>
            </a:extLst>
          </p:cNvPr>
          <p:cNvSpPr txBox="1"/>
          <p:nvPr/>
        </p:nvSpPr>
        <p:spPr>
          <a:xfrm>
            <a:off x="191115" y="1790836"/>
            <a:ext cx="118097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Contour detection aims to identify closed curves or shapes, essentially outlining the boundaries of objects.</a:t>
            </a:r>
            <a:endParaRPr lang="en-US" altLang="ko-KR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75379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F668A-7918-D237-4286-AE3D8A3A9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28F57B63-6E7C-00CB-9C4B-63DB47888687}"/>
              </a:ext>
            </a:extLst>
          </p:cNvPr>
          <p:cNvSpPr txBox="1"/>
          <p:nvPr/>
        </p:nvSpPr>
        <p:spPr>
          <a:xfrm>
            <a:off x="191115" y="931008"/>
            <a:ext cx="4279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i="1" dirty="0"/>
              <a:t>Applications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31CC3A-D9A9-0DAC-F48F-3D01E2B1648B}"/>
              </a:ext>
            </a:extLst>
          </p:cNvPr>
          <p:cNvSpPr txBox="1"/>
          <p:nvPr/>
        </p:nvSpPr>
        <p:spPr>
          <a:xfrm>
            <a:off x="109348" y="407788"/>
            <a:ext cx="38483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Contour Detection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EC2128E-7032-364C-348F-7BE0C134BF05}"/>
              </a:ext>
            </a:extLst>
          </p:cNvPr>
          <p:cNvSpPr txBox="1"/>
          <p:nvPr/>
        </p:nvSpPr>
        <p:spPr>
          <a:xfrm>
            <a:off x="191115" y="1392673"/>
            <a:ext cx="118097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Motion Detection</a:t>
            </a:r>
            <a:endParaRPr lang="en-US" altLang="ko-KR" sz="2000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7AF8F7-283D-4901-6202-92545DE98A84}"/>
              </a:ext>
            </a:extLst>
          </p:cNvPr>
          <p:cNvSpPr txBox="1"/>
          <p:nvPr/>
        </p:nvSpPr>
        <p:spPr>
          <a:xfrm>
            <a:off x="191115" y="1792783"/>
            <a:ext cx="118097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</a:t>
            </a:r>
            <a:r>
              <a:rPr lang="en-US" sz="2000" dirty="0"/>
              <a:t>Background/Foreground Segmentation</a:t>
            </a:r>
            <a:endParaRPr lang="en-US" altLang="ko-KR" sz="2000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838564-2AFA-1EDD-D718-510C7CCF093D}"/>
              </a:ext>
            </a:extLst>
          </p:cNvPr>
          <p:cNvSpPr txBox="1"/>
          <p:nvPr/>
        </p:nvSpPr>
        <p:spPr>
          <a:xfrm>
            <a:off x="34184" y="6493808"/>
            <a:ext cx="101134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1600" dirty="0"/>
              <a:t>Ref: </a:t>
            </a:r>
            <a:r>
              <a:rPr lang="en-US" altLang="ko-KR" sz="1600" dirty="0">
                <a:hlinkClick r:id="rId2"/>
              </a:rPr>
              <a:t>https://learnopencv.com/contour-detection-using-opencv-python-c/</a:t>
            </a:r>
            <a:r>
              <a:rPr lang="en-US" altLang="ko-KR" sz="1600" dirty="0"/>
              <a:t> </a:t>
            </a:r>
            <a:endParaRPr lang="en-US" altLang="ko-KR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72467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F96F9D-41B5-1062-27AF-23E869CCE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7A0CD04-A076-0A7D-7272-C61140E9A495}"/>
              </a:ext>
            </a:extLst>
          </p:cNvPr>
          <p:cNvSpPr txBox="1"/>
          <p:nvPr/>
        </p:nvSpPr>
        <p:spPr>
          <a:xfrm>
            <a:off x="191115" y="931008"/>
            <a:ext cx="4279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i="1" dirty="0"/>
              <a:t>Motion Detection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626B1A-C5E1-DD75-4C4A-43E658CCFEE0}"/>
              </a:ext>
            </a:extLst>
          </p:cNvPr>
          <p:cNvSpPr txBox="1"/>
          <p:nvPr/>
        </p:nvSpPr>
        <p:spPr>
          <a:xfrm>
            <a:off x="109348" y="407788"/>
            <a:ext cx="38483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Contour Detection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68CC85A-F2AB-28DE-1CC1-C79BCC63AC1B}"/>
              </a:ext>
            </a:extLst>
          </p:cNvPr>
          <p:cNvSpPr txBox="1"/>
          <p:nvPr/>
        </p:nvSpPr>
        <p:spPr>
          <a:xfrm>
            <a:off x="191115" y="1392673"/>
            <a:ext cx="118097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To detect the movement of people in a video stream, which is useful in surveillance applications.</a:t>
            </a:r>
            <a:endParaRPr lang="en-US" altLang="ko-KR" sz="2000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C47F5E-1E2A-E11D-E701-E47F293A8602}"/>
              </a:ext>
            </a:extLst>
          </p:cNvPr>
          <p:cNvSpPr txBox="1"/>
          <p:nvPr/>
        </p:nvSpPr>
        <p:spPr>
          <a:xfrm>
            <a:off x="34184" y="6493808"/>
            <a:ext cx="101134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1600" dirty="0"/>
              <a:t>Ref: </a:t>
            </a:r>
            <a:r>
              <a:rPr lang="en-US" altLang="ko-KR" sz="1600" dirty="0">
                <a:hlinkClick r:id="rId2"/>
              </a:rPr>
              <a:t>https://learnopencv.com/contour-detection-using-opencv-python-c/</a:t>
            </a:r>
            <a:r>
              <a:rPr lang="en-US" altLang="ko-KR" sz="1600" dirty="0"/>
              <a:t> </a:t>
            </a:r>
            <a:endParaRPr lang="en-US" altLang="ko-KR" sz="1600" dirty="0">
              <a:solidFill>
                <a:srgbClr val="FF0000"/>
              </a:solidFill>
            </a:endParaRPr>
          </a:p>
        </p:txBody>
      </p:sp>
      <p:pic>
        <p:nvPicPr>
          <p:cNvPr id="1026" name="Picture 2" descr="Application of contour detection using OpenCV. Moving object (person) detection using contour detection.">
            <a:extLst>
              <a:ext uri="{FF2B5EF4-FFF2-40B4-BE49-F238E27FC236}">
                <a16:creationId xmlns:a16="http://schemas.microsoft.com/office/drawing/2014/main" id="{3D985E28-8C0F-BBA7-F3BF-2BAE54EE60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377" y="2704964"/>
            <a:ext cx="5414226" cy="3052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F987AED-7C4E-AD2B-F7A8-EAF4EDDEA260}"/>
              </a:ext>
            </a:extLst>
          </p:cNvPr>
          <p:cNvSpPr txBox="1"/>
          <p:nvPr/>
        </p:nvSpPr>
        <p:spPr>
          <a:xfrm>
            <a:off x="191115" y="1792783"/>
            <a:ext cx="118097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Note that objects standing still are not detected, only those in motion are captured.</a:t>
            </a:r>
            <a:endParaRPr lang="en-US" altLang="ko-KR" sz="2000" dirty="0">
              <a:solidFill>
                <a:srgbClr val="FF000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E183321-86F1-9E1E-9BE9-9C08F3F215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1399" y="2704964"/>
            <a:ext cx="5414225" cy="3046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5945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1E3F0-A6F2-1620-7582-6E0F9042D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94C39EE-C215-184E-65A7-D2506DF3EA7B}"/>
              </a:ext>
            </a:extLst>
          </p:cNvPr>
          <p:cNvSpPr txBox="1"/>
          <p:nvPr/>
        </p:nvSpPr>
        <p:spPr>
          <a:xfrm>
            <a:off x="191115" y="931008"/>
            <a:ext cx="69360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i="1" dirty="0"/>
              <a:t>Background/Foreground Segmentation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463FC8-D23E-6723-8CAF-E4A3AB7417B7}"/>
              </a:ext>
            </a:extLst>
          </p:cNvPr>
          <p:cNvSpPr txBox="1"/>
          <p:nvPr/>
        </p:nvSpPr>
        <p:spPr>
          <a:xfrm>
            <a:off x="109348" y="407788"/>
            <a:ext cx="38483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Contour Detection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03F307E-C8F7-AC6C-8FBD-B0D7428253E0}"/>
              </a:ext>
            </a:extLst>
          </p:cNvPr>
          <p:cNvSpPr txBox="1"/>
          <p:nvPr/>
        </p:nvSpPr>
        <p:spPr>
          <a:xfrm>
            <a:off x="191115" y="1392673"/>
            <a:ext cx="118097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To replace the background of an image with another (similar to image segmentation).</a:t>
            </a:r>
            <a:endParaRPr lang="en-US" altLang="ko-KR" sz="2000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A69552-9B63-AC57-8F51-8122FC3ECEE9}"/>
              </a:ext>
            </a:extLst>
          </p:cNvPr>
          <p:cNvSpPr txBox="1"/>
          <p:nvPr/>
        </p:nvSpPr>
        <p:spPr>
          <a:xfrm>
            <a:off x="34184" y="6493808"/>
            <a:ext cx="101134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1600" dirty="0"/>
              <a:t>Ref: </a:t>
            </a:r>
            <a:r>
              <a:rPr lang="en-US" altLang="ko-KR" sz="1600" dirty="0">
                <a:hlinkClick r:id="rId2"/>
              </a:rPr>
              <a:t>https://learnopencv.com/contour-detection-using-opencv-python-c/</a:t>
            </a:r>
            <a:r>
              <a:rPr lang="en-US" altLang="ko-KR" sz="1600" dirty="0"/>
              <a:t> </a:t>
            </a:r>
            <a:endParaRPr lang="en-US" altLang="ko-KR" sz="1600" dirty="0">
              <a:solidFill>
                <a:srgbClr val="FF0000"/>
              </a:solidFill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1843737C-DBC2-DB3B-BB53-13AD53594F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383" y="2430732"/>
            <a:ext cx="4683343" cy="3274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Background Changer: Change Photo Background Online Free">
            <a:extLst>
              <a:ext uri="{FF2B5EF4-FFF2-40B4-BE49-F238E27FC236}">
                <a16:creationId xmlns:a16="http://schemas.microsoft.com/office/drawing/2014/main" id="{A5910D69-7877-FB40-A769-E58A246ED2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0917" y="2042445"/>
            <a:ext cx="6076880" cy="4051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02479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F668A-7918-D237-4286-AE3D8A3A9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28F57B63-6E7C-00CB-9C4B-63DB47888687}"/>
              </a:ext>
            </a:extLst>
          </p:cNvPr>
          <p:cNvSpPr txBox="1"/>
          <p:nvPr/>
        </p:nvSpPr>
        <p:spPr>
          <a:xfrm>
            <a:off x="191115" y="931008"/>
            <a:ext cx="4279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i="1" dirty="0"/>
              <a:t>Techniques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31CC3A-D9A9-0DAC-F48F-3D01E2B1648B}"/>
              </a:ext>
            </a:extLst>
          </p:cNvPr>
          <p:cNvSpPr txBox="1"/>
          <p:nvPr/>
        </p:nvSpPr>
        <p:spPr>
          <a:xfrm>
            <a:off x="109348" y="407788"/>
            <a:ext cx="38483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Contour Detection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EC2128E-7032-364C-348F-7BE0C134BF05}"/>
              </a:ext>
            </a:extLst>
          </p:cNvPr>
          <p:cNvSpPr txBox="1"/>
          <p:nvPr/>
        </p:nvSpPr>
        <p:spPr>
          <a:xfrm>
            <a:off x="191115" y="1392673"/>
            <a:ext cx="118097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Contour Approximation</a:t>
            </a:r>
            <a:endParaRPr lang="en-US" altLang="ko-KR" sz="2000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7AF8F7-283D-4901-6202-92545DE98A84}"/>
              </a:ext>
            </a:extLst>
          </p:cNvPr>
          <p:cNvSpPr txBox="1"/>
          <p:nvPr/>
        </p:nvSpPr>
        <p:spPr>
          <a:xfrm>
            <a:off x="191115" y="1792783"/>
            <a:ext cx="118097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</a:t>
            </a:r>
            <a:r>
              <a:rPr lang="en-US" sz="2000" dirty="0"/>
              <a:t>Active Contour Model</a:t>
            </a:r>
            <a:endParaRPr lang="en-US" altLang="ko-KR" sz="2000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1A438C-0C02-ABB4-E065-FCA41E185D04}"/>
              </a:ext>
            </a:extLst>
          </p:cNvPr>
          <p:cNvSpPr txBox="1"/>
          <p:nvPr/>
        </p:nvSpPr>
        <p:spPr>
          <a:xfrm>
            <a:off x="191115" y="2192893"/>
            <a:ext cx="118097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</a:t>
            </a:r>
            <a:r>
              <a:rPr lang="en-US" sz="2000" dirty="0"/>
              <a:t>Deep Learning</a:t>
            </a:r>
          </a:p>
        </p:txBody>
      </p:sp>
    </p:spTree>
    <p:extLst>
      <p:ext uri="{BB962C8B-B14F-4D97-AF65-F5344CB8AC3E}">
        <p14:creationId xmlns:p14="http://schemas.microsoft.com/office/powerpoint/2010/main" val="6203982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176197-241E-E7BA-EB34-D92A7C0BE5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58311BC-CD90-7EE8-D2FD-C34F96A85229}"/>
              </a:ext>
            </a:extLst>
          </p:cNvPr>
          <p:cNvSpPr txBox="1"/>
          <p:nvPr/>
        </p:nvSpPr>
        <p:spPr>
          <a:xfrm>
            <a:off x="191115" y="931008"/>
            <a:ext cx="4279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i="1" dirty="0"/>
              <a:t>Contour Approximation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D6DEA2-9F21-E65B-08E7-DB88506C5E74}"/>
              </a:ext>
            </a:extLst>
          </p:cNvPr>
          <p:cNvSpPr txBox="1"/>
          <p:nvPr/>
        </p:nvSpPr>
        <p:spPr>
          <a:xfrm>
            <a:off x="109348" y="407788"/>
            <a:ext cx="38483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Contour Detection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DCCFE7-3D41-2AFC-E6DA-B9EE2E084192}"/>
              </a:ext>
            </a:extLst>
          </p:cNvPr>
          <p:cNvSpPr txBox="1"/>
          <p:nvPr/>
        </p:nvSpPr>
        <p:spPr>
          <a:xfrm>
            <a:off x="191115" y="1392673"/>
            <a:ext cx="118097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Contour approximation, which uses the Ramer–Douglas–</a:t>
            </a:r>
            <a:r>
              <a:rPr lang="en-US" altLang="ko-KR" sz="2000" dirty="0" err="1"/>
              <a:t>Peucker</a:t>
            </a:r>
            <a:r>
              <a:rPr lang="en-US" altLang="ko-KR" sz="2000" dirty="0"/>
              <a:t> (RDP) algorithm, aims to simplify a polyline by reducing its vertices given a threshold value. </a:t>
            </a:r>
            <a:endParaRPr lang="en-US" altLang="ko-KR" sz="2000" dirty="0">
              <a:solidFill>
                <a:srgbClr val="FF0000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5F70E37-F91D-2B92-46EC-E8129496B0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848" y="2855029"/>
            <a:ext cx="4876801" cy="2324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EACD008F-458A-A467-4A01-E9FC1196BA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5282" y="2855029"/>
            <a:ext cx="4876800" cy="2324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A4B14C9-2540-77B9-44EF-517F53436C9D}"/>
              </a:ext>
            </a:extLst>
          </p:cNvPr>
          <p:cNvSpPr txBox="1"/>
          <p:nvPr/>
        </p:nvSpPr>
        <p:spPr>
          <a:xfrm>
            <a:off x="1168053" y="5355966"/>
            <a:ext cx="41643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Top-down view of a route</a:t>
            </a:r>
            <a:endParaRPr lang="en-US" altLang="ko-KR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6440DD-58FB-C7AD-F063-EE6E7670E5C7}"/>
              </a:ext>
            </a:extLst>
          </p:cNvPr>
          <p:cNvSpPr txBox="1"/>
          <p:nvPr/>
        </p:nvSpPr>
        <p:spPr>
          <a:xfrm>
            <a:off x="6691487" y="5355966"/>
            <a:ext cx="41643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Contour Approximation in action</a:t>
            </a:r>
            <a:endParaRPr lang="en-US" altLang="ko-KR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51BE39-F460-2596-E172-775A052A43CD}"/>
              </a:ext>
            </a:extLst>
          </p:cNvPr>
          <p:cNvSpPr txBox="1"/>
          <p:nvPr/>
        </p:nvSpPr>
        <p:spPr>
          <a:xfrm>
            <a:off x="34184" y="6493808"/>
            <a:ext cx="101134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1600" dirty="0"/>
              <a:t>Ref: </a:t>
            </a:r>
            <a:r>
              <a:rPr lang="en-US" altLang="ko-KR" sz="1600" dirty="0">
                <a:hlinkClick r:id="rId4"/>
              </a:rPr>
              <a:t>https://pyimagesearch.com/2021/10/06/opencv-contour-approximation/</a:t>
            </a:r>
            <a:r>
              <a:rPr lang="en-US" altLang="ko-KR" sz="1600" dirty="0"/>
              <a:t> </a:t>
            </a:r>
            <a:endParaRPr lang="en-US" altLang="ko-KR" sz="1600" b="0" i="0" dirty="0">
              <a:solidFill>
                <a:srgbClr val="101418"/>
              </a:solidFill>
              <a:effectLst/>
              <a:latin typeface="Linux Libertine"/>
            </a:endParaRPr>
          </a:p>
        </p:txBody>
      </p:sp>
    </p:spTree>
    <p:extLst>
      <p:ext uri="{BB962C8B-B14F-4D97-AF65-F5344CB8AC3E}">
        <p14:creationId xmlns:p14="http://schemas.microsoft.com/office/powerpoint/2010/main" val="17448817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2AC934-2CA6-05E1-A820-037E8FDB1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4D42ECA-8F4E-9946-4242-A81F4E97D650}"/>
              </a:ext>
            </a:extLst>
          </p:cNvPr>
          <p:cNvSpPr txBox="1"/>
          <p:nvPr/>
        </p:nvSpPr>
        <p:spPr>
          <a:xfrm>
            <a:off x="191115" y="931008"/>
            <a:ext cx="4279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i="1" dirty="0"/>
              <a:t>Contour Approximation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99E0A2-4774-7CE2-303C-6BDFFCC47A86}"/>
              </a:ext>
            </a:extLst>
          </p:cNvPr>
          <p:cNvSpPr txBox="1"/>
          <p:nvPr/>
        </p:nvSpPr>
        <p:spPr>
          <a:xfrm>
            <a:off x="109348" y="407788"/>
            <a:ext cx="38483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Contour Detection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3A548A-6A4B-3E11-1B50-F4ECFA0E20CA}"/>
              </a:ext>
            </a:extLst>
          </p:cNvPr>
          <p:cNvSpPr txBox="1"/>
          <p:nvPr/>
        </p:nvSpPr>
        <p:spPr>
          <a:xfrm>
            <a:off x="191115" y="1392673"/>
            <a:ext cx="118097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Contour approximation, which uses the Ramer–Douglas–</a:t>
            </a:r>
            <a:r>
              <a:rPr lang="en-US" altLang="ko-KR" sz="2000" dirty="0" err="1"/>
              <a:t>Peucker</a:t>
            </a:r>
            <a:r>
              <a:rPr lang="en-US" altLang="ko-KR" sz="2000" dirty="0"/>
              <a:t> (RDP) algorithm, aims to simplify a polyline by reducing its vertices given a threshold value. </a:t>
            </a:r>
            <a:endParaRPr lang="en-US" altLang="ko-KR" sz="2000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0EC9B3-0C65-8204-1E7E-DD28D7A22338}"/>
              </a:ext>
            </a:extLst>
          </p:cNvPr>
          <p:cNvSpPr txBox="1"/>
          <p:nvPr/>
        </p:nvSpPr>
        <p:spPr>
          <a:xfrm>
            <a:off x="34184" y="6493808"/>
            <a:ext cx="101134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1600" dirty="0"/>
              <a:t>Ref: </a:t>
            </a:r>
            <a:r>
              <a:rPr lang="en-US" altLang="ko-KR" sz="1600" dirty="0">
                <a:hlinkClick r:id="rId2"/>
              </a:rPr>
              <a:t>Ramer–Douglas–</a:t>
            </a:r>
            <a:r>
              <a:rPr lang="en-US" altLang="ko-KR" sz="1600" dirty="0" err="1">
                <a:hlinkClick r:id="rId2"/>
              </a:rPr>
              <a:t>Peucker</a:t>
            </a:r>
            <a:r>
              <a:rPr lang="en-US" altLang="ko-KR" sz="1600" dirty="0">
                <a:hlinkClick r:id="rId2"/>
              </a:rPr>
              <a:t> algorithm</a:t>
            </a:r>
            <a:endParaRPr lang="en-US" altLang="ko-KR" sz="1600" b="0" i="0" dirty="0">
              <a:solidFill>
                <a:srgbClr val="101418"/>
              </a:solidFill>
              <a:effectLst/>
              <a:latin typeface="Linux Libertine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98F2BC23-F1BD-49FC-B3D9-B8A75C3F41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5821" y="3025644"/>
            <a:ext cx="7620357" cy="2421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04137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F58FE-5B4B-B416-3AF2-CBD56F333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E359585-3013-C327-F7DC-5C9EFD689225}"/>
              </a:ext>
            </a:extLst>
          </p:cNvPr>
          <p:cNvSpPr txBox="1"/>
          <p:nvPr/>
        </p:nvSpPr>
        <p:spPr>
          <a:xfrm>
            <a:off x="191115" y="931008"/>
            <a:ext cx="4279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Active Contour Model</a:t>
            </a:r>
            <a:endParaRPr lang="en-US" altLang="ko-KR" sz="2400" i="1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F98F24-3C73-4577-E13A-592DD7931BE0}"/>
              </a:ext>
            </a:extLst>
          </p:cNvPr>
          <p:cNvSpPr txBox="1"/>
          <p:nvPr/>
        </p:nvSpPr>
        <p:spPr>
          <a:xfrm>
            <a:off x="109348" y="407788"/>
            <a:ext cx="5635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Contour Detection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FB620D-37E8-2A7E-0827-ED7D3A34DAD5}"/>
              </a:ext>
            </a:extLst>
          </p:cNvPr>
          <p:cNvSpPr txBox="1"/>
          <p:nvPr/>
        </p:nvSpPr>
        <p:spPr>
          <a:xfrm>
            <a:off x="191115" y="1392673"/>
            <a:ext cx="118097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Active contour model (also called snakes) is a framework in computer vision introduced by Michael </a:t>
            </a:r>
            <a:r>
              <a:rPr lang="en-US" altLang="ko-KR" sz="2000" dirty="0" err="1"/>
              <a:t>Kass</a:t>
            </a:r>
            <a:r>
              <a:rPr lang="en-US" altLang="ko-KR" sz="2000" dirty="0"/>
              <a:t>, Andrew Witkin, and Demetri </a:t>
            </a:r>
            <a:r>
              <a:rPr lang="en-US" altLang="ko-KR" sz="2000" dirty="0" err="1"/>
              <a:t>Terzopoulos</a:t>
            </a:r>
            <a:r>
              <a:rPr lang="en-US" altLang="ko-KR" sz="2000" dirty="0"/>
              <a:t> for delineating an object outline from a possibly noisy 2D image.</a:t>
            </a:r>
            <a:endParaRPr lang="en-US" altLang="ko-KR" sz="2000" dirty="0">
              <a:solidFill>
                <a:srgbClr val="FF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A7112E7-B73B-0405-9EE7-1C06F4D7AA0E}"/>
              </a:ext>
            </a:extLst>
          </p:cNvPr>
          <p:cNvSpPr txBox="1"/>
          <p:nvPr/>
        </p:nvSpPr>
        <p:spPr>
          <a:xfrm>
            <a:off x="34184" y="6493808"/>
            <a:ext cx="101134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1600" dirty="0"/>
              <a:t>Ref: </a:t>
            </a:r>
            <a:r>
              <a:rPr lang="en-US" altLang="ko-KR" sz="1600" dirty="0">
                <a:hlinkClick r:id="rId2"/>
              </a:rPr>
              <a:t>Active contour model</a:t>
            </a:r>
            <a:endParaRPr lang="en-US" altLang="ko-KR" sz="1600" b="0" i="0" dirty="0">
              <a:solidFill>
                <a:srgbClr val="101418"/>
              </a:solidFill>
              <a:effectLst/>
              <a:latin typeface="Linux Libertine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CC8942-8D5F-89C6-233D-D5CD1D691F19}"/>
              </a:ext>
            </a:extLst>
          </p:cNvPr>
          <p:cNvSpPr txBox="1"/>
          <p:nvPr/>
        </p:nvSpPr>
        <p:spPr>
          <a:xfrm>
            <a:off x="191115" y="2100559"/>
            <a:ext cx="118097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The snakes model is popular in computer vision, and snakes are widely used in applications like object tracking, shape recognition, segmentation, edge detection and stereo matching.</a:t>
            </a:r>
            <a:endParaRPr lang="en-US" altLang="ko-KR" sz="2000" dirty="0">
              <a:solidFill>
                <a:srgbClr val="FF0000"/>
              </a:solidFill>
            </a:endParaRPr>
          </a:p>
        </p:txBody>
      </p:sp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17169327-8EDB-55E8-B608-9936CACD83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2853" y="3134793"/>
            <a:ext cx="6486293" cy="3060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73179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C7E58B-276E-0E47-C76B-8E99C7EF5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FF217C2-6449-1C60-A5C4-6D2A2C6CB1A9}"/>
              </a:ext>
            </a:extLst>
          </p:cNvPr>
          <p:cNvSpPr txBox="1"/>
          <p:nvPr/>
        </p:nvSpPr>
        <p:spPr>
          <a:xfrm>
            <a:off x="191115" y="931008"/>
            <a:ext cx="4279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Active Contour Model</a:t>
            </a:r>
            <a:endParaRPr lang="en-US" altLang="ko-KR" sz="2400" i="1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E15CFB-FFFC-AA21-305C-0A2AC184A292}"/>
              </a:ext>
            </a:extLst>
          </p:cNvPr>
          <p:cNvSpPr txBox="1"/>
          <p:nvPr/>
        </p:nvSpPr>
        <p:spPr>
          <a:xfrm>
            <a:off x="109348" y="407788"/>
            <a:ext cx="5635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Contour Detection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821304E-EFEE-CDBF-86FF-4071F55F04E0}"/>
              </a:ext>
            </a:extLst>
          </p:cNvPr>
          <p:cNvSpPr txBox="1"/>
          <p:nvPr/>
        </p:nvSpPr>
        <p:spPr>
          <a:xfrm>
            <a:off x="34184" y="6493808"/>
            <a:ext cx="101134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1600" dirty="0"/>
              <a:t>Ref: </a:t>
            </a:r>
            <a:r>
              <a:rPr lang="en-US" altLang="ko-KR" sz="1600" dirty="0">
                <a:hlinkClick r:id="rId2"/>
              </a:rPr>
              <a:t>https://rand-asswad.xyz/active-contour-models/</a:t>
            </a:r>
            <a:r>
              <a:rPr lang="en-US" altLang="ko-KR" sz="1600" dirty="0"/>
              <a:t> </a:t>
            </a:r>
            <a:endParaRPr lang="en-US" altLang="ko-KR" sz="1600" b="0" i="0" dirty="0">
              <a:solidFill>
                <a:srgbClr val="101418"/>
              </a:solidFill>
              <a:effectLst/>
              <a:latin typeface="Linux Libertine"/>
            </a:endParaRPr>
          </a:p>
        </p:txBody>
      </p:sp>
      <p:sp>
        <p:nvSpPr>
          <p:cNvPr id="2" name="AutoShape 2" descr="Diagram of a Closed Active Contour Model | Download Scientific Diagram">
            <a:extLst>
              <a:ext uri="{FF2B5EF4-FFF2-40B4-BE49-F238E27FC236}">
                <a16:creationId xmlns:a16="http://schemas.microsoft.com/office/drawing/2014/main" id="{6F2AAFD9-818D-209E-C0DD-AF058F00134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687227" y="3477909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47D776-AEE1-357B-6A04-B5CF8F59A0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0990" y="2639701"/>
            <a:ext cx="5115915" cy="2286016"/>
          </a:xfrm>
          <a:prstGeom prst="rect">
            <a:avLst/>
          </a:prstGeom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5A9F6E6D-79AE-918D-F035-5E0C6785EF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137" y="1775270"/>
            <a:ext cx="5555746" cy="1748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Real-time Deformable Dynamic Meshes for Volumetric Segementation and  Visualisation">
            <a:extLst>
              <a:ext uri="{FF2B5EF4-FFF2-40B4-BE49-F238E27FC236}">
                <a16:creationId xmlns:a16="http://schemas.microsoft.com/office/drawing/2014/main" id="{2134F551-E1EE-4D02-CC36-D19505CC2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648" y="3962300"/>
            <a:ext cx="5710839" cy="1964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00994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F53AD8-CF0F-4861-86C0-E3CD4CC2B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24E44E40-8BF2-FC32-968E-A48C6763F328}"/>
              </a:ext>
            </a:extLst>
          </p:cNvPr>
          <p:cNvSpPr txBox="1"/>
          <p:nvPr/>
        </p:nvSpPr>
        <p:spPr>
          <a:xfrm>
            <a:off x="191115" y="931008"/>
            <a:ext cx="4279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i="1" dirty="0"/>
              <a:t>Deep Learning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544D78-67CF-8611-D902-9351A9506000}"/>
              </a:ext>
            </a:extLst>
          </p:cNvPr>
          <p:cNvSpPr txBox="1"/>
          <p:nvPr/>
        </p:nvSpPr>
        <p:spPr>
          <a:xfrm>
            <a:off x="109348" y="407788"/>
            <a:ext cx="38483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Contour Detection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DB8FC6-344A-47A1-C153-AF3A859304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867" y="2777272"/>
            <a:ext cx="11246265" cy="251090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D20FB69-6B57-1DB2-1A84-6D742B55D0CA}"/>
              </a:ext>
            </a:extLst>
          </p:cNvPr>
          <p:cNvSpPr txBox="1"/>
          <p:nvPr/>
        </p:nvSpPr>
        <p:spPr>
          <a:xfrm>
            <a:off x="34184" y="6493808"/>
            <a:ext cx="101134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1600" dirty="0"/>
              <a:t>Ref: </a:t>
            </a:r>
            <a:r>
              <a:rPr lang="en-US" sz="1600" dirty="0">
                <a:hlinkClick r:id="rId3"/>
              </a:rPr>
              <a:t>Object Contour Detection with a Fully Convolutional Encoder-Decoder Network</a:t>
            </a:r>
            <a:endParaRPr lang="en-US" altLang="ko-KR" sz="1600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C9100C-BEF4-FF85-D4DD-27E99900D6A3}"/>
              </a:ext>
            </a:extLst>
          </p:cNvPr>
          <p:cNvSpPr txBox="1"/>
          <p:nvPr/>
        </p:nvSpPr>
        <p:spPr>
          <a:xfrm>
            <a:off x="191115" y="1392673"/>
            <a:ext cx="118097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Deep learning models can also be used for contour detection, learning to predict contour maps from images.</a:t>
            </a:r>
            <a:endParaRPr lang="en-US" altLang="ko-KR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00133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C79C5-28B9-093F-E79B-BD1DB47A2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564B73BC-F930-0895-1265-A71BD73F6E09}"/>
              </a:ext>
            </a:extLst>
          </p:cNvPr>
          <p:cNvSpPr txBox="1"/>
          <p:nvPr/>
        </p:nvSpPr>
        <p:spPr>
          <a:xfrm>
            <a:off x="109347" y="407788"/>
            <a:ext cx="75049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Contour Detection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914D72E-18BD-E734-CA98-DBD1302D3350}"/>
              </a:ext>
            </a:extLst>
          </p:cNvPr>
          <p:cNvSpPr txBox="1"/>
          <p:nvPr/>
        </p:nvSpPr>
        <p:spPr>
          <a:xfrm>
            <a:off x="191115" y="931008"/>
            <a:ext cx="4279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i="1" dirty="0"/>
              <a:t>Practice</a:t>
            </a:r>
            <a:endParaRPr lang="en-US" altLang="ko-KR" sz="2400" i="1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15A277-F9A1-779B-FD38-B4266B677248}"/>
              </a:ext>
            </a:extLst>
          </p:cNvPr>
          <p:cNvSpPr txBox="1"/>
          <p:nvPr/>
        </p:nvSpPr>
        <p:spPr>
          <a:xfrm>
            <a:off x="337872" y="1392673"/>
            <a:ext cx="61871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Contour Detection</a:t>
            </a:r>
          </a:p>
        </p:txBody>
      </p:sp>
    </p:spTree>
    <p:extLst>
      <p:ext uri="{BB962C8B-B14F-4D97-AF65-F5344CB8AC3E}">
        <p14:creationId xmlns:p14="http://schemas.microsoft.com/office/powerpoint/2010/main" val="11629921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42224" y="2852184"/>
            <a:ext cx="53075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30902" y="3651873"/>
            <a:ext cx="1730195" cy="2840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46" dirty="0"/>
              <a:t>anhtl@ut.edu.vn</a:t>
            </a:r>
          </a:p>
        </p:txBody>
      </p:sp>
      <p:sp>
        <p:nvSpPr>
          <p:cNvPr id="4" name="Rectangle 3"/>
          <p:cNvSpPr/>
          <p:nvPr/>
        </p:nvSpPr>
        <p:spPr>
          <a:xfrm>
            <a:off x="9213274" y="6542116"/>
            <a:ext cx="1454727" cy="315884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3490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114481</TotalTime>
  <Words>512</Words>
  <Application>Microsoft Office PowerPoint</Application>
  <PresentationFormat>Widescreen</PresentationFormat>
  <Paragraphs>63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Linux Libertine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Tran Le Anh</cp:lastModifiedBy>
  <cp:revision>6523</cp:revision>
  <cp:lastPrinted>2021-09-06T03:39:39Z</cp:lastPrinted>
  <dcterms:created xsi:type="dcterms:W3CDTF">2020-10-10T03:17:57Z</dcterms:created>
  <dcterms:modified xsi:type="dcterms:W3CDTF">2025-04-28T09:49:18Z</dcterms:modified>
</cp:coreProperties>
</file>