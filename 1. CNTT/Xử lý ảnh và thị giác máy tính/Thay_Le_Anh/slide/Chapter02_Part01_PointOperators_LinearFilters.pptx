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1"/>
  </p:notesMasterIdLst>
  <p:sldIdLst>
    <p:sldId id="261" r:id="rId2"/>
    <p:sldId id="331" r:id="rId3"/>
    <p:sldId id="1835" r:id="rId4"/>
    <p:sldId id="1806" r:id="rId5"/>
    <p:sldId id="1807" r:id="rId6"/>
    <p:sldId id="1808" r:id="rId7"/>
    <p:sldId id="1812" r:id="rId8"/>
    <p:sldId id="1811" r:id="rId9"/>
    <p:sldId id="1809" r:id="rId10"/>
    <p:sldId id="1815" r:id="rId11"/>
    <p:sldId id="1814" r:id="rId12"/>
    <p:sldId id="1813" r:id="rId13"/>
    <p:sldId id="1817" r:id="rId14"/>
    <p:sldId id="1816" r:id="rId15"/>
    <p:sldId id="1818" r:id="rId16"/>
    <p:sldId id="1821" r:id="rId17"/>
    <p:sldId id="1810" r:id="rId18"/>
    <p:sldId id="1819" r:id="rId19"/>
    <p:sldId id="1820" r:id="rId20"/>
    <p:sldId id="1823" r:id="rId21"/>
    <p:sldId id="1822" r:id="rId22"/>
    <p:sldId id="1834" r:id="rId23"/>
    <p:sldId id="1837" r:id="rId24"/>
    <p:sldId id="1836" r:id="rId25"/>
    <p:sldId id="1805" r:id="rId26"/>
    <p:sldId id="1824" r:id="rId27"/>
    <p:sldId id="1825" r:id="rId28"/>
    <p:sldId id="1831" r:id="rId29"/>
    <p:sldId id="1830" r:id="rId30"/>
    <p:sldId id="1826" r:id="rId31"/>
    <p:sldId id="1832" r:id="rId32"/>
    <p:sldId id="1827" r:id="rId33"/>
    <p:sldId id="1833" r:id="rId34"/>
    <p:sldId id="1828" r:id="rId35"/>
    <p:sldId id="1829" r:id="rId36"/>
    <p:sldId id="1838" r:id="rId37"/>
    <p:sldId id="1839" r:id="rId38"/>
    <p:sldId id="1804" r:id="rId39"/>
    <p:sldId id="267" r:id="rId40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  <p:cmAuthor id="2" name="Tran Le Anh" initials="TLA" lastIdx="3" clrIdx="1">
    <p:extLst>
      <p:ext uri="{19B8F6BF-5375-455C-9EA6-DF929625EA0E}">
        <p15:presenceInfo xmlns:p15="http://schemas.microsoft.com/office/powerpoint/2012/main" userId="Tran Le An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8189E"/>
    <a:srgbClr val="F0F0F0"/>
    <a:srgbClr val="F5F5F5"/>
    <a:srgbClr val="FDFDFD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31" autoAdjust="0"/>
    <p:restoredTop sz="93988" autoAdjust="0"/>
  </p:normalViewPr>
  <p:slideViewPr>
    <p:cSldViewPr snapToGrid="0">
      <p:cViewPr varScale="1">
        <p:scale>
          <a:sx n="86" d="100"/>
          <a:sy n="86" d="100"/>
        </p:scale>
        <p:origin x="102" y="71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73FD9801-A144-4B40-9127-0684BD7D58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5E947791-EB80-4ECA-83D2-BD9595BD9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3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6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3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4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976AA-E383-40E1-B8E8-5B4096AD0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8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BFE88-591F-4A3E-B0A4-257ECE97BEAB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F85EF-21C5-415F-AEF3-0F51C92A13CF}"/>
              </a:ext>
            </a:extLst>
          </p:cNvPr>
          <p:cNvSpPr/>
          <p:nvPr userDrawn="1"/>
        </p:nvSpPr>
        <p:spPr>
          <a:xfrm>
            <a:off x="9877587" y="6610027"/>
            <a:ext cx="2314413" cy="2479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anhtl@ut.edu.vn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A4BF7-4007-4EE9-8948-4D4E0A77C823}"/>
              </a:ext>
            </a:extLst>
          </p:cNvPr>
          <p:cNvSpPr txBox="1"/>
          <p:nvPr userDrawn="1"/>
        </p:nvSpPr>
        <p:spPr>
          <a:xfrm>
            <a:off x="4053216" y="30693"/>
            <a:ext cx="4085568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>
                <a:solidFill>
                  <a:schemeClr val="bg1">
                    <a:lumMod val="75000"/>
                  </a:schemeClr>
                </a:solidFill>
              </a:rPr>
              <a:t>Ho Chi Minh City University of Transport</a:t>
            </a:r>
          </a:p>
        </p:txBody>
      </p:sp>
    </p:spTree>
    <p:extLst>
      <p:ext uri="{BB962C8B-B14F-4D97-AF65-F5344CB8AC3E}">
        <p14:creationId xmlns:p14="http://schemas.microsoft.com/office/powerpoint/2010/main" val="110057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laboutcircuits.com/technical-articles/digital-image-processing-point-operations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aff.fnwi.uva.nl/r.vandenboomgaard/IPCV20162017/LectureNotes/IP/PointOperators/ImageArithmetic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4310076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tsu%27s_method" TargetMode="External"/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4590" y="2751061"/>
            <a:ext cx="7162800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POINT OPERATORS &amp; LINEAR </a:t>
            </a:r>
            <a:r>
              <a:rPr lang="en-US" altLang="ko-KR" sz="3200" b="1" dirty="0"/>
              <a:t>FILTERS</a:t>
            </a:r>
            <a:endParaRPr 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922430" y="4487464"/>
            <a:ext cx="2347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 Le Anh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63905" y="30525"/>
            <a:ext cx="3064176" cy="2840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Ho Chi Minh City University of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3013" y="4856796"/>
            <a:ext cx="2485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anhtl@ut.edu.vn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0894" y="6534648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03-2025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2912" y="1458669"/>
            <a:ext cx="4686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Image Processing and Computer Vision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14413" y="6534648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10F536-84A9-F63C-9FC0-C898AC1A1B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1141" y="61725"/>
            <a:ext cx="2252164" cy="5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4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Point Operators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Linear Filters</a:t>
            </a:r>
          </a:p>
        </p:txBody>
      </p:sp>
    </p:spTree>
    <p:extLst>
      <p:ext uri="{BB962C8B-B14F-4D97-AF65-F5344CB8AC3E}">
        <p14:creationId xmlns:p14="http://schemas.microsoft.com/office/powerpoint/2010/main" val="187719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Point Operators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Linear Filters</a:t>
            </a:r>
          </a:p>
        </p:txBody>
      </p:sp>
    </p:spTree>
    <p:extLst>
      <p:ext uri="{BB962C8B-B14F-4D97-AF65-F5344CB8AC3E}">
        <p14:creationId xmlns:p14="http://schemas.microsoft.com/office/powerpoint/2010/main" val="2037465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638FD-9C9C-D13B-9A65-546036C6E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2EB427A-A4DF-57EA-B3A8-CD8A39E6070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Definitions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0D36E5-1CE4-A91D-77EE-F4461F0EB37C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D233D3-CE1B-D465-3271-A252EE798573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(1) In image processing, point operators, also known as pixel-wise operators, transform an image by modifying each pixel's value based solely on its own value, without considering its neighbors or position.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026" name="Picture 2" descr="Image Functions, Pixels and Types of Image Processing | by Saai Sudarsanan  D | Medium">
            <a:extLst>
              <a:ext uri="{FF2B5EF4-FFF2-40B4-BE49-F238E27FC236}">
                <a16:creationId xmlns:a16="http://schemas.microsoft.com/office/drawing/2014/main" id="{23B63F4A-A849-C02F-6605-9D483C43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275" y="3679092"/>
            <a:ext cx="474345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1BEDF2-000B-A482-A38E-CBBDC0CB5C22}"/>
              </a:ext>
            </a:extLst>
          </p:cNvPr>
          <p:cNvSpPr txBox="1"/>
          <p:nvPr/>
        </p:nvSpPr>
        <p:spPr>
          <a:xfrm>
            <a:off x="191115" y="2100559"/>
            <a:ext cx="118097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(2) A point operator, denoted as Ψ, transforms an input image f into an output image g where each pixel's value in g is determined by a function ψ applied to the corresponding pixel in f. Mathematically, this can be expressed as: g(x) = ψ(f(x))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819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AC66-75D9-09F7-5214-96B854431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0787FA-CD74-5B8E-EE61-D1E955AD099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Examples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8F168-2AE0-95C3-237D-12F3A8125F41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6090B8-FBC6-8708-14BE-18D6869E0D5D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Brightness Adjustment: Adding or subtracting a constant value to all pixel intensities.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EA6BD-12CD-0DB2-AB0C-0B46FB78AEA9}"/>
              </a:ext>
            </a:extLst>
          </p:cNvPr>
          <p:cNvSpPr txBox="1"/>
          <p:nvPr/>
        </p:nvSpPr>
        <p:spPr>
          <a:xfrm>
            <a:off x="197337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Contrast Stretching: Expanding the range of pixel values to enhance contrast.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E81155-30D2-75F6-48D8-886EEB4F1F57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Histogram Equalization: Adjusting pixel values to have a uniform distribution of intensities and a flat histogram.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9C0A3-6BF1-AFC4-05B5-2D0243163769}"/>
              </a:ext>
            </a:extLst>
          </p:cNvPr>
          <p:cNvSpPr txBox="1"/>
          <p:nvPr/>
        </p:nvSpPr>
        <p:spPr>
          <a:xfrm>
            <a:off x="197337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Thresholding: Converting an image to a binary image by setting a threshold value. </a:t>
            </a:r>
          </a:p>
        </p:txBody>
      </p:sp>
    </p:spTree>
    <p:extLst>
      <p:ext uri="{BB962C8B-B14F-4D97-AF65-F5344CB8AC3E}">
        <p14:creationId xmlns:p14="http://schemas.microsoft.com/office/powerpoint/2010/main" val="1204572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44860-3D63-7D0B-048F-7AEEA9E7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EE8D4D3-5120-5A29-504A-C9EFEB19C26B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Brightness Adjustment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30ED89-1BCE-7D08-C0BE-9BAA3B24C080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9AD06A6D-5502-9AE3-D25A-0021B27E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964" y="2169755"/>
            <a:ext cx="6020175" cy="330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2752EC-837D-AD43-F127-C3AAAF7E3565}"/>
              </a:ext>
            </a:extLst>
          </p:cNvPr>
          <p:cNvSpPr txBox="1"/>
          <p:nvPr/>
        </p:nvSpPr>
        <p:spPr>
          <a:xfrm>
            <a:off x="34184" y="6493808"/>
            <a:ext cx="9673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https://www.allaboutcircuits.com/technical-articles/digital-image-processing-point-operations/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4104" name="Picture 8" descr="OpenCV + Python Adjust the brightness and contrast of the image">
            <a:extLst>
              <a:ext uri="{FF2B5EF4-FFF2-40B4-BE49-F238E27FC236}">
                <a16:creationId xmlns:a16="http://schemas.microsoft.com/office/drawing/2014/main" id="{ED3EDB2B-8FCC-72A3-5931-319D34DA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87" y="1827157"/>
            <a:ext cx="4952939" cy="165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BD9D63-8B94-3EDB-C5C8-961773F5666E}"/>
              </a:ext>
            </a:extLst>
          </p:cNvPr>
          <p:cNvSpPr/>
          <p:nvPr/>
        </p:nvSpPr>
        <p:spPr>
          <a:xfrm>
            <a:off x="709301" y="2751744"/>
            <a:ext cx="136732" cy="1196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6E479B-2C80-C32E-52CB-C8B59081B13E}"/>
              </a:ext>
            </a:extLst>
          </p:cNvPr>
          <p:cNvSpPr/>
          <p:nvPr/>
        </p:nvSpPr>
        <p:spPr>
          <a:xfrm>
            <a:off x="6331009" y="2889083"/>
            <a:ext cx="1830223" cy="18248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ED8861F-142F-35E0-43E2-9E664B5D1F77}"/>
              </a:ext>
            </a:extLst>
          </p:cNvPr>
          <p:cNvCxnSpPr>
            <a:cxnSpLocks/>
            <a:stCxn id="7" idx="2"/>
            <a:endCxn id="9" idx="2"/>
          </p:cNvCxnSpPr>
          <p:nvPr/>
        </p:nvCxnSpPr>
        <p:spPr>
          <a:xfrm rot="16200000" flipH="1">
            <a:off x="3090636" y="558416"/>
            <a:ext cx="1842516" cy="6468454"/>
          </a:xfrm>
          <a:prstGeom prst="bentConnector3">
            <a:avLst>
              <a:gd name="adj1" fmla="val 16713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6" name="Picture 10" descr="What is Contrast in Image Processing? | TheAILearner">
            <a:extLst>
              <a:ext uri="{FF2B5EF4-FFF2-40B4-BE49-F238E27FC236}">
                <a16:creationId xmlns:a16="http://schemas.microsoft.com/office/drawing/2014/main" id="{09CE66F4-EA27-DB85-D199-D951FAE07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819" y="3933646"/>
            <a:ext cx="3214547" cy="141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82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AD27-BFF0-DC5B-A8ED-2E1F342D4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CA307F0-A697-E165-8E22-E90905E9B5B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Brightness Adjustment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5359A9-080F-93CC-05B0-48FB50DD99C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pic>
        <p:nvPicPr>
          <p:cNvPr id="6" name="Picture 5" descr="A diagram of an eagle's head&#10;&#10;AI-generated content may be incorrect.">
            <a:extLst>
              <a:ext uri="{FF2B5EF4-FFF2-40B4-BE49-F238E27FC236}">
                <a16:creationId xmlns:a16="http://schemas.microsoft.com/office/drawing/2014/main" id="{33461B09-B531-9B2C-48FB-D38FBF08F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708" y="1719340"/>
            <a:ext cx="7842584" cy="395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77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4DE8E-01AE-0785-94C7-64FEFBAA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296A5C5-BD5C-2933-110E-EB762C54F7D6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Brightness Adjustment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1700C-CC5C-824C-8BFF-CA362FB0764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08676FB-2CDC-F6E3-BE3E-5DAE6DA3C8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9"/>
          <a:stretch/>
        </p:blipFill>
        <p:spPr bwMode="auto">
          <a:xfrm>
            <a:off x="1776101" y="1847525"/>
            <a:ext cx="8639798" cy="363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F15488-233C-DA93-6591-AFF8C10BC559}"/>
              </a:ext>
            </a:extLst>
          </p:cNvPr>
          <p:cNvSpPr txBox="1"/>
          <p:nvPr/>
        </p:nvSpPr>
        <p:spPr>
          <a:xfrm>
            <a:off x="34184" y="6493808"/>
            <a:ext cx="1137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https://staff.fnwi.uva.nl/r.vandenboomgaard/IPCV20162017/LectureNotes/IP/PointOperators/ImageArithmetic.html</a:t>
            </a:r>
            <a:r>
              <a:rPr lang="en-US" altLang="ko-KR" sz="1600" dirty="0"/>
              <a:t> 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25EB0-A355-E575-83C3-D56C3E5D48A3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Image blending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14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FD140-CB49-47A8-73DC-9AD6B5A3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4B2B88D-BC47-2C1D-6A81-905D8D27C55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Histogram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CD477B-0356-12BD-C426-B19DF92B8EC2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C65308-B0C8-3667-2660-0DFDC479E758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An image histogram is a graphical representation of the number of pixels in an image as a function of their intensity.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2" name="Picture 11" descr="A person wearing a hat and a graph&#10;&#10;AI-generated content may be incorrect.">
            <a:extLst>
              <a:ext uri="{FF2B5EF4-FFF2-40B4-BE49-F238E27FC236}">
                <a16:creationId xmlns:a16="http://schemas.microsoft.com/office/drawing/2014/main" id="{97FB6036-C58D-A767-F319-8DDBD14AD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269" y="2292738"/>
            <a:ext cx="6629461" cy="40634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305F39-8036-CEA4-8FFC-AF922383BBF6}"/>
              </a:ext>
            </a:extLst>
          </p:cNvPr>
          <p:cNvSpPr txBox="1"/>
          <p:nvPr/>
        </p:nvSpPr>
        <p:spPr>
          <a:xfrm>
            <a:off x="3588439" y="2351920"/>
            <a:ext cx="176360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Gray Image</a:t>
            </a:r>
          </a:p>
        </p:txBody>
      </p:sp>
    </p:spTree>
    <p:extLst>
      <p:ext uri="{BB962C8B-B14F-4D97-AF65-F5344CB8AC3E}">
        <p14:creationId xmlns:p14="http://schemas.microsoft.com/office/powerpoint/2010/main" val="428108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0F4F-7CCE-5292-702E-BCC78500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D99BDE3-BF09-C67D-8007-497B2A107CEC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Histogram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1B7539-2F91-726E-C351-C677FB1B609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DDE31D-25BD-3914-47F4-72DE43DE0724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An image histogram is a graphical representation of the number of pixels in an image as a function of their intensity.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3039D9-2389-C45B-FA4F-557D77753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48" y="2868361"/>
            <a:ext cx="10112304" cy="25969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2D3071-B8A8-7CFE-5BF5-3C13A2EF550C}"/>
              </a:ext>
            </a:extLst>
          </p:cNvPr>
          <p:cNvSpPr txBox="1"/>
          <p:nvPr/>
        </p:nvSpPr>
        <p:spPr>
          <a:xfrm>
            <a:off x="1220070" y="2658057"/>
            <a:ext cx="176360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RGB Image</a:t>
            </a:r>
          </a:p>
        </p:txBody>
      </p:sp>
    </p:spTree>
    <p:extLst>
      <p:ext uri="{BB962C8B-B14F-4D97-AF65-F5344CB8AC3E}">
        <p14:creationId xmlns:p14="http://schemas.microsoft.com/office/powerpoint/2010/main" val="3101856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2FD3D-03BB-BC0D-D70E-3064DFB3B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A2D29B3-8301-DF25-3449-9B7D534BBF06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Histogram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771FA2-08D8-D515-BC51-9D0252AD3A8E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3F8216-33FB-D356-1006-C7A76E195AD1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An image histogram is a graphical representation of the number of pixels in an image as a function of their intensity.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3074" name="Picture 2" descr="Image Thresholding in Image Processing | Encord">
            <a:extLst>
              <a:ext uri="{FF2B5EF4-FFF2-40B4-BE49-F238E27FC236}">
                <a16:creationId xmlns:a16="http://schemas.microsoft.com/office/drawing/2014/main" id="{EA503D8A-0699-47EB-DCE2-D2004C787F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21"/>
          <a:stretch/>
        </p:blipFill>
        <p:spPr bwMode="auto">
          <a:xfrm>
            <a:off x="6307929" y="2281933"/>
            <a:ext cx="4668132" cy="417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9AB4B1-C19D-2401-9018-0E5E8C0AB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931" y="2291939"/>
            <a:ext cx="4668132" cy="416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92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DAB5-9488-3A11-F109-7E3C992F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05AB9FC-EEE8-7891-E757-D63ECB585BC4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Contrast Stretching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789FCE-FBCB-391A-37DB-1F4A0D0B7FC2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AC051D-E529-6CB9-9067-E294E2660BCA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Image contrast refers to the difference in brightness or color between different areas within an image, which determines how well those areas are distinguished from each other.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8194" name="Picture 2" descr="What is Contrast in Image Processing? | TheAILearner">
            <a:extLst>
              <a:ext uri="{FF2B5EF4-FFF2-40B4-BE49-F238E27FC236}">
                <a16:creationId xmlns:a16="http://schemas.microsoft.com/office/drawing/2014/main" id="{3DF70929-88EA-3889-D3D9-74FB6225D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934" y="2562224"/>
            <a:ext cx="7326131" cy="351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053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39682-F33B-5D94-6681-437822B86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D1A06B8-93CB-1AC7-F183-42CDCD4DEE4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Contrast Stretching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EEC98-EA07-CD1D-D6C0-5527DBCA9AB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256538-173C-35B3-30D9-C3FBE0D06CBA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Image contrast refers to the difference in brightness or color between different areas within an image, which determines how well those areas are distinguished from each other.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13F9ED-1C14-B24A-3A5E-681FC29F1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410" y="2151833"/>
            <a:ext cx="9049179" cy="447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82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80E89-6DEC-11D5-6C0C-80EE106BC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the image histogram (vi) – contrast and clipping | Crafting Pixels">
            <a:extLst>
              <a:ext uri="{FF2B5EF4-FFF2-40B4-BE49-F238E27FC236}">
                <a16:creationId xmlns:a16="http://schemas.microsoft.com/office/drawing/2014/main" id="{BBA27FE1-23D4-B3FB-0E32-605176972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871" y="1161840"/>
            <a:ext cx="8386014" cy="507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43948C-7D17-A6B6-A63C-FF30C369D8D8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Contrast Stretching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D8B669-8A0B-822E-929A-BC1992835802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pic>
        <p:nvPicPr>
          <p:cNvPr id="11268" name="Picture 4" descr="Your Histogram Makes Correct Exposure a Breeze">
            <a:extLst>
              <a:ext uri="{FF2B5EF4-FFF2-40B4-BE49-F238E27FC236}">
                <a16:creationId xmlns:a16="http://schemas.microsoft.com/office/drawing/2014/main" id="{551B97A7-1F0D-3521-87C4-C26FF4D169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8" r="7661"/>
          <a:stretch/>
        </p:blipFill>
        <p:spPr bwMode="auto">
          <a:xfrm>
            <a:off x="402599" y="2984651"/>
            <a:ext cx="3212272" cy="216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984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3D0B3-A7C2-BC2F-18F0-3960DA69D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the image histogram (vi) – contrast and clipping | Crafting Pixels">
            <a:extLst>
              <a:ext uri="{FF2B5EF4-FFF2-40B4-BE49-F238E27FC236}">
                <a16:creationId xmlns:a16="http://schemas.microsoft.com/office/drawing/2014/main" id="{52A6B362-B5E1-3F0A-185A-7B402FAB0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871" y="1161840"/>
            <a:ext cx="8386014" cy="507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9B6AC8-CDD6-640C-B734-12E460241552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Contrast Stretching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A4E060-3EB6-5895-E091-0FA385D5F53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pic>
        <p:nvPicPr>
          <p:cNvPr id="11268" name="Picture 4" descr="Your Histogram Makes Correct Exposure a Breeze">
            <a:extLst>
              <a:ext uri="{FF2B5EF4-FFF2-40B4-BE49-F238E27FC236}">
                <a16:creationId xmlns:a16="http://schemas.microsoft.com/office/drawing/2014/main" id="{C6F6B631-4FCE-76F6-904D-67645E20D9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8" r="7661"/>
          <a:stretch/>
        </p:blipFill>
        <p:spPr bwMode="auto">
          <a:xfrm>
            <a:off x="402599" y="2984651"/>
            <a:ext cx="3212272" cy="216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0BF2F550-6A37-46FB-51C5-B681E0DECAF0}"/>
              </a:ext>
            </a:extLst>
          </p:cNvPr>
          <p:cNvSpPr/>
          <p:nvPr/>
        </p:nvSpPr>
        <p:spPr>
          <a:xfrm>
            <a:off x="2862841" y="2649195"/>
            <a:ext cx="333286" cy="27346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535D5291-DB1D-63B2-366A-0B2673121FC9}"/>
              </a:ext>
            </a:extLst>
          </p:cNvPr>
          <p:cNvSpPr/>
          <p:nvPr/>
        </p:nvSpPr>
        <p:spPr>
          <a:xfrm rot="10800000">
            <a:off x="698035" y="2649195"/>
            <a:ext cx="333286" cy="27346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73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5A4A-1C29-F472-8BE7-B2E1E6A8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65110D-7F17-3A0F-004B-8C117087BCF3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Histogram Equalization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1D4B89-C8E0-AF7E-7C18-7D6589B5BE5C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510A1-FD86-2295-6ADD-80CD1839E422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Adjusting pixel values to have a uniform distribution of intensities and a flat histogram.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15362" name="Picture 2" descr="Image Processing — Histogram Equalization: Part 4 | by Kavini Welarathne |  Medium">
            <a:extLst>
              <a:ext uri="{FF2B5EF4-FFF2-40B4-BE49-F238E27FC236}">
                <a16:creationId xmlns:a16="http://schemas.microsoft.com/office/drawing/2014/main" id="{39FF32EC-661D-6E63-2470-7AA964F62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592" y="2865327"/>
            <a:ext cx="4289882" cy="1920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Image Compression Scheme Based on Histogram Equalization and Convolution  Neural Network | SpringerLink">
            <a:extLst>
              <a:ext uri="{FF2B5EF4-FFF2-40B4-BE49-F238E27FC236}">
                <a16:creationId xmlns:a16="http://schemas.microsoft.com/office/drawing/2014/main" id="{F32051A7-3404-CA87-2D15-7F40E1BB8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202" y="2126261"/>
            <a:ext cx="4484181" cy="441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6974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8E9E-F616-3831-A5E0-AE8BFAE7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403C895-7F7A-5D00-DC7F-DC434296101B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Thresholding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A28C4-4E18-9BDB-E07D-6408E14ED29F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EE545-155B-5B94-01CF-D1C7E0F67115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Image thresholding simplifies images by converting them into a binary format (black and white), making it easier to identify objects, extract features, and perform other image processing tasks.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2054" name="Picture 6" descr="OTSU - Global image thresholding/segmentation using Otsu's method">
            <a:extLst>
              <a:ext uri="{FF2B5EF4-FFF2-40B4-BE49-F238E27FC236}">
                <a16:creationId xmlns:a16="http://schemas.microsoft.com/office/drawing/2014/main" id="{54F53091-0574-FB51-C78F-20F5053C0C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66" b="23736"/>
          <a:stretch/>
        </p:blipFill>
        <p:spPr bwMode="auto">
          <a:xfrm>
            <a:off x="2330678" y="2755299"/>
            <a:ext cx="7295972" cy="298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40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985C-875A-9C2F-1511-5B4536E7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OpenCV Thresholding in Python with cv2.threshold()">
            <a:extLst>
              <a:ext uri="{FF2B5EF4-FFF2-40B4-BE49-F238E27FC236}">
                <a16:creationId xmlns:a16="http://schemas.microsoft.com/office/drawing/2014/main" id="{404F386E-288B-A879-B820-AB59B0DB0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6" y="1392673"/>
            <a:ext cx="11026294" cy="49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6A872B-8DF6-FBCE-FD19-1A4DFBCDF46F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Thresholding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9CFA7F-D701-18EB-2268-FC5C6079DD9F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</p:spTree>
    <p:extLst>
      <p:ext uri="{BB962C8B-B14F-4D97-AF65-F5344CB8AC3E}">
        <p14:creationId xmlns:p14="http://schemas.microsoft.com/office/powerpoint/2010/main" val="3789602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852A-6035-33E6-A26A-676E2028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9074047-206C-E319-543C-739ECBA1F7DC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Thresholding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85727-D4A2-2ECA-8ECF-25CBB06037A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pic>
        <p:nvPicPr>
          <p:cNvPr id="2052" name="Picture 4" descr="Thresholding — Introduction to Bioimage Analysis">
            <a:extLst>
              <a:ext uri="{FF2B5EF4-FFF2-40B4-BE49-F238E27FC236}">
                <a16:creationId xmlns:a16="http://schemas.microsoft.com/office/drawing/2014/main" id="{7E0B957D-5F4B-2234-65BC-AE30F557A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605" y="257707"/>
            <a:ext cx="7835735" cy="6342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AA1966-2F5F-1A84-6F6A-C8EBF5B31ADC}"/>
              </a:ext>
            </a:extLst>
          </p:cNvPr>
          <p:cNvSpPr txBox="1"/>
          <p:nvPr/>
        </p:nvSpPr>
        <p:spPr>
          <a:xfrm>
            <a:off x="4034577" y="3730092"/>
            <a:ext cx="176360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High Threshold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B0E18-E73A-64C5-43CF-594C581127BB}"/>
              </a:ext>
            </a:extLst>
          </p:cNvPr>
          <p:cNvSpPr txBox="1"/>
          <p:nvPr/>
        </p:nvSpPr>
        <p:spPr>
          <a:xfrm>
            <a:off x="8263319" y="3728029"/>
            <a:ext cx="176360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Low Threshold</a:t>
            </a:r>
          </a:p>
        </p:txBody>
      </p:sp>
    </p:spTree>
    <p:extLst>
      <p:ext uri="{BB962C8B-B14F-4D97-AF65-F5344CB8AC3E}">
        <p14:creationId xmlns:p14="http://schemas.microsoft.com/office/powerpoint/2010/main" val="1165146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9229-A85E-500B-DFE3-61982E12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9B26726-2131-D3E7-FDCD-8D6203C34CFF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Thresholding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792B05-0353-FD7D-7F9C-BBEF3D475573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CF3A02-EC84-9029-317A-2A6D1D176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1895261"/>
            <a:ext cx="9135750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63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4348E-AF11-3696-5B69-FBB0CFEB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65E4CAE-AD44-F97F-1E12-EC494CDFCAAF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Thresholding: Otsu’s Method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FF779-7437-A609-B782-3EC3D2C85F95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0A1AF1-DB9C-EB3F-03F3-7C66C33932EA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An automatic image thresholding technique that finds an optimal threshold value that minimizes the variance within the two resulting groups of pixels (foreground and background).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326D90-185A-183B-E5EA-AD8FBA6284C1}"/>
              </a:ext>
            </a:extLst>
          </p:cNvPr>
          <p:cNvSpPr txBox="1"/>
          <p:nvPr/>
        </p:nvSpPr>
        <p:spPr>
          <a:xfrm>
            <a:off x="34184" y="6493808"/>
            <a:ext cx="9673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Nobuyuki Otsu (1979), </a:t>
            </a:r>
            <a:r>
              <a:rPr lang="en-US" altLang="ko-KR" sz="1600" dirty="0">
                <a:hlinkClick r:id="rId2"/>
              </a:rPr>
              <a:t>A Threshold Selection Method from Gray-Level Histograms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6A385E-86F3-F577-1FB1-E4AFA692C3E3}"/>
              </a:ext>
            </a:extLst>
          </p:cNvPr>
          <p:cNvSpPr txBox="1"/>
          <p:nvPr/>
        </p:nvSpPr>
        <p:spPr>
          <a:xfrm>
            <a:off x="191115" y="2096578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S1: Compute the histogram of the grayscale image, representing pixel intensity distribution.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59D85-0736-2FB3-F42B-C5C5AA1CD0EE}"/>
              </a:ext>
            </a:extLst>
          </p:cNvPr>
          <p:cNvSpPr txBox="1"/>
          <p:nvPr/>
        </p:nvSpPr>
        <p:spPr>
          <a:xfrm>
            <a:off x="197337" y="2496688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S2: Calculate the total variance of the image and test all possible threshold values (0 to 255 for an 8-bit image).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FB86C-955B-04F6-30D1-8D0E37918E0B}"/>
              </a:ext>
            </a:extLst>
          </p:cNvPr>
          <p:cNvSpPr txBox="1"/>
          <p:nvPr/>
        </p:nvSpPr>
        <p:spPr>
          <a:xfrm>
            <a:off x="191115" y="2896798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S3: For each threshold, split the histogram into two classes and compute the "within-class variance."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C9A0AE-5738-5E59-C35D-DCBA37BCECF9}"/>
              </a:ext>
            </a:extLst>
          </p:cNvPr>
          <p:cNvSpPr txBox="1"/>
          <p:nvPr/>
        </p:nvSpPr>
        <p:spPr>
          <a:xfrm>
            <a:off x="197337" y="3296908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S4: Select the threshold that minimizes this variance (or equivalently, maximizes the "between-class variance").</a:t>
            </a:r>
          </a:p>
        </p:txBody>
      </p:sp>
    </p:spTree>
    <p:extLst>
      <p:ext uri="{BB962C8B-B14F-4D97-AF65-F5344CB8AC3E}">
        <p14:creationId xmlns:p14="http://schemas.microsoft.com/office/powerpoint/2010/main" val="1135264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0A4AA7-B9BA-33C1-9EA9-63F0CB904F8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Thresholding: Otsu’s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0E4A4-C51B-CEA4-A2D3-FF19EBD21343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5A5327-8BE8-68E4-E269-E898753D7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22" y="2009897"/>
            <a:ext cx="4843493" cy="3632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AF8C8B-DAE0-494C-F3FB-0B8863E8AE02}"/>
              </a:ext>
            </a:extLst>
          </p:cNvPr>
          <p:cNvSpPr txBox="1"/>
          <p:nvPr/>
        </p:nvSpPr>
        <p:spPr>
          <a:xfrm>
            <a:off x="34184" y="6493808"/>
            <a:ext cx="96738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600" dirty="0"/>
              <a:t>Ref: </a:t>
            </a:r>
            <a:r>
              <a:rPr lang="en-US" altLang="ko-KR" sz="1600" dirty="0">
                <a:hlinkClick r:id="rId3"/>
              </a:rPr>
              <a:t>https://en.wikipedia.org/wiki/Otsu%27s_method</a:t>
            </a:r>
            <a:r>
              <a:rPr lang="en-US" altLang="ko-KR" sz="1600" dirty="0"/>
              <a:t> 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F19F0A-0404-22F0-BD7D-BF9C6084B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2033"/>
            <a:ext cx="5590478" cy="630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66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0A4AA7-B9BA-33C1-9EA9-63F0CB904F8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Thresholding: Otsu’s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0E4A4-C51B-CEA4-A2D3-FF19EBD21343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4BAD3-A7CA-BA0B-BC9B-61BF27E63D4B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>
                <a:solidFill>
                  <a:srgbClr val="00B050"/>
                </a:solidFill>
              </a:rPr>
              <a:t>Advantages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FAE6D-5076-C056-BFC9-7FD079045392}"/>
              </a:ext>
            </a:extLst>
          </p:cNvPr>
          <p:cNvSpPr txBox="1"/>
          <p:nvPr/>
        </p:nvSpPr>
        <p:spPr>
          <a:xfrm>
            <a:off x="191115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Automatic Thresholding: Doesn’t require manual input.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A9D10-B817-BF1C-DE9E-E16B7CE371E2}"/>
              </a:ext>
            </a:extLst>
          </p:cNvPr>
          <p:cNvSpPr txBox="1"/>
          <p:nvPr/>
        </p:nvSpPr>
        <p:spPr>
          <a:xfrm>
            <a:off x="197337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Simplicity: The algorithm is straightforward to implement.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60468-A93F-4C7D-4601-EF45BAFB9E04}"/>
              </a:ext>
            </a:extLst>
          </p:cNvPr>
          <p:cNvSpPr txBox="1"/>
          <p:nvPr/>
        </p:nvSpPr>
        <p:spPr>
          <a:xfrm>
            <a:off x="191115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Effective for Bimodal Histograms: Works well when the image has a clear background/foreground distinction.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C786AF-5475-E8B4-4747-0FA94A93AB62}"/>
              </a:ext>
            </a:extLst>
          </p:cNvPr>
          <p:cNvSpPr txBox="1"/>
          <p:nvPr/>
        </p:nvSpPr>
        <p:spPr>
          <a:xfrm>
            <a:off x="197337" y="299311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Robustness: Performs reliably on images with consistent lighting.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00BD1-5BBE-438F-81E3-B1F7DD90F5A6}"/>
              </a:ext>
            </a:extLst>
          </p:cNvPr>
          <p:cNvSpPr txBox="1"/>
          <p:nvPr/>
        </p:nvSpPr>
        <p:spPr>
          <a:xfrm>
            <a:off x="184893" y="3543130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>
                <a:solidFill>
                  <a:schemeClr val="accent2"/>
                </a:solidFill>
              </a:rPr>
              <a:t>Disadvantages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192B10-AB49-16FA-1FF1-7EDEE3FA9EA3}"/>
              </a:ext>
            </a:extLst>
          </p:cNvPr>
          <p:cNvSpPr txBox="1"/>
          <p:nvPr/>
        </p:nvSpPr>
        <p:spPr>
          <a:xfrm>
            <a:off x="184893" y="3943240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Assumes Bimodal Distribution: Struggles when images don’t have a clear two-class separation in the histogram.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CEC57E-0A97-5ACA-B154-FCAFE3EF9D21}"/>
              </a:ext>
            </a:extLst>
          </p:cNvPr>
          <p:cNvSpPr txBox="1"/>
          <p:nvPr/>
        </p:nvSpPr>
        <p:spPr>
          <a:xfrm>
            <a:off x="191115" y="4343350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Sensitive to Noise: Noise or uneven illumination can distort the histogram, leading to suboptimal thresholds.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3B988B-B07D-002B-0E39-858A63F564F8}"/>
              </a:ext>
            </a:extLst>
          </p:cNvPr>
          <p:cNvSpPr txBox="1"/>
          <p:nvPr/>
        </p:nvSpPr>
        <p:spPr>
          <a:xfrm>
            <a:off x="184893" y="4743460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Global Threshold Limitation: May fail on images with varying lighting or complex backgrounds.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98BF08-EA27-896A-17BD-E82E5C11E97D}"/>
              </a:ext>
            </a:extLst>
          </p:cNvPr>
          <p:cNvSpPr txBox="1"/>
          <p:nvPr/>
        </p:nvSpPr>
        <p:spPr>
          <a:xfrm>
            <a:off x="191115" y="5143570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Grayscale Only: Doesn’t directly handle color images without preprocessing.</a:t>
            </a:r>
          </a:p>
        </p:txBody>
      </p:sp>
    </p:spTree>
    <p:extLst>
      <p:ext uri="{BB962C8B-B14F-4D97-AF65-F5344CB8AC3E}">
        <p14:creationId xmlns:p14="http://schemas.microsoft.com/office/powerpoint/2010/main" val="4116160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099381" y="2505795"/>
            <a:ext cx="4872669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chemeClr val="bg1">
                    <a:lumMod val="85000"/>
                  </a:schemeClr>
                </a:solidFill>
              </a:rPr>
              <a:t>Point Operators</a:t>
            </a:r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Linear Filters</a:t>
            </a:r>
          </a:p>
        </p:txBody>
      </p:sp>
    </p:spTree>
    <p:extLst>
      <p:ext uri="{BB962C8B-B14F-4D97-AF65-F5344CB8AC3E}">
        <p14:creationId xmlns:p14="http://schemas.microsoft.com/office/powerpoint/2010/main" val="1534316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8EE3BA-ACDA-25ED-2CC6-FD698D0DEBEB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What is linear filtering?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59EAD-929B-986B-2CDB-CAC9163D4B5D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4CC919-A9D9-62BE-947A-00DFACCC7FAF}"/>
              </a:ext>
            </a:extLst>
          </p:cNvPr>
          <p:cNvSpPr txBox="1"/>
          <p:nvPr/>
        </p:nvSpPr>
        <p:spPr>
          <a:xfrm>
            <a:off x="191115" y="1392673"/>
            <a:ext cx="11809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Linear filtering is the filtering method where the value of output pixel is linear combinations of the neighboring input pixels.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8" name="Picture 7" descr="A diagram of a graphing process&#10;&#10;AI-generated content may be incorrect.">
            <a:extLst>
              <a:ext uri="{FF2B5EF4-FFF2-40B4-BE49-F238E27FC236}">
                <a16:creationId xmlns:a16="http://schemas.microsoft.com/office/drawing/2014/main" id="{5E9DA788-9B25-5294-62EB-FB6DDAA85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570" y="2241074"/>
            <a:ext cx="5822859" cy="398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21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8D3D2-9FB8-B6ED-7C91-85ABC1359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6602DB-F718-14BB-27F0-A636FD36679F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Examples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283E6-2B3D-04F4-9789-0D3BD5957E8D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5D4C4-31F3-90A7-34DF-5636AD187545}"/>
              </a:ext>
            </a:extLst>
          </p:cNvPr>
          <p:cNvSpPr txBox="1"/>
          <p:nvPr/>
        </p:nvSpPr>
        <p:spPr>
          <a:xfrm>
            <a:off x="191115" y="139267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Mean/Average Filter 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CB962-7040-1386-F1AD-D917559150B9}"/>
              </a:ext>
            </a:extLst>
          </p:cNvPr>
          <p:cNvSpPr txBox="1"/>
          <p:nvPr/>
        </p:nvSpPr>
        <p:spPr>
          <a:xfrm>
            <a:off x="197337" y="179278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Gaussian Filter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6B626-4228-7FE1-1276-8F02A7291AB6}"/>
              </a:ext>
            </a:extLst>
          </p:cNvPr>
          <p:cNvSpPr txBox="1"/>
          <p:nvPr/>
        </p:nvSpPr>
        <p:spPr>
          <a:xfrm>
            <a:off x="191115" y="219289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Edge Detection 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F5E1CA-3991-0CE3-3753-08F12730AE2F}"/>
              </a:ext>
            </a:extLst>
          </p:cNvPr>
          <p:cNvSpPr txBox="1"/>
          <p:nvPr/>
        </p:nvSpPr>
        <p:spPr>
          <a:xfrm>
            <a:off x="197337" y="259300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sz="2000" dirty="0"/>
              <a:t>Motion Blur Filter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D586A-AD45-FAD2-DD44-E56F1318B442}"/>
              </a:ext>
            </a:extLst>
          </p:cNvPr>
          <p:cNvSpPr txBox="1"/>
          <p:nvPr/>
        </p:nvSpPr>
        <p:spPr>
          <a:xfrm>
            <a:off x="197337" y="2993113"/>
            <a:ext cx="11809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</a:t>
            </a:r>
            <a:r>
              <a:rPr lang="en-US" sz="2000" dirty="0"/>
              <a:t>Convolution Filter</a:t>
            </a:r>
          </a:p>
        </p:txBody>
      </p:sp>
    </p:spTree>
    <p:extLst>
      <p:ext uri="{BB962C8B-B14F-4D97-AF65-F5344CB8AC3E}">
        <p14:creationId xmlns:p14="http://schemas.microsoft.com/office/powerpoint/2010/main" val="4493600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AF5E3-F2B1-3474-305D-7AF79B09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D392B2-2C2D-2597-2A17-C83E3593A2A6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Mean/Average Filter 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C8938-9E20-1048-B3F8-1FA5603E9151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306A92-E0BB-D229-E7F2-60512E41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331" y="168147"/>
            <a:ext cx="3106115" cy="1781929"/>
          </a:xfrm>
          <a:prstGeom prst="rect">
            <a:avLst/>
          </a:prstGeom>
        </p:spPr>
      </p:pic>
      <p:pic>
        <p:nvPicPr>
          <p:cNvPr id="24582" name="Picture 6" descr="CV] 1. Image Processing Basic: Linear Filters | by Awaits | Learning |  Medium">
            <a:extLst>
              <a:ext uri="{FF2B5EF4-FFF2-40B4-BE49-F238E27FC236}">
                <a16:creationId xmlns:a16="http://schemas.microsoft.com/office/drawing/2014/main" id="{774343D1-E1D9-F5B8-409C-C4CCB7D4E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98" y="1727693"/>
            <a:ext cx="8473319" cy="447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6767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C1EA6-D9A2-A3C0-DC5C-A2AD4F043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F83326-ED8F-0C20-CEEF-F033843C4E5B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Mean/Average Filter 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951B9-2DEE-B3B8-440B-49C832259B93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27650" name="Picture 2" descr="OpenCV #005 Averaging and Gaussian filter – Master Data Science">
            <a:extLst>
              <a:ext uri="{FF2B5EF4-FFF2-40B4-BE49-F238E27FC236}">
                <a16:creationId xmlns:a16="http://schemas.microsoft.com/office/drawing/2014/main" id="{0E7FA347-14A5-3A12-D46E-06247D64E1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43"/>
          <a:stretch/>
        </p:blipFill>
        <p:spPr bwMode="auto">
          <a:xfrm>
            <a:off x="1787495" y="1527393"/>
            <a:ext cx="8617009" cy="439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767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922B35-334D-9E3B-0882-3B26900FAB26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Mean/Average Filter 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60064-861D-D21E-42B1-E2A0BCF97FD2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53C2BF-F24C-339A-556B-05664B76C5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29"/>
          <a:stretch/>
        </p:blipFill>
        <p:spPr bwMode="auto">
          <a:xfrm>
            <a:off x="1415275" y="1789004"/>
            <a:ext cx="9361449" cy="461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36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6ACD2-6151-DAA0-206B-AC665FF8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093984-DA58-161E-8B14-D691BBD27F0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Gaussian Filter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FF554-AF05-C714-96C6-8A16AAE202D6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23558" name="Picture 6" descr="CV] 2. Image Processing Basic: Gaussian and Median Filter, Separable 2D  filter | by Awaits | Learning | Medium">
            <a:extLst>
              <a:ext uri="{FF2B5EF4-FFF2-40B4-BE49-F238E27FC236}">
                <a16:creationId xmlns:a16="http://schemas.microsoft.com/office/drawing/2014/main" id="{6DF9CA95-857A-B7C8-9B67-92063C622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996" y="628112"/>
            <a:ext cx="4760007" cy="12854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60" name="Picture 8" descr="Intensity Gradient Gaussian Filtering and Kernel Image - YouTube">
            <a:extLst>
              <a:ext uri="{FF2B5EF4-FFF2-40B4-BE49-F238E27FC236}">
                <a16:creationId xmlns:a16="http://schemas.microsoft.com/office/drawing/2014/main" id="{9B5C57AC-B310-8F98-CDF6-18C8C665F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2" b="13680"/>
          <a:stretch/>
        </p:blipFill>
        <p:spPr bwMode="auto">
          <a:xfrm>
            <a:off x="2330678" y="2013522"/>
            <a:ext cx="7537649" cy="415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054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5EF79-A2C3-952D-4D69-2C5D9B7A3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90D557-2706-AE25-A00B-E2B26874C1B7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Gaussian Filter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AE6E-3C7A-B96F-E690-64F7585BEBA8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28674" name="Picture 2" descr="Implementing Gaussian Filter by Using VHDL to Blur Images | by Muhammed  Kocaoğlu | Medium">
            <a:extLst>
              <a:ext uri="{FF2B5EF4-FFF2-40B4-BE49-F238E27FC236}">
                <a16:creationId xmlns:a16="http://schemas.microsoft.com/office/drawing/2014/main" id="{B3DF0363-4DCF-68C1-B18E-B9AD57CBE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517" y="1763904"/>
            <a:ext cx="7432965" cy="386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366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3663-E879-C5DB-AB76-4BD12A67B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CFCA29-163E-ECEF-EE23-07DE6BAA6D32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Edge Detection Filter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BD75E-93F1-FD2F-B252-CE007848AE37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AF396-6BA6-9847-3CF8-1FA92737C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88" y="1766542"/>
            <a:ext cx="3962086" cy="1589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FDC2FB-09A3-A3AC-5E87-046D73777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371" y="3689357"/>
            <a:ext cx="3947463" cy="1480299"/>
          </a:xfrm>
          <a:prstGeom prst="rect">
            <a:avLst/>
          </a:prstGeom>
        </p:spPr>
      </p:pic>
      <p:pic>
        <p:nvPicPr>
          <p:cNvPr id="22530" name="Picture 2">
            <a:extLst>
              <a:ext uri="{FF2B5EF4-FFF2-40B4-BE49-F238E27FC236}">
                <a16:creationId xmlns:a16="http://schemas.microsoft.com/office/drawing/2014/main" id="{ECD23EB4-F252-E2DE-7497-EE77D9D89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29" y="2689103"/>
            <a:ext cx="30480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E1AC0B-BBC0-39E1-8161-E064B5B0630E}"/>
              </a:ext>
            </a:extLst>
          </p:cNvPr>
          <p:cNvSpPr txBox="1"/>
          <p:nvPr/>
        </p:nvSpPr>
        <p:spPr>
          <a:xfrm>
            <a:off x="6771065" y="4112384"/>
            <a:ext cx="42791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</a:rPr>
              <a:t>Laplacian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0DE95C-1CC3-87C5-D8D0-2A35CF385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837" y="5503160"/>
            <a:ext cx="2000529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77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2B502-A207-AC0B-49A8-09C634B2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BEA777-A713-C9B1-CFF0-8AD8BBEAF295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Edge Detection Filter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D57FC-3406-A13E-B15B-2013832ED563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29698" name="Picture 2" descr="OpenCV: Image Gradients">
            <a:extLst>
              <a:ext uri="{FF2B5EF4-FFF2-40B4-BE49-F238E27FC236}">
                <a16:creationId xmlns:a16="http://schemas.microsoft.com/office/drawing/2014/main" id="{5F071D32-6408-1DE9-84EB-5ACC51DE2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812" y="407788"/>
            <a:ext cx="5746603" cy="621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70430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8BC42-805E-3030-7F1A-44303D5D3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18D70A-16CB-0187-1D59-47AE390AE77A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Motion Blur Filter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C1512-243F-01B0-F128-202EE6DB8D3F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20482" name="Picture 2" descr="How to apply Motion Blur to images | Medium">
            <a:extLst>
              <a:ext uri="{FF2B5EF4-FFF2-40B4-BE49-F238E27FC236}">
                <a16:creationId xmlns:a16="http://schemas.microsoft.com/office/drawing/2014/main" id="{71C3B36C-7D77-3B90-54FE-95287FE88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3" y="1573869"/>
            <a:ext cx="11199094" cy="477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4207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E09A-59B3-FDAE-3632-96450F8D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0851B7-2C52-3FBF-C7A8-367A3F2BED4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Convolution Filter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2A985-E977-6208-8A73-6E854868C83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2" name="Picture 1" descr="A diagram of a graphing process&#10;&#10;AI-generated content may be incorrect.">
            <a:extLst>
              <a:ext uri="{FF2B5EF4-FFF2-40B4-BE49-F238E27FC236}">
                <a16:creationId xmlns:a16="http://schemas.microsoft.com/office/drawing/2014/main" id="{CF54BC25-DCEC-BF3A-DCFB-7DCD69E9A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570" y="1915893"/>
            <a:ext cx="5822859" cy="398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929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E09A-59B3-FDAE-3632-96450F8D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nvolutional Neural Network | Deep Learning | Developers Breach">
            <a:extLst>
              <a:ext uri="{FF2B5EF4-FFF2-40B4-BE49-F238E27FC236}">
                <a16:creationId xmlns:a16="http://schemas.microsoft.com/office/drawing/2014/main" id="{28F1BCE0-2C6B-993A-BDFA-554692025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54" y="1050330"/>
            <a:ext cx="11618891" cy="546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0851B7-2C52-3FBF-C7A8-367A3F2BED4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Convolution Filter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2A985-E977-6208-8A73-6E854868C83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</p:spTree>
    <p:extLst>
      <p:ext uri="{BB962C8B-B14F-4D97-AF65-F5344CB8AC3E}">
        <p14:creationId xmlns:p14="http://schemas.microsoft.com/office/powerpoint/2010/main" val="28160645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E09A-59B3-FDAE-3632-96450F8D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0851B7-2C52-3FBF-C7A8-367A3F2BED49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Convolution Filter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2A985-E977-6208-8A73-6E854868C83B}"/>
              </a:ext>
            </a:extLst>
          </p:cNvPr>
          <p:cNvSpPr txBox="1"/>
          <p:nvPr/>
        </p:nvSpPr>
        <p:spPr>
          <a:xfrm>
            <a:off x="109348" y="407788"/>
            <a:ext cx="3848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Linear Filters</a:t>
            </a:r>
          </a:p>
        </p:txBody>
      </p:sp>
      <p:pic>
        <p:nvPicPr>
          <p:cNvPr id="6146" name="Picture 2" descr="Convolutional Neural Network: A Simple and Detailed Guide | by Aiblogtech |  Medium">
            <a:extLst>
              <a:ext uri="{FF2B5EF4-FFF2-40B4-BE49-F238E27FC236}">
                <a16:creationId xmlns:a16="http://schemas.microsoft.com/office/drawing/2014/main" id="{3DE50617-5817-2FCF-36CD-F115236D2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533" y="1348069"/>
            <a:ext cx="10400866" cy="492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924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79C5-28B9-093F-E79B-BD1DB47A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4B73BC-F930-0895-1265-A71BD73F6E09}"/>
              </a:ext>
            </a:extLst>
          </p:cNvPr>
          <p:cNvSpPr txBox="1"/>
          <p:nvPr/>
        </p:nvSpPr>
        <p:spPr>
          <a:xfrm>
            <a:off x="109347" y="407788"/>
            <a:ext cx="75049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Point Operators &amp; Linear Filters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4D72E-18BD-E734-CA98-DBD1302D3350}"/>
              </a:ext>
            </a:extLst>
          </p:cNvPr>
          <p:cNvSpPr txBox="1"/>
          <p:nvPr/>
        </p:nvSpPr>
        <p:spPr>
          <a:xfrm>
            <a:off x="191115" y="931008"/>
            <a:ext cx="427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i="1" dirty="0"/>
              <a:t>Practice</a:t>
            </a:r>
            <a:endParaRPr lang="en-US" altLang="ko-KR" sz="2400" i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5A277-F9A1-779B-FD38-B4266B677248}"/>
              </a:ext>
            </a:extLst>
          </p:cNvPr>
          <p:cNvSpPr txBox="1"/>
          <p:nvPr/>
        </p:nvSpPr>
        <p:spPr>
          <a:xfrm>
            <a:off x="337872" y="139267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Point Operators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BF8A6-F488-1175-86AD-4A2E62DCD87E}"/>
              </a:ext>
            </a:extLst>
          </p:cNvPr>
          <p:cNvSpPr txBox="1"/>
          <p:nvPr/>
        </p:nvSpPr>
        <p:spPr>
          <a:xfrm>
            <a:off x="337872" y="1792783"/>
            <a:ext cx="6187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/>
              <a:t>- Linear Filters</a:t>
            </a:r>
          </a:p>
        </p:txBody>
      </p:sp>
    </p:spTree>
    <p:extLst>
      <p:ext uri="{BB962C8B-B14F-4D97-AF65-F5344CB8AC3E}">
        <p14:creationId xmlns:p14="http://schemas.microsoft.com/office/powerpoint/2010/main" val="1162992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42224" y="2852184"/>
            <a:ext cx="53075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30902" y="3651873"/>
            <a:ext cx="1730195" cy="284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46" dirty="0"/>
              <a:t>anhtl@ut.edu.vn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13274" y="6542116"/>
            <a:ext cx="1454727" cy="3158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4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112854</TotalTime>
  <Words>882</Words>
  <Application>Microsoft Office PowerPoint</Application>
  <PresentationFormat>Widescreen</PresentationFormat>
  <Paragraphs>128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Tran Le Anh</cp:lastModifiedBy>
  <cp:revision>6219</cp:revision>
  <cp:lastPrinted>2021-09-06T03:39:39Z</cp:lastPrinted>
  <dcterms:created xsi:type="dcterms:W3CDTF">2020-10-10T03:17:57Z</dcterms:created>
  <dcterms:modified xsi:type="dcterms:W3CDTF">2025-03-24T06:24:59Z</dcterms:modified>
</cp:coreProperties>
</file>