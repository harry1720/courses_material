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61" r:id="rId2"/>
    <p:sldId id="331" r:id="rId3"/>
    <p:sldId id="1835" r:id="rId4"/>
    <p:sldId id="1837" r:id="rId5"/>
    <p:sldId id="1845" r:id="rId6"/>
    <p:sldId id="1844" r:id="rId7"/>
    <p:sldId id="1846" r:id="rId8"/>
    <p:sldId id="1838" r:id="rId9"/>
    <p:sldId id="1839" r:id="rId10"/>
    <p:sldId id="1847" r:id="rId11"/>
    <p:sldId id="1848" r:id="rId12"/>
    <p:sldId id="1841" r:id="rId13"/>
    <p:sldId id="1849" r:id="rId14"/>
    <p:sldId id="1842" r:id="rId15"/>
    <p:sldId id="1836" r:id="rId16"/>
    <p:sldId id="1805" r:id="rId17"/>
    <p:sldId id="1850" r:id="rId18"/>
    <p:sldId id="1851" r:id="rId19"/>
    <p:sldId id="1852" r:id="rId20"/>
    <p:sldId id="1853" r:id="rId21"/>
    <p:sldId id="1854" r:id="rId22"/>
    <p:sldId id="1855" r:id="rId23"/>
    <p:sldId id="1857" r:id="rId24"/>
    <p:sldId id="1856" r:id="rId25"/>
    <p:sldId id="1804" r:id="rId26"/>
    <p:sldId id="267" r:id="rId27"/>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extLst>
      <p:ext uri="{19B8F6BF-5375-455C-9EA6-DF929625EA0E}">
        <p15:presenceInfo xmlns:p15="http://schemas.microsoft.com/office/powerpoint/2012/main" userId="admin" providerId="None"/>
      </p:ext>
    </p:extLst>
  </p:cmAuthor>
  <p:cmAuthor id="2" name="Tran Le Anh" initials="TLA" lastIdx="3" clrIdx="1">
    <p:extLst>
      <p:ext uri="{19B8F6BF-5375-455C-9EA6-DF929625EA0E}">
        <p15:presenceInfo xmlns:p15="http://schemas.microsoft.com/office/powerpoint/2012/main" userId="Tran Le An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8189E"/>
    <a:srgbClr val="F0F0F0"/>
    <a:srgbClr val="F5F5F5"/>
    <a:srgbClr val="FDFDFD"/>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31" autoAdjust="0"/>
    <p:restoredTop sz="93988" autoAdjust="0"/>
  </p:normalViewPr>
  <p:slideViewPr>
    <p:cSldViewPr snapToGrid="0">
      <p:cViewPr varScale="1">
        <p:scale>
          <a:sx n="111" d="100"/>
          <a:sy n="111" d="100"/>
        </p:scale>
        <p:origin x="138" y="120"/>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47" cy="498328"/>
          </a:xfrm>
          <a:prstGeom prst="rect">
            <a:avLst/>
          </a:prstGeom>
        </p:spPr>
        <p:txBody>
          <a:bodyPr vert="horz" lIns="92108" tIns="46054" rIns="92108" bIns="46054" rtlCol="0"/>
          <a:lstStyle>
            <a:lvl1pPr algn="l">
              <a:defRPr sz="1200"/>
            </a:lvl1pPr>
          </a:lstStyle>
          <a:p>
            <a:endParaRPr lang="en-US"/>
          </a:p>
        </p:txBody>
      </p:sp>
      <p:sp>
        <p:nvSpPr>
          <p:cNvPr id="3" name="Date Placeholder 2"/>
          <p:cNvSpPr>
            <a:spLocks noGrp="1"/>
          </p:cNvSpPr>
          <p:nvPr>
            <p:ph type="dt" idx="1"/>
          </p:nvPr>
        </p:nvSpPr>
        <p:spPr>
          <a:xfrm>
            <a:off x="3849826" y="0"/>
            <a:ext cx="2946246" cy="498328"/>
          </a:xfrm>
          <a:prstGeom prst="rect">
            <a:avLst/>
          </a:prstGeom>
        </p:spPr>
        <p:txBody>
          <a:bodyPr vert="horz" lIns="92108" tIns="46054" rIns="92108" bIns="46054" rtlCol="0"/>
          <a:lstStyle>
            <a:lvl1pPr algn="r">
              <a:defRPr sz="1200"/>
            </a:lvl1pPr>
          </a:lstStyle>
          <a:p>
            <a:fld id="{73FD9801-A144-4B40-9127-0684BD7D58AB}" type="datetimeFigureOut">
              <a:rPr lang="en-US" smtClean="0"/>
              <a:t>3/30/2025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2108" tIns="46054" rIns="92108" bIns="46054" rtlCol="0" anchor="ctr"/>
          <a:lstStyle/>
          <a:p>
            <a:endParaRPr lang="en-US"/>
          </a:p>
        </p:txBody>
      </p:sp>
      <p:sp>
        <p:nvSpPr>
          <p:cNvPr id="5" name="Notes Placeholder 4"/>
          <p:cNvSpPr>
            <a:spLocks noGrp="1"/>
          </p:cNvSpPr>
          <p:nvPr>
            <p:ph type="body" sz="quarter" idx="3"/>
          </p:nvPr>
        </p:nvSpPr>
        <p:spPr>
          <a:xfrm>
            <a:off x="679288" y="4777245"/>
            <a:ext cx="5439101" cy="3908363"/>
          </a:xfrm>
          <a:prstGeom prst="rect">
            <a:avLst/>
          </a:prstGeom>
        </p:spPr>
        <p:txBody>
          <a:bodyPr vert="horz" lIns="92108" tIns="46054" rIns="92108" bIns="4605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310"/>
            <a:ext cx="2946247" cy="498328"/>
          </a:xfrm>
          <a:prstGeom prst="rect">
            <a:avLst/>
          </a:prstGeom>
        </p:spPr>
        <p:txBody>
          <a:bodyPr vert="horz" lIns="92108" tIns="46054" rIns="92108" bIns="46054" rtlCol="0" anchor="b"/>
          <a:lstStyle>
            <a:lvl1pPr algn="l">
              <a:defRPr sz="1200"/>
            </a:lvl1pPr>
          </a:lstStyle>
          <a:p>
            <a:endParaRPr lang="en-US"/>
          </a:p>
        </p:txBody>
      </p:sp>
      <p:sp>
        <p:nvSpPr>
          <p:cNvPr id="7" name="Slide Number Placeholder 6"/>
          <p:cNvSpPr>
            <a:spLocks noGrp="1"/>
          </p:cNvSpPr>
          <p:nvPr>
            <p:ph type="sldNum" sz="quarter" idx="5"/>
          </p:nvPr>
        </p:nvSpPr>
        <p:spPr>
          <a:xfrm>
            <a:off x="3849826" y="9428310"/>
            <a:ext cx="2946246" cy="498328"/>
          </a:xfrm>
          <a:prstGeom prst="rect">
            <a:avLst/>
          </a:prstGeom>
        </p:spPr>
        <p:txBody>
          <a:bodyPr vert="horz" lIns="92108" tIns="46054" rIns="92108" bIns="46054" rtlCol="0" anchor="b"/>
          <a:lstStyle>
            <a:lvl1pPr algn="r">
              <a:defRPr sz="1200"/>
            </a:lvl1pPr>
          </a:lstStyle>
          <a:p>
            <a:fld id="{5E947791-EB80-4ECA-83D2-BD9595BD98A0}" type="slidenum">
              <a:rPr lang="en-US" smtClean="0"/>
              <a:t>‹#›</a:t>
            </a:fld>
            <a:endParaRPr lang="en-US"/>
          </a:p>
        </p:txBody>
      </p:sp>
    </p:spTree>
    <p:extLst>
      <p:ext uri="{BB962C8B-B14F-4D97-AF65-F5344CB8AC3E}">
        <p14:creationId xmlns:p14="http://schemas.microsoft.com/office/powerpoint/2010/main" val="1147632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6401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Content Placeholder 2"/>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385465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a:t>Click to edit Master text styles</a:t>
            </a:r>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47113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Date Placeholder 4"/>
          <p:cNvSpPr>
            <a:spLocks noGrp="1"/>
          </p:cNvSpPr>
          <p:nvPr>
            <p:ph type="dt" sz="half" idx="10"/>
          </p:nvPr>
        </p:nvSpPr>
        <p:spPr/>
        <p:txBody>
          <a:bodyPr/>
          <a:lstStyle/>
          <a:p>
            <a:fld id="{082BFE88-591F-4A3E-B0A4-257ECE97BEAB}"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839532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ko-KR"/>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7" name="Date Placeholder 6"/>
          <p:cNvSpPr>
            <a:spLocks noGrp="1"/>
          </p:cNvSpPr>
          <p:nvPr>
            <p:ph type="dt" sz="half" idx="10"/>
          </p:nvPr>
        </p:nvSpPr>
        <p:spPr/>
        <p:txBody>
          <a:bodyPr/>
          <a:lstStyle/>
          <a:p>
            <a:fld id="{082BFE88-591F-4A3E-B0A4-257ECE97BEAB}" type="datetimeFigureOut">
              <a:rPr lang="en-US" smtClean="0"/>
              <a:t>3/30/2025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74985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Date Placeholder 2"/>
          <p:cNvSpPr>
            <a:spLocks noGrp="1"/>
          </p:cNvSpPr>
          <p:nvPr>
            <p:ph type="dt" sz="half" idx="10"/>
          </p:nvPr>
        </p:nvSpPr>
        <p:spPr/>
        <p:txBody>
          <a:bodyPr/>
          <a:lstStyle/>
          <a:p>
            <a:fld id="{082BFE88-591F-4A3E-B0A4-257ECE97BEAB}" type="datetimeFigureOut">
              <a:rPr lang="en-US" smtClean="0"/>
              <a:t>3/30/2025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856810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2BFE88-591F-4A3E-B0A4-257ECE97BEAB}" type="datetimeFigureOut">
              <a:rPr lang="en-US" smtClean="0"/>
              <a:t>3/30/2025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40798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fld id="{082BFE88-591F-4A3E-B0A4-257ECE97BEAB}"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99195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fld id="{082BFE88-591F-4A3E-B0A4-257ECE97BEAB}"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416254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726672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ko-KR"/>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124180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BFE88-591F-4A3E-B0A4-257ECE97BEAB}" type="datetimeFigureOut">
              <a:rPr lang="en-US" smtClean="0"/>
              <a:t>3/30/2025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Rectangle 6">
            <a:extLst>
              <a:ext uri="{FF2B5EF4-FFF2-40B4-BE49-F238E27FC236}">
                <a16:creationId xmlns:a16="http://schemas.microsoft.com/office/drawing/2014/main" id="{F62F85EF-21C5-415F-AEF3-0F51C92A13CF}"/>
              </a:ext>
            </a:extLst>
          </p:cNvPr>
          <p:cNvSpPr/>
          <p:nvPr userDrawn="1"/>
        </p:nvSpPr>
        <p:spPr>
          <a:xfrm>
            <a:off x="9877587" y="6610027"/>
            <a:ext cx="2314413" cy="2479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100" dirty="0">
                <a:solidFill>
                  <a:schemeClr val="bg1">
                    <a:lumMod val="75000"/>
                  </a:schemeClr>
                </a:solidFill>
              </a:rPr>
              <a:t>anhtl@ut.edu.vn</a:t>
            </a:r>
          </a:p>
        </p:txBody>
      </p:sp>
      <p:sp>
        <p:nvSpPr>
          <p:cNvPr id="8" name="TextBox 7">
            <a:extLst>
              <a:ext uri="{FF2B5EF4-FFF2-40B4-BE49-F238E27FC236}">
                <a16:creationId xmlns:a16="http://schemas.microsoft.com/office/drawing/2014/main" id="{023A4BF7-4007-4EE9-8948-4D4E0A77C823}"/>
              </a:ext>
            </a:extLst>
          </p:cNvPr>
          <p:cNvSpPr txBox="1"/>
          <p:nvPr userDrawn="1"/>
        </p:nvSpPr>
        <p:spPr>
          <a:xfrm>
            <a:off x="4053216" y="30693"/>
            <a:ext cx="4085568" cy="284052"/>
          </a:xfrm>
          <a:prstGeom prst="rect">
            <a:avLst/>
          </a:prstGeom>
          <a:noFill/>
        </p:spPr>
        <p:txBody>
          <a:bodyPr wrap="square" rtlCol="0">
            <a:spAutoFit/>
          </a:bodyPr>
          <a:lstStyle/>
          <a:p>
            <a:pPr algn="ctr"/>
            <a:r>
              <a:rPr lang="en-US" sz="1246" dirty="0">
                <a:solidFill>
                  <a:schemeClr val="bg1">
                    <a:lumMod val="75000"/>
                  </a:schemeClr>
                </a:solidFill>
              </a:rPr>
              <a:t>Ho Chi Minh City University of Transport</a:t>
            </a:r>
          </a:p>
        </p:txBody>
      </p:sp>
    </p:spTree>
    <p:extLst>
      <p:ext uri="{BB962C8B-B14F-4D97-AF65-F5344CB8AC3E}">
        <p14:creationId xmlns:p14="http://schemas.microsoft.com/office/powerpoint/2010/main" val="11005746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ciencedirect.com/science/article/pii/S2314728817300508"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uotechnology.edu.iq/ce/Lectures/Image_Processing_4th/DIP_Lecture8.pdf" TargetMode="Externa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hyperlink" Target="https://uotechnology.edu.iq/ce/Lectures/Image_Processing_4th/DIP_Lecture8.pdf" TargetMode="Externa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hyperlink" Target="https://uotechnology.edu.iq/ce/Lectures/Image_Processing_4th/DIP_Lecture8.pdf" TargetMode="Externa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hyperlink" Target="https://onlinelibrary.wiley.com/doi/full/10.1155/2022/4345494"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geometric-transformation-in-image-processing-1/"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geometric-transformation-in-image-processing-1/"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hyperlink" Target="https://www.geeksforgeeks.org/python-opencv-affine-transformation/"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aussian37.github.io/vision-concept-image_transformation/" TargetMode="Externa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6040" y="2762804"/>
            <a:ext cx="8579899" cy="754694"/>
          </a:xfrm>
          <a:prstGeom prst="rect">
            <a:avLst/>
          </a:prstGeom>
          <a:noFill/>
        </p:spPr>
        <p:txBody>
          <a:bodyPr wrap="square" rtlCol="0">
            <a:spAutoFit/>
          </a:bodyPr>
          <a:lstStyle/>
          <a:p>
            <a:pPr algn="ctr">
              <a:lnSpc>
                <a:spcPct val="150000"/>
              </a:lnSpc>
            </a:pPr>
            <a:r>
              <a:rPr lang="en-US" sz="3200" b="1" dirty="0"/>
              <a:t>Wavelet Transform &amp; Geometric Transformations</a:t>
            </a:r>
          </a:p>
        </p:txBody>
      </p:sp>
      <p:sp>
        <p:nvSpPr>
          <p:cNvPr id="3" name="TextBox 2"/>
          <p:cNvSpPr txBox="1"/>
          <p:nvPr/>
        </p:nvSpPr>
        <p:spPr>
          <a:xfrm>
            <a:off x="4922430" y="4487464"/>
            <a:ext cx="2347122" cy="369332"/>
          </a:xfrm>
          <a:prstGeom prst="rect">
            <a:avLst/>
          </a:prstGeom>
          <a:noFill/>
        </p:spPr>
        <p:txBody>
          <a:bodyPr wrap="square" rtlCol="0">
            <a:spAutoFit/>
          </a:bodyPr>
          <a:lstStyle/>
          <a:p>
            <a:pPr algn="ctr"/>
            <a:r>
              <a:rPr lang="en-US" dirty="0"/>
              <a:t>Tran Le Anh</a:t>
            </a:r>
          </a:p>
        </p:txBody>
      </p:sp>
      <p:sp>
        <p:nvSpPr>
          <p:cNvPr id="4" name="TextBox 3"/>
          <p:cNvSpPr txBox="1"/>
          <p:nvPr/>
        </p:nvSpPr>
        <p:spPr>
          <a:xfrm>
            <a:off x="4563905" y="30525"/>
            <a:ext cx="3064176" cy="284052"/>
          </a:xfrm>
          <a:prstGeom prst="rect">
            <a:avLst/>
          </a:prstGeom>
          <a:solidFill>
            <a:schemeClr val="bg1"/>
          </a:solidFill>
        </p:spPr>
        <p:txBody>
          <a:bodyPr wrap="square" rtlCol="0">
            <a:spAutoFit/>
          </a:bodyPr>
          <a:lstStyle/>
          <a:p>
            <a:pPr algn="ctr"/>
            <a:r>
              <a:rPr lang="en-US" sz="1246" dirty="0"/>
              <a:t>Ho Chi Minh City University of Transport</a:t>
            </a:r>
          </a:p>
        </p:txBody>
      </p:sp>
      <p:sp>
        <p:nvSpPr>
          <p:cNvPr id="5" name="TextBox 4"/>
          <p:cNvSpPr txBox="1"/>
          <p:nvPr/>
        </p:nvSpPr>
        <p:spPr>
          <a:xfrm>
            <a:off x="4853013" y="4856796"/>
            <a:ext cx="2485955" cy="338554"/>
          </a:xfrm>
          <a:prstGeom prst="rect">
            <a:avLst/>
          </a:prstGeom>
          <a:noFill/>
        </p:spPr>
        <p:txBody>
          <a:bodyPr wrap="square" rtlCol="0">
            <a:spAutoFit/>
          </a:bodyPr>
          <a:lstStyle/>
          <a:p>
            <a:pPr algn="ctr"/>
            <a:r>
              <a:rPr lang="en-US" sz="1600" dirty="0"/>
              <a:t>anhtl@ut.edu.vn</a:t>
            </a:r>
          </a:p>
        </p:txBody>
      </p:sp>
      <p:sp>
        <p:nvSpPr>
          <p:cNvPr id="6" name="TextBox 5"/>
          <p:cNvSpPr txBox="1"/>
          <p:nvPr/>
        </p:nvSpPr>
        <p:spPr>
          <a:xfrm>
            <a:off x="5230894" y="6534648"/>
            <a:ext cx="1730195" cy="284052"/>
          </a:xfrm>
          <a:prstGeom prst="rect">
            <a:avLst/>
          </a:prstGeom>
          <a:noFill/>
        </p:spPr>
        <p:txBody>
          <a:bodyPr wrap="square" rtlCol="0">
            <a:spAutoFit/>
          </a:bodyPr>
          <a:lstStyle/>
          <a:p>
            <a:pPr algn="ctr"/>
            <a:r>
              <a:rPr lang="en-US" sz="1246" dirty="0"/>
              <a:t>03-2025</a:t>
            </a:r>
          </a:p>
        </p:txBody>
      </p:sp>
      <p:sp>
        <p:nvSpPr>
          <p:cNvPr id="7" name="TextBox 6"/>
          <p:cNvSpPr txBox="1"/>
          <p:nvPr/>
        </p:nvSpPr>
        <p:spPr>
          <a:xfrm>
            <a:off x="3752912" y="1458669"/>
            <a:ext cx="4686156" cy="400110"/>
          </a:xfrm>
          <a:prstGeom prst="rect">
            <a:avLst/>
          </a:prstGeom>
          <a:noFill/>
        </p:spPr>
        <p:txBody>
          <a:bodyPr wrap="square" rtlCol="0">
            <a:spAutoFit/>
          </a:bodyPr>
          <a:lstStyle/>
          <a:p>
            <a:pPr algn="ctr"/>
            <a:r>
              <a:rPr lang="en-US" sz="2000" dirty="0"/>
              <a:t>Image Processing and Computer Vision</a:t>
            </a:r>
          </a:p>
        </p:txBody>
      </p:sp>
      <p:sp>
        <p:nvSpPr>
          <p:cNvPr id="8" name="Rectangle 7"/>
          <p:cNvSpPr/>
          <p:nvPr/>
        </p:nvSpPr>
        <p:spPr>
          <a:xfrm>
            <a:off x="10714413" y="6534648"/>
            <a:ext cx="1454727" cy="3158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AC10F536-84A9-F63C-9FC0-C898AC1A1B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71141" y="61725"/>
            <a:ext cx="2252164" cy="505067"/>
          </a:xfrm>
          <a:prstGeom prst="rect">
            <a:avLst/>
          </a:prstGeom>
        </p:spPr>
      </p:pic>
    </p:spTree>
    <p:extLst>
      <p:ext uri="{BB962C8B-B14F-4D97-AF65-F5344CB8AC3E}">
        <p14:creationId xmlns:p14="http://schemas.microsoft.com/office/powerpoint/2010/main" val="349254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extBox 8"/>
          <p:cNvSpPr txBox="1"/>
          <p:nvPr/>
        </p:nvSpPr>
        <p:spPr>
          <a:xfrm>
            <a:off x="3099381" y="2505795"/>
            <a:ext cx="4872669" cy="967957"/>
          </a:xfrm>
          <a:prstGeom prst="rect">
            <a:avLst/>
          </a:prstGeom>
          <a:noFill/>
        </p:spPr>
        <p:txBody>
          <a:bodyPr wrap="square" rtlCol="0">
            <a:spAutoFit/>
          </a:bodyPr>
          <a:lstStyle/>
          <a:p>
            <a:pPr>
              <a:lnSpc>
                <a:spcPct val="150000"/>
              </a:lnSpc>
            </a:pPr>
            <a:r>
              <a:rPr lang="en-US" altLang="ko-KR" sz="2000" b="1" dirty="0"/>
              <a:t>Wavelet Transform </a:t>
            </a:r>
          </a:p>
          <a:p>
            <a:pPr>
              <a:lnSpc>
                <a:spcPct val="150000"/>
              </a:lnSpc>
            </a:pPr>
            <a:r>
              <a:rPr lang="en-US" altLang="ko-KR" sz="2000" b="1" dirty="0"/>
              <a:t>Geometric Transformations</a:t>
            </a:r>
          </a:p>
        </p:txBody>
      </p:sp>
    </p:spTree>
    <p:extLst>
      <p:ext uri="{BB962C8B-B14F-4D97-AF65-F5344CB8AC3E}">
        <p14:creationId xmlns:p14="http://schemas.microsoft.com/office/powerpoint/2010/main" val="187719318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099381" y="2505795"/>
            <a:ext cx="4872669" cy="967957"/>
          </a:xfrm>
          <a:prstGeom prst="rect">
            <a:avLst/>
          </a:prstGeom>
          <a:noFill/>
        </p:spPr>
        <p:txBody>
          <a:bodyPr wrap="square" rtlCol="0">
            <a:spAutoFit/>
          </a:bodyPr>
          <a:lstStyle/>
          <a:p>
            <a:pPr>
              <a:lnSpc>
                <a:spcPct val="150000"/>
              </a:lnSpc>
            </a:pPr>
            <a:r>
              <a:rPr lang="en-US" altLang="ko-KR" sz="2000" b="1" dirty="0"/>
              <a:t>Wavelet Transform </a:t>
            </a:r>
          </a:p>
          <a:p>
            <a:pPr>
              <a:lnSpc>
                <a:spcPct val="150000"/>
              </a:lnSpc>
            </a:pPr>
            <a:r>
              <a:rPr lang="en-US" altLang="ko-KR" sz="2000" b="1" dirty="0">
                <a:solidFill>
                  <a:schemeClr val="bg1">
                    <a:lumMod val="85000"/>
                  </a:schemeClr>
                </a:solidFill>
              </a:rPr>
              <a:t>Geometric Transformations</a:t>
            </a:r>
          </a:p>
        </p:txBody>
      </p:sp>
    </p:spTree>
    <p:extLst>
      <p:ext uri="{BB962C8B-B14F-4D97-AF65-F5344CB8AC3E}">
        <p14:creationId xmlns:p14="http://schemas.microsoft.com/office/powerpoint/2010/main" val="2037465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8852-3CC6-1C3C-8A6F-55A92BF5344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914691F-470B-1194-598C-4D974753952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Concept</a:t>
            </a:r>
          </a:p>
        </p:txBody>
      </p:sp>
      <p:sp>
        <p:nvSpPr>
          <p:cNvPr id="10" name="TextBox 9">
            <a:extLst>
              <a:ext uri="{FF2B5EF4-FFF2-40B4-BE49-F238E27FC236}">
                <a16:creationId xmlns:a16="http://schemas.microsoft.com/office/drawing/2014/main" id="{F8077E23-6924-089B-5AC5-F76D9E8BDF5B}"/>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2" name="TextBox 1">
            <a:extLst>
              <a:ext uri="{FF2B5EF4-FFF2-40B4-BE49-F238E27FC236}">
                <a16:creationId xmlns:a16="http://schemas.microsoft.com/office/drawing/2014/main" id="{AB8BAF3C-714B-C558-873B-C881AB913288}"/>
              </a:ext>
            </a:extLst>
          </p:cNvPr>
          <p:cNvSpPr txBox="1"/>
          <p:nvPr/>
        </p:nvSpPr>
        <p:spPr>
          <a:xfrm>
            <a:off x="191115" y="1392673"/>
            <a:ext cx="11809770" cy="1015663"/>
          </a:xfrm>
          <a:prstGeom prst="rect">
            <a:avLst/>
          </a:prstGeom>
          <a:noFill/>
        </p:spPr>
        <p:txBody>
          <a:bodyPr wrap="square" rtlCol="0">
            <a:spAutoFit/>
          </a:bodyPr>
          <a:lstStyle/>
          <a:p>
            <a:pPr algn="just"/>
            <a:r>
              <a:rPr lang="en-US" altLang="ko-KR" sz="2000" dirty="0"/>
              <a:t>In image processing, a wavelet transform (WT) is a mathematical technique that decomposes an image into different frequency components at different scales (multiresolution) to reveal both spatial and frequency attributes, useful for tasks like compression, denoising, and feature extraction.</a:t>
            </a:r>
            <a:endParaRPr lang="en-US" altLang="ko-KR" sz="2000" dirty="0">
              <a:solidFill>
                <a:srgbClr val="FF0000"/>
              </a:solidFill>
            </a:endParaRPr>
          </a:p>
        </p:txBody>
      </p:sp>
      <p:pic>
        <p:nvPicPr>
          <p:cNvPr id="5" name="Picture 4">
            <a:extLst>
              <a:ext uri="{FF2B5EF4-FFF2-40B4-BE49-F238E27FC236}">
                <a16:creationId xmlns:a16="http://schemas.microsoft.com/office/drawing/2014/main" id="{007F1B25-BD16-EE77-DB6D-FE8FC3FF571E}"/>
              </a:ext>
            </a:extLst>
          </p:cNvPr>
          <p:cNvPicPr>
            <a:picLocks noChangeAspect="1"/>
          </p:cNvPicPr>
          <p:nvPr/>
        </p:nvPicPr>
        <p:blipFill>
          <a:blip r:embed="rId2"/>
          <a:srcRect r="49675" b="8190"/>
          <a:stretch/>
        </p:blipFill>
        <p:spPr>
          <a:xfrm>
            <a:off x="1001429" y="3111217"/>
            <a:ext cx="2775812" cy="2640103"/>
          </a:xfrm>
          <a:prstGeom prst="rect">
            <a:avLst/>
          </a:prstGeom>
        </p:spPr>
      </p:pic>
      <p:sp>
        <p:nvSpPr>
          <p:cNvPr id="11" name="TextBox 10">
            <a:extLst>
              <a:ext uri="{FF2B5EF4-FFF2-40B4-BE49-F238E27FC236}">
                <a16:creationId xmlns:a16="http://schemas.microsoft.com/office/drawing/2014/main" id="{80B13DB4-1506-7847-C6C5-F2E62B20E193}"/>
              </a:ext>
            </a:extLst>
          </p:cNvPr>
          <p:cNvSpPr txBox="1"/>
          <p:nvPr/>
        </p:nvSpPr>
        <p:spPr>
          <a:xfrm>
            <a:off x="4615521" y="4000476"/>
            <a:ext cx="939245" cy="400110"/>
          </a:xfrm>
          <a:prstGeom prst="rect">
            <a:avLst/>
          </a:prstGeom>
          <a:noFill/>
        </p:spPr>
        <p:txBody>
          <a:bodyPr wrap="square" rtlCol="0">
            <a:spAutoFit/>
          </a:bodyPr>
          <a:lstStyle/>
          <a:p>
            <a:pPr algn="just"/>
            <a:r>
              <a:rPr lang="en-US" altLang="ko-KR" sz="2000" dirty="0"/>
              <a:t>Image</a:t>
            </a:r>
            <a:endParaRPr lang="en-US" altLang="ko-KR" sz="2000" dirty="0">
              <a:solidFill>
                <a:srgbClr val="FF0000"/>
              </a:solidFill>
            </a:endParaRPr>
          </a:p>
        </p:txBody>
      </p:sp>
      <p:sp>
        <p:nvSpPr>
          <p:cNvPr id="12" name="TextBox 11">
            <a:extLst>
              <a:ext uri="{FF2B5EF4-FFF2-40B4-BE49-F238E27FC236}">
                <a16:creationId xmlns:a16="http://schemas.microsoft.com/office/drawing/2014/main" id="{D558FDE6-B7F8-B0B4-9DFB-5120D2D3037A}"/>
              </a:ext>
            </a:extLst>
          </p:cNvPr>
          <p:cNvSpPr txBox="1"/>
          <p:nvPr/>
        </p:nvSpPr>
        <p:spPr>
          <a:xfrm>
            <a:off x="6172912" y="3255027"/>
            <a:ext cx="4133316" cy="400110"/>
          </a:xfrm>
          <a:prstGeom prst="rect">
            <a:avLst/>
          </a:prstGeom>
          <a:noFill/>
        </p:spPr>
        <p:txBody>
          <a:bodyPr wrap="square" rtlCol="0">
            <a:spAutoFit/>
          </a:bodyPr>
          <a:lstStyle/>
          <a:p>
            <a:pPr algn="just"/>
            <a:r>
              <a:rPr lang="en-US" altLang="ko-KR" sz="2000" dirty="0"/>
              <a:t>Low Frequency (Approximation)</a:t>
            </a:r>
            <a:endParaRPr lang="en-US" altLang="ko-KR" sz="2000" dirty="0">
              <a:solidFill>
                <a:srgbClr val="FF0000"/>
              </a:solidFill>
            </a:endParaRPr>
          </a:p>
        </p:txBody>
      </p:sp>
      <p:sp>
        <p:nvSpPr>
          <p:cNvPr id="13" name="TextBox 12">
            <a:extLst>
              <a:ext uri="{FF2B5EF4-FFF2-40B4-BE49-F238E27FC236}">
                <a16:creationId xmlns:a16="http://schemas.microsoft.com/office/drawing/2014/main" id="{BC5BEBA0-F5BB-F527-022D-97E2C4A340B3}"/>
              </a:ext>
            </a:extLst>
          </p:cNvPr>
          <p:cNvSpPr txBox="1"/>
          <p:nvPr/>
        </p:nvSpPr>
        <p:spPr>
          <a:xfrm>
            <a:off x="6172912" y="4732565"/>
            <a:ext cx="2775813" cy="400110"/>
          </a:xfrm>
          <a:prstGeom prst="rect">
            <a:avLst/>
          </a:prstGeom>
          <a:noFill/>
        </p:spPr>
        <p:txBody>
          <a:bodyPr wrap="square" rtlCol="0">
            <a:spAutoFit/>
          </a:bodyPr>
          <a:lstStyle/>
          <a:p>
            <a:pPr algn="just"/>
            <a:r>
              <a:rPr lang="en-US" altLang="ko-KR" sz="2000" dirty="0"/>
              <a:t>High Frequency (Details) </a:t>
            </a:r>
            <a:endParaRPr lang="en-US" altLang="ko-KR" sz="2000" dirty="0">
              <a:solidFill>
                <a:srgbClr val="FF0000"/>
              </a:solidFill>
            </a:endParaRPr>
          </a:p>
        </p:txBody>
      </p:sp>
      <p:sp>
        <p:nvSpPr>
          <p:cNvPr id="14" name="TextBox 13">
            <a:extLst>
              <a:ext uri="{FF2B5EF4-FFF2-40B4-BE49-F238E27FC236}">
                <a16:creationId xmlns:a16="http://schemas.microsoft.com/office/drawing/2014/main" id="{514E264E-8BAE-12FD-A50A-7D1BAC46C00D}"/>
              </a:ext>
            </a:extLst>
          </p:cNvPr>
          <p:cNvSpPr txBox="1"/>
          <p:nvPr/>
        </p:nvSpPr>
        <p:spPr>
          <a:xfrm>
            <a:off x="9569866" y="4200531"/>
            <a:ext cx="1719130" cy="400110"/>
          </a:xfrm>
          <a:prstGeom prst="rect">
            <a:avLst/>
          </a:prstGeom>
          <a:noFill/>
        </p:spPr>
        <p:txBody>
          <a:bodyPr wrap="square" rtlCol="0">
            <a:spAutoFit/>
          </a:bodyPr>
          <a:lstStyle/>
          <a:p>
            <a:pPr algn="just"/>
            <a:r>
              <a:rPr lang="en-US" altLang="ko-KR" sz="2000" dirty="0"/>
              <a:t>Horizontal</a:t>
            </a:r>
            <a:endParaRPr lang="en-US" altLang="ko-KR" sz="2000" dirty="0">
              <a:solidFill>
                <a:srgbClr val="FF0000"/>
              </a:solidFill>
            </a:endParaRPr>
          </a:p>
        </p:txBody>
      </p:sp>
      <p:sp>
        <p:nvSpPr>
          <p:cNvPr id="15" name="TextBox 14">
            <a:extLst>
              <a:ext uri="{FF2B5EF4-FFF2-40B4-BE49-F238E27FC236}">
                <a16:creationId xmlns:a16="http://schemas.microsoft.com/office/drawing/2014/main" id="{4F189A78-D5B3-DC7A-925C-00583FFFEFD0}"/>
              </a:ext>
            </a:extLst>
          </p:cNvPr>
          <p:cNvSpPr txBox="1"/>
          <p:nvPr/>
        </p:nvSpPr>
        <p:spPr>
          <a:xfrm>
            <a:off x="9569866" y="4725599"/>
            <a:ext cx="1719130" cy="400110"/>
          </a:xfrm>
          <a:prstGeom prst="rect">
            <a:avLst/>
          </a:prstGeom>
          <a:noFill/>
        </p:spPr>
        <p:txBody>
          <a:bodyPr wrap="square" rtlCol="0">
            <a:spAutoFit/>
          </a:bodyPr>
          <a:lstStyle/>
          <a:p>
            <a:pPr algn="just"/>
            <a:r>
              <a:rPr lang="en-US" altLang="ko-KR" sz="2000" dirty="0"/>
              <a:t>Vertical </a:t>
            </a:r>
            <a:endParaRPr lang="en-US" altLang="ko-KR" sz="2000" dirty="0">
              <a:solidFill>
                <a:srgbClr val="FF0000"/>
              </a:solidFill>
            </a:endParaRPr>
          </a:p>
        </p:txBody>
      </p:sp>
      <p:sp>
        <p:nvSpPr>
          <p:cNvPr id="16" name="TextBox 15">
            <a:extLst>
              <a:ext uri="{FF2B5EF4-FFF2-40B4-BE49-F238E27FC236}">
                <a16:creationId xmlns:a16="http://schemas.microsoft.com/office/drawing/2014/main" id="{5D7ABB50-02E9-292E-05B9-9DF1DB071595}"/>
              </a:ext>
            </a:extLst>
          </p:cNvPr>
          <p:cNvSpPr txBox="1"/>
          <p:nvPr/>
        </p:nvSpPr>
        <p:spPr>
          <a:xfrm>
            <a:off x="9569866" y="5264599"/>
            <a:ext cx="1719130" cy="400110"/>
          </a:xfrm>
          <a:prstGeom prst="rect">
            <a:avLst/>
          </a:prstGeom>
          <a:noFill/>
        </p:spPr>
        <p:txBody>
          <a:bodyPr wrap="square" rtlCol="0">
            <a:spAutoFit/>
          </a:bodyPr>
          <a:lstStyle/>
          <a:p>
            <a:pPr algn="just"/>
            <a:r>
              <a:rPr lang="en-US" altLang="ko-KR" sz="2000" dirty="0"/>
              <a:t>Diagonal  </a:t>
            </a:r>
            <a:endParaRPr lang="en-US" altLang="ko-KR" sz="2000" dirty="0">
              <a:solidFill>
                <a:srgbClr val="FF0000"/>
              </a:solidFill>
            </a:endParaRPr>
          </a:p>
        </p:txBody>
      </p:sp>
      <p:cxnSp>
        <p:nvCxnSpPr>
          <p:cNvPr id="18" name="Straight Arrow Connector 17">
            <a:extLst>
              <a:ext uri="{FF2B5EF4-FFF2-40B4-BE49-F238E27FC236}">
                <a16:creationId xmlns:a16="http://schemas.microsoft.com/office/drawing/2014/main" id="{C68F45EB-C277-B6DF-0206-0A647C4388BB}"/>
              </a:ext>
            </a:extLst>
          </p:cNvPr>
          <p:cNvCxnSpPr>
            <a:stCxn id="13" idx="3"/>
            <a:endCxn id="14" idx="1"/>
          </p:cNvCxnSpPr>
          <p:nvPr/>
        </p:nvCxnSpPr>
        <p:spPr>
          <a:xfrm flipV="1">
            <a:off x="8948725" y="4400586"/>
            <a:ext cx="621141" cy="53203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A6D1763-DD2A-AA60-9FC9-9DAEA9FBDC34}"/>
              </a:ext>
            </a:extLst>
          </p:cNvPr>
          <p:cNvCxnSpPr>
            <a:cxnSpLocks/>
            <a:stCxn id="13" idx="3"/>
            <a:endCxn id="15" idx="1"/>
          </p:cNvCxnSpPr>
          <p:nvPr/>
        </p:nvCxnSpPr>
        <p:spPr>
          <a:xfrm flipV="1">
            <a:off x="8948725" y="4925654"/>
            <a:ext cx="621141" cy="696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95AF9EB-8770-B463-4040-B4E3CD9FD899}"/>
              </a:ext>
            </a:extLst>
          </p:cNvPr>
          <p:cNvCxnSpPr>
            <a:cxnSpLocks/>
            <a:stCxn id="13" idx="3"/>
            <a:endCxn id="16" idx="1"/>
          </p:cNvCxnSpPr>
          <p:nvPr/>
        </p:nvCxnSpPr>
        <p:spPr>
          <a:xfrm>
            <a:off x="8948725" y="4932620"/>
            <a:ext cx="621141" cy="53203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A27AABD-5228-F415-F976-F80D92B2F810}"/>
              </a:ext>
            </a:extLst>
          </p:cNvPr>
          <p:cNvCxnSpPr>
            <a:cxnSpLocks/>
            <a:stCxn id="11" idx="3"/>
            <a:endCxn id="12" idx="1"/>
          </p:cNvCxnSpPr>
          <p:nvPr/>
        </p:nvCxnSpPr>
        <p:spPr>
          <a:xfrm flipV="1">
            <a:off x="5554766" y="3455082"/>
            <a:ext cx="618146" cy="7454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A5C55C8-EA51-6792-A657-7503A053B1EF}"/>
              </a:ext>
            </a:extLst>
          </p:cNvPr>
          <p:cNvCxnSpPr>
            <a:cxnSpLocks/>
            <a:stCxn id="11" idx="3"/>
            <a:endCxn id="13" idx="1"/>
          </p:cNvCxnSpPr>
          <p:nvPr/>
        </p:nvCxnSpPr>
        <p:spPr>
          <a:xfrm>
            <a:off x="5554766" y="4200531"/>
            <a:ext cx="618146" cy="73208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999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98426-F9CE-7505-592F-4CC904D8922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D2A332D-2D7C-42B0-AFCF-1A140A00A5E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Concept</a:t>
            </a:r>
          </a:p>
        </p:txBody>
      </p:sp>
      <p:sp>
        <p:nvSpPr>
          <p:cNvPr id="10" name="TextBox 9">
            <a:extLst>
              <a:ext uri="{FF2B5EF4-FFF2-40B4-BE49-F238E27FC236}">
                <a16:creationId xmlns:a16="http://schemas.microsoft.com/office/drawing/2014/main" id="{CEB00609-08C6-877D-42F3-DC12BE308378}"/>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2" name="TextBox 1">
            <a:extLst>
              <a:ext uri="{FF2B5EF4-FFF2-40B4-BE49-F238E27FC236}">
                <a16:creationId xmlns:a16="http://schemas.microsoft.com/office/drawing/2014/main" id="{7067BAC9-CADD-1DE3-DA8A-D73D986A1069}"/>
              </a:ext>
            </a:extLst>
          </p:cNvPr>
          <p:cNvSpPr txBox="1"/>
          <p:nvPr/>
        </p:nvSpPr>
        <p:spPr>
          <a:xfrm>
            <a:off x="191115" y="1392673"/>
            <a:ext cx="11809770" cy="1015663"/>
          </a:xfrm>
          <a:prstGeom prst="rect">
            <a:avLst/>
          </a:prstGeom>
          <a:noFill/>
        </p:spPr>
        <p:txBody>
          <a:bodyPr wrap="square" rtlCol="0">
            <a:spAutoFit/>
          </a:bodyPr>
          <a:lstStyle/>
          <a:p>
            <a:pPr algn="just"/>
            <a:r>
              <a:rPr lang="en-US" altLang="ko-KR" sz="2000" dirty="0"/>
              <a:t>In image processing, a wavelet transform (WT) is a mathematical technique that decomposes an image into different frequency components at different scales (multiresolution) to reveal both spatial and frequency attributes, useful for tasks like compression, denoising, and feature extraction.</a:t>
            </a:r>
            <a:endParaRPr lang="en-US" altLang="ko-KR" sz="2000" dirty="0">
              <a:solidFill>
                <a:srgbClr val="FF0000"/>
              </a:solidFill>
            </a:endParaRPr>
          </a:p>
        </p:txBody>
      </p:sp>
      <p:pic>
        <p:nvPicPr>
          <p:cNvPr id="3" name="Picture 2" descr="Discrete wavelet transform - Wikipedia">
            <a:extLst>
              <a:ext uri="{FF2B5EF4-FFF2-40B4-BE49-F238E27FC236}">
                <a16:creationId xmlns:a16="http://schemas.microsoft.com/office/drawing/2014/main" id="{770B9C5F-ECBF-2F7A-B7ED-ABE615A48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3747" y="2758905"/>
            <a:ext cx="3580211" cy="358021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3C50644-46AB-7A9C-69FB-F9A79B35F993}"/>
              </a:ext>
            </a:extLst>
          </p:cNvPr>
          <p:cNvPicPr>
            <a:picLocks noChangeAspect="1"/>
          </p:cNvPicPr>
          <p:nvPr/>
        </p:nvPicPr>
        <p:blipFill>
          <a:blip r:embed="rId3"/>
          <a:stretch>
            <a:fillRect/>
          </a:stretch>
        </p:blipFill>
        <p:spPr>
          <a:xfrm>
            <a:off x="1001429" y="3111217"/>
            <a:ext cx="5515808" cy="2875588"/>
          </a:xfrm>
          <a:prstGeom prst="rect">
            <a:avLst/>
          </a:prstGeom>
        </p:spPr>
      </p:pic>
    </p:spTree>
    <p:extLst>
      <p:ext uri="{BB962C8B-B14F-4D97-AF65-F5344CB8AC3E}">
        <p14:creationId xmlns:p14="http://schemas.microsoft.com/office/powerpoint/2010/main" val="136644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4709-EE1E-D8E6-544B-6F326641E3E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AA2EF0A-35B9-BB59-8018-D3BCA93EBAA7}"/>
              </a:ext>
            </a:extLst>
          </p:cNvPr>
          <p:cNvSpPr txBox="1"/>
          <p:nvPr/>
        </p:nvSpPr>
        <p:spPr>
          <a:xfrm>
            <a:off x="191115" y="931008"/>
            <a:ext cx="4279127" cy="461665"/>
          </a:xfrm>
          <a:prstGeom prst="rect">
            <a:avLst/>
          </a:prstGeom>
          <a:noFill/>
        </p:spPr>
        <p:txBody>
          <a:bodyPr wrap="square" rtlCol="0">
            <a:spAutoFit/>
          </a:bodyPr>
          <a:lstStyle/>
          <a:p>
            <a:r>
              <a:rPr lang="en-US" altLang="ko-KR" sz="2400" i="1" dirty="0"/>
              <a:t>Low-Pass and High-Pass Filters</a:t>
            </a:r>
          </a:p>
        </p:txBody>
      </p:sp>
      <p:sp>
        <p:nvSpPr>
          <p:cNvPr id="10" name="TextBox 9">
            <a:extLst>
              <a:ext uri="{FF2B5EF4-FFF2-40B4-BE49-F238E27FC236}">
                <a16:creationId xmlns:a16="http://schemas.microsoft.com/office/drawing/2014/main" id="{4235029D-B6D5-8397-B18B-A223DB21E8E6}"/>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4" name="TextBox 3">
            <a:extLst>
              <a:ext uri="{FF2B5EF4-FFF2-40B4-BE49-F238E27FC236}">
                <a16:creationId xmlns:a16="http://schemas.microsoft.com/office/drawing/2014/main" id="{7A1EDCB5-0B5B-4041-224D-AF572B2D4CDC}"/>
              </a:ext>
            </a:extLst>
          </p:cNvPr>
          <p:cNvSpPr txBox="1"/>
          <p:nvPr/>
        </p:nvSpPr>
        <p:spPr>
          <a:xfrm>
            <a:off x="302213" y="1734785"/>
            <a:ext cx="5996040" cy="1631216"/>
          </a:xfrm>
          <a:prstGeom prst="rect">
            <a:avLst/>
          </a:prstGeom>
          <a:noFill/>
        </p:spPr>
        <p:txBody>
          <a:bodyPr wrap="square" rtlCol="0">
            <a:spAutoFit/>
          </a:bodyPr>
          <a:lstStyle/>
          <a:p>
            <a:pPr algn="just"/>
            <a:r>
              <a:rPr lang="en-US" sz="2000" dirty="0"/>
              <a:t>- </a:t>
            </a:r>
            <a:r>
              <a:rPr lang="en-US" sz="2000" b="1" dirty="0"/>
              <a:t>Low-pass filters</a:t>
            </a:r>
            <a:r>
              <a:rPr lang="en-US" sz="2000" dirty="0"/>
              <a:t> allow low-frequency components to pass through while attenuating or removing high-frequency components. Applying a low-pass filter to an image results in a smoother image with reduced noise and less visible edges.</a:t>
            </a:r>
          </a:p>
        </p:txBody>
      </p:sp>
      <p:sp>
        <p:nvSpPr>
          <p:cNvPr id="6" name="TextBox 5">
            <a:extLst>
              <a:ext uri="{FF2B5EF4-FFF2-40B4-BE49-F238E27FC236}">
                <a16:creationId xmlns:a16="http://schemas.microsoft.com/office/drawing/2014/main" id="{286A0862-33FD-BACA-8472-157BE17AE76C}"/>
              </a:ext>
            </a:extLst>
          </p:cNvPr>
          <p:cNvSpPr txBox="1"/>
          <p:nvPr/>
        </p:nvSpPr>
        <p:spPr>
          <a:xfrm>
            <a:off x="302213" y="3827666"/>
            <a:ext cx="5996040" cy="1631216"/>
          </a:xfrm>
          <a:prstGeom prst="rect">
            <a:avLst/>
          </a:prstGeom>
          <a:noFill/>
        </p:spPr>
        <p:txBody>
          <a:bodyPr wrap="square" rtlCol="0">
            <a:spAutoFit/>
          </a:bodyPr>
          <a:lstStyle/>
          <a:p>
            <a:pPr algn="just"/>
            <a:r>
              <a:rPr lang="en-US" sz="2000" dirty="0"/>
              <a:t>- </a:t>
            </a:r>
            <a:r>
              <a:rPr lang="en-US" sz="2000" b="1" dirty="0"/>
              <a:t>High-pass filters</a:t>
            </a:r>
            <a:r>
              <a:rPr lang="en-US" sz="2000" dirty="0"/>
              <a:t> allow high-frequency components to pass through while attenuating or removing low-frequency components. Applying a high-pass filter to an image enhances edges, fine details, and textures, making them more visible.</a:t>
            </a:r>
          </a:p>
        </p:txBody>
      </p:sp>
      <p:pic>
        <p:nvPicPr>
          <p:cNvPr id="6146" name="Picture 2" descr="Python#8 Frequency Domain Image Filter using Butterworth Filter in Python -  YouTube">
            <a:extLst>
              <a:ext uri="{FF2B5EF4-FFF2-40B4-BE49-F238E27FC236}">
                <a16:creationId xmlns:a16="http://schemas.microsoft.com/office/drawing/2014/main" id="{1E0D42D6-C3C5-DFA9-53E4-B673C50395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620" t="3530" b="4942"/>
          <a:stretch/>
        </p:blipFill>
        <p:spPr bwMode="auto">
          <a:xfrm>
            <a:off x="6491696" y="1147273"/>
            <a:ext cx="5263268" cy="4563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90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6E381-F09A-9AE7-7C91-1D9B6674387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F42FE49-6EE2-2941-D56B-729CCC0FC404}"/>
              </a:ext>
            </a:extLst>
          </p:cNvPr>
          <p:cNvSpPr txBox="1"/>
          <p:nvPr/>
        </p:nvSpPr>
        <p:spPr>
          <a:xfrm>
            <a:off x="191115" y="931008"/>
            <a:ext cx="4279127" cy="461665"/>
          </a:xfrm>
          <a:prstGeom prst="rect">
            <a:avLst/>
          </a:prstGeom>
          <a:noFill/>
        </p:spPr>
        <p:txBody>
          <a:bodyPr wrap="square" rtlCol="0">
            <a:spAutoFit/>
          </a:bodyPr>
          <a:lstStyle/>
          <a:p>
            <a:r>
              <a:rPr lang="en-US" altLang="ko-KR" sz="2400" i="1" dirty="0"/>
              <a:t>Low-Pass and High-Pass Filters</a:t>
            </a:r>
          </a:p>
        </p:txBody>
      </p:sp>
      <p:sp>
        <p:nvSpPr>
          <p:cNvPr id="10" name="TextBox 9">
            <a:extLst>
              <a:ext uri="{FF2B5EF4-FFF2-40B4-BE49-F238E27FC236}">
                <a16:creationId xmlns:a16="http://schemas.microsoft.com/office/drawing/2014/main" id="{4887A727-3A0B-BFC1-D4F2-A55775EF82B4}"/>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pic>
        <p:nvPicPr>
          <p:cNvPr id="6146" name="Picture 2" descr="Python#8 Frequency Domain Image Filter using Butterworth Filter in Python -  YouTube">
            <a:extLst>
              <a:ext uri="{FF2B5EF4-FFF2-40B4-BE49-F238E27FC236}">
                <a16:creationId xmlns:a16="http://schemas.microsoft.com/office/drawing/2014/main" id="{5DAA0E06-005A-FC9E-02FF-16EAD991B3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0" t="3530" b="4942"/>
          <a:stretch/>
        </p:blipFill>
        <p:spPr bwMode="auto">
          <a:xfrm>
            <a:off x="948582" y="1539685"/>
            <a:ext cx="9870393" cy="5104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702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31BC5-71B1-7AF2-5D96-52F41753CD9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1B6E44A-2C2D-8CA0-EA6D-5FB4C002A3CE}"/>
              </a:ext>
            </a:extLst>
          </p:cNvPr>
          <p:cNvSpPr txBox="1"/>
          <p:nvPr/>
        </p:nvSpPr>
        <p:spPr>
          <a:xfrm>
            <a:off x="191115" y="931008"/>
            <a:ext cx="4279127" cy="461665"/>
          </a:xfrm>
          <a:prstGeom prst="rect">
            <a:avLst/>
          </a:prstGeom>
          <a:noFill/>
        </p:spPr>
        <p:txBody>
          <a:bodyPr wrap="square" rtlCol="0">
            <a:spAutoFit/>
          </a:bodyPr>
          <a:lstStyle/>
          <a:p>
            <a:r>
              <a:rPr lang="en-US" altLang="ko-KR" sz="2400" i="1" dirty="0"/>
              <a:t>Why Wavelet?</a:t>
            </a:r>
          </a:p>
        </p:txBody>
      </p:sp>
      <p:sp>
        <p:nvSpPr>
          <p:cNvPr id="10" name="TextBox 9">
            <a:extLst>
              <a:ext uri="{FF2B5EF4-FFF2-40B4-BE49-F238E27FC236}">
                <a16:creationId xmlns:a16="http://schemas.microsoft.com/office/drawing/2014/main" id="{5956A850-B1CA-9A31-D951-97A22861455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6" name="TextBox 5">
            <a:extLst>
              <a:ext uri="{FF2B5EF4-FFF2-40B4-BE49-F238E27FC236}">
                <a16:creationId xmlns:a16="http://schemas.microsoft.com/office/drawing/2014/main" id="{DF4FBC44-D076-1F8D-466E-0DA660AC6E63}"/>
              </a:ext>
            </a:extLst>
          </p:cNvPr>
          <p:cNvSpPr txBox="1"/>
          <p:nvPr/>
        </p:nvSpPr>
        <p:spPr>
          <a:xfrm>
            <a:off x="191115" y="1392673"/>
            <a:ext cx="11809770" cy="707886"/>
          </a:xfrm>
          <a:prstGeom prst="rect">
            <a:avLst/>
          </a:prstGeom>
          <a:noFill/>
        </p:spPr>
        <p:txBody>
          <a:bodyPr wrap="square" rtlCol="0">
            <a:spAutoFit/>
          </a:bodyPr>
          <a:lstStyle/>
          <a:p>
            <a:pPr algn="just"/>
            <a:r>
              <a:rPr lang="en-US" sz="2000" dirty="0"/>
              <a:t>- </a:t>
            </a:r>
            <a:r>
              <a:rPr lang="en-US" sz="2000" b="1" dirty="0"/>
              <a:t>Multiresolution Analysis:</a:t>
            </a:r>
            <a:r>
              <a:rPr lang="en-US" sz="2000" dirty="0"/>
              <a:t> Wavelet transforms allow for analyzing an image at different resolutions, capturing both fine details and broad structures</a:t>
            </a:r>
          </a:p>
        </p:txBody>
      </p:sp>
      <p:sp>
        <p:nvSpPr>
          <p:cNvPr id="7" name="TextBox 6">
            <a:extLst>
              <a:ext uri="{FF2B5EF4-FFF2-40B4-BE49-F238E27FC236}">
                <a16:creationId xmlns:a16="http://schemas.microsoft.com/office/drawing/2014/main" id="{D2FAD871-57AF-770E-E614-A72E3B9C1478}"/>
              </a:ext>
            </a:extLst>
          </p:cNvPr>
          <p:cNvSpPr txBox="1"/>
          <p:nvPr/>
        </p:nvSpPr>
        <p:spPr>
          <a:xfrm>
            <a:off x="191115" y="2100559"/>
            <a:ext cx="11809770" cy="1015663"/>
          </a:xfrm>
          <a:prstGeom prst="rect">
            <a:avLst/>
          </a:prstGeom>
          <a:noFill/>
        </p:spPr>
        <p:txBody>
          <a:bodyPr wrap="square" rtlCol="0">
            <a:spAutoFit/>
          </a:bodyPr>
          <a:lstStyle/>
          <a:p>
            <a:pPr algn="just"/>
            <a:r>
              <a:rPr lang="en-US" sz="2000" dirty="0"/>
              <a:t>- </a:t>
            </a:r>
            <a:r>
              <a:rPr lang="en-US" sz="2000" b="1" dirty="0"/>
              <a:t>Time-Frequency Localization: </a:t>
            </a:r>
            <a:r>
              <a:rPr lang="en-US" sz="2000" dirty="0"/>
              <a:t>Unlike Fourier transform, which provide global frequency information, wavelet transforms offer localized time-frequency analysis, meaning they can identify features that vary over different scales.</a:t>
            </a:r>
          </a:p>
        </p:txBody>
      </p:sp>
    </p:spTree>
    <p:extLst>
      <p:ext uri="{BB962C8B-B14F-4D97-AF65-F5344CB8AC3E}">
        <p14:creationId xmlns:p14="http://schemas.microsoft.com/office/powerpoint/2010/main" val="2578605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0DB64-49AF-9A37-4B46-D8346AD5C16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B193818-99D9-EBF0-DD34-B3792BDA6ED5}"/>
              </a:ext>
            </a:extLst>
          </p:cNvPr>
          <p:cNvPicPr>
            <a:picLocks noChangeAspect="1"/>
          </p:cNvPicPr>
          <p:nvPr/>
        </p:nvPicPr>
        <p:blipFill>
          <a:blip r:embed="rId2"/>
          <a:stretch>
            <a:fillRect/>
          </a:stretch>
        </p:blipFill>
        <p:spPr>
          <a:xfrm>
            <a:off x="711372" y="1454228"/>
            <a:ext cx="10603254" cy="4639608"/>
          </a:xfrm>
          <a:prstGeom prst="rect">
            <a:avLst/>
          </a:prstGeom>
        </p:spPr>
      </p:pic>
      <p:sp>
        <p:nvSpPr>
          <p:cNvPr id="8" name="TextBox 7">
            <a:extLst>
              <a:ext uri="{FF2B5EF4-FFF2-40B4-BE49-F238E27FC236}">
                <a16:creationId xmlns:a16="http://schemas.microsoft.com/office/drawing/2014/main" id="{AB259B57-5022-F08A-1AC5-8566AD11C42E}"/>
              </a:ext>
            </a:extLst>
          </p:cNvPr>
          <p:cNvSpPr txBox="1"/>
          <p:nvPr/>
        </p:nvSpPr>
        <p:spPr>
          <a:xfrm>
            <a:off x="191115" y="931008"/>
            <a:ext cx="6055861" cy="461665"/>
          </a:xfrm>
          <a:prstGeom prst="rect">
            <a:avLst/>
          </a:prstGeom>
          <a:noFill/>
        </p:spPr>
        <p:txBody>
          <a:bodyPr wrap="square" rtlCol="0">
            <a:spAutoFit/>
          </a:bodyPr>
          <a:lstStyle/>
          <a:p>
            <a:r>
              <a:rPr lang="en-US" altLang="ko-KR" sz="2400" i="1" dirty="0"/>
              <a:t>Discrete Wavelet Transform (DWT)</a:t>
            </a:r>
          </a:p>
        </p:txBody>
      </p:sp>
      <p:sp>
        <p:nvSpPr>
          <p:cNvPr id="10" name="TextBox 9">
            <a:extLst>
              <a:ext uri="{FF2B5EF4-FFF2-40B4-BE49-F238E27FC236}">
                <a16:creationId xmlns:a16="http://schemas.microsoft.com/office/drawing/2014/main" id="{2C586242-07AE-D92D-7DFA-8427640AE13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4" name="TextBox 3">
            <a:extLst>
              <a:ext uri="{FF2B5EF4-FFF2-40B4-BE49-F238E27FC236}">
                <a16:creationId xmlns:a16="http://schemas.microsoft.com/office/drawing/2014/main" id="{59BAD7A9-E59D-7C16-36B7-A803A21416FF}"/>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3"/>
              </a:rPr>
              <a:t>https://www.sciencedirect.com/science/article/pii/S2314728817300508</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1717146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D2C96-EDA5-014E-D573-6DA205B9A67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4BB3EF9-70CC-CF06-7915-A8C8DD10D46E}"/>
              </a:ext>
            </a:extLst>
          </p:cNvPr>
          <p:cNvSpPr txBox="1"/>
          <p:nvPr/>
        </p:nvSpPr>
        <p:spPr>
          <a:xfrm>
            <a:off x="191115" y="931008"/>
            <a:ext cx="6055861" cy="461665"/>
          </a:xfrm>
          <a:prstGeom prst="rect">
            <a:avLst/>
          </a:prstGeom>
          <a:noFill/>
        </p:spPr>
        <p:txBody>
          <a:bodyPr wrap="square" rtlCol="0">
            <a:spAutoFit/>
          </a:bodyPr>
          <a:lstStyle/>
          <a:p>
            <a:r>
              <a:rPr lang="en-US" altLang="ko-KR" sz="2400" i="1" dirty="0"/>
              <a:t>Discrete Wavelet Transform (DWT)</a:t>
            </a:r>
          </a:p>
        </p:txBody>
      </p:sp>
      <p:sp>
        <p:nvSpPr>
          <p:cNvPr id="10" name="TextBox 9">
            <a:extLst>
              <a:ext uri="{FF2B5EF4-FFF2-40B4-BE49-F238E27FC236}">
                <a16:creationId xmlns:a16="http://schemas.microsoft.com/office/drawing/2014/main" id="{18E44BCC-E3D0-B2A5-E481-E2485F0EF467}"/>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pic>
        <p:nvPicPr>
          <p:cNvPr id="8194" name="Picture 2">
            <a:extLst>
              <a:ext uri="{FF2B5EF4-FFF2-40B4-BE49-F238E27FC236}">
                <a16:creationId xmlns:a16="http://schemas.microsoft.com/office/drawing/2014/main" id="{1D9B0575-0B5B-2144-0C03-AD62C0F6D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698" y="1392673"/>
            <a:ext cx="9526604" cy="5443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899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20C48-B05F-AA38-3388-A7B459A1279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C399BA3-022E-14B4-BFD0-C95F8CBBC6A0}"/>
              </a:ext>
            </a:extLst>
          </p:cNvPr>
          <p:cNvSpPr txBox="1"/>
          <p:nvPr/>
        </p:nvSpPr>
        <p:spPr>
          <a:xfrm>
            <a:off x="191115" y="931008"/>
            <a:ext cx="6055861" cy="461665"/>
          </a:xfrm>
          <a:prstGeom prst="rect">
            <a:avLst/>
          </a:prstGeom>
          <a:noFill/>
        </p:spPr>
        <p:txBody>
          <a:bodyPr wrap="square" rtlCol="0">
            <a:spAutoFit/>
          </a:bodyPr>
          <a:lstStyle/>
          <a:p>
            <a:r>
              <a:rPr lang="en-US" altLang="ko-KR" sz="2400" i="1" dirty="0"/>
              <a:t>Haar Wavelet Transform (HWT)</a:t>
            </a:r>
          </a:p>
        </p:txBody>
      </p:sp>
      <p:sp>
        <p:nvSpPr>
          <p:cNvPr id="10" name="TextBox 9">
            <a:extLst>
              <a:ext uri="{FF2B5EF4-FFF2-40B4-BE49-F238E27FC236}">
                <a16:creationId xmlns:a16="http://schemas.microsoft.com/office/drawing/2014/main" id="{B402D01E-6D41-258B-343E-DFAD851C502E}"/>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pic>
        <p:nvPicPr>
          <p:cNvPr id="3" name="Picture 2">
            <a:extLst>
              <a:ext uri="{FF2B5EF4-FFF2-40B4-BE49-F238E27FC236}">
                <a16:creationId xmlns:a16="http://schemas.microsoft.com/office/drawing/2014/main" id="{82E1A8D8-5E0E-8E7A-3724-252C7CC0C3F2}"/>
              </a:ext>
            </a:extLst>
          </p:cNvPr>
          <p:cNvPicPr>
            <a:picLocks noChangeAspect="1"/>
          </p:cNvPicPr>
          <p:nvPr/>
        </p:nvPicPr>
        <p:blipFill>
          <a:blip r:embed="rId2"/>
          <a:stretch>
            <a:fillRect/>
          </a:stretch>
        </p:blipFill>
        <p:spPr>
          <a:xfrm>
            <a:off x="5099250" y="760265"/>
            <a:ext cx="1987519" cy="1987519"/>
          </a:xfrm>
          <a:prstGeom prst="rect">
            <a:avLst/>
          </a:prstGeom>
        </p:spPr>
      </p:pic>
      <p:pic>
        <p:nvPicPr>
          <p:cNvPr id="5" name="Picture 4">
            <a:extLst>
              <a:ext uri="{FF2B5EF4-FFF2-40B4-BE49-F238E27FC236}">
                <a16:creationId xmlns:a16="http://schemas.microsoft.com/office/drawing/2014/main" id="{1BB7924A-759E-6D8C-B037-CA07752B5B20}"/>
              </a:ext>
            </a:extLst>
          </p:cNvPr>
          <p:cNvPicPr>
            <a:picLocks noChangeAspect="1"/>
          </p:cNvPicPr>
          <p:nvPr/>
        </p:nvPicPr>
        <p:blipFill>
          <a:blip r:embed="rId3"/>
          <a:stretch>
            <a:fillRect/>
          </a:stretch>
        </p:blipFill>
        <p:spPr>
          <a:xfrm>
            <a:off x="1000064" y="3324449"/>
            <a:ext cx="3175430" cy="3161233"/>
          </a:xfrm>
          <a:prstGeom prst="rect">
            <a:avLst/>
          </a:prstGeom>
        </p:spPr>
      </p:pic>
      <p:pic>
        <p:nvPicPr>
          <p:cNvPr id="7" name="Picture 6">
            <a:extLst>
              <a:ext uri="{FF2B5EF4-FFF2-40B4-BE49-F238E27FC236}">
                <a16:creationId xmlns:a16="http://schemas.microsoft.com/office/drawing/2014/main" id="{18E6B2D3-AAD2-AFF1-9A47-354D03BC7DB3}"/>
              </a:ext>
            </a:extLst>
          </p:cNvPr>
          <p:cNvPicPr>
            <a:picLocks noChangeAspect="1"/>
          </p:cNvPicPr>
          <p:nvPr/>
        </p:nvPicPr>
        <p:blipFill>
          <a:blip r:embed="rId4"/>
          <a:stretch>
            <a:fillRect/>
          </a:stretch>
        </p:blipFill>
        <p:spPr>
          <a:xfrm>
            <a:off x="4502929" y="3324449"/>
            <a:ext cx="3180162" cy="3161233"/>
          </a:xfrm>
          <a:prstGeom prst="rect">
            <a:avLst/>
          </a:prstGeom>
        </p:spPr>
      </p:pic>
      <p:pic>
        <p:nvPicPr>
          <p:cNvPr id="11" name="Picture 10">
            <a:extLst>
              <a:ext uri="{FF2B5EF4-FFF2-40B4-BE49-F238E27FC236}">
                <a16:creationId xmlns:a16="http://schemas.microsoft.com/office/drawing/2014/main" id="{66BDE181-F871-C182-8188-0F2D60F9EDFB}"/>
              </a:ext>
            </a:extLst>
          </p:cNvPr>
          <p:cNvPicPr>
            <a:picLocks noChangeAspect="1"/>
          </p:cNvPicPr>
          <p:nvPr/>
        </p:nvPicPr>
        <p:blipFill>
          <a:blip r:embed="rId5"/>
          <a:stretch>
            <a:fillRect/>
          </a:stretch>
        </p:blipFill>
        <p:spPr>
          <a:xfrm>
            <a:off x="8010094" y="3324449"/>
            <a:ext cx="3184896" cy="3161233"/>
          </a:xfrm>
          <a:prstGeom prst="rect">
            <a:avLst/>
          </a:prstGeom>
        </p:spPr>
      </p:pic>
      <p:sp>
        <p:nvSpPr>
          <p:cNvPr id="12" name="TextBox 11">
            <a:extLst>
              <a:ext uri="{FF2B5EF4-FFF2-40B4-BE49-F238E27FC236}">
                <a16:creationId xmlns:a16="http://schemas.microsoft.com/office/drawing/2014/main" id="{0F284B1F-0923-9976-EFA6-F902E6E2CE5B}"/>
              </a:ext>
            </a:extLst>
          </p:cNvPr>
          <p:cNvSpPr txBox="1"/>
          <p:nvPr/>
        </p:nvSpPr>
        <p:spPr>
          <a:xfrm>
            <a:off x="5248895" y="424880"/>
            <a:ext cx="1688228"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O</a:t>
            </a:r>
            <a:r>
              <a:rPr lang="en-US" altLang="ko-KR" b="0" i="0" dirty="0">
                <a:solidFill>
                  <a:srgbClr val="202122"/>
                </a:solidFill>
                <a:effectLst/>
                <a:latin typeface="Arial" panose="020B0604020202020204" pitchFamily="34" charset="0"/>
              </a:rPr>
              <a:t>riginal</a:t>
            </a:r>
            <a:endParaRPr lang="ko-KR" altLang="en-US" dirty="0"/>
          </a:p>
        </p:txBody>
      </p:sp>
      <p:sp>
        <p:nvSpPr>
          <p:cNvPr id="13" name="TextBox 12">
            <a:extLst>
              <a:ext uri="{FF2B5EF4-FFF2-40B4-BE49-F238E27FC236}">
                <a16:creationId xmlns:a16="http://schemas.microsoft.com/office/drawing/2014/main" id="{3B08593D-2DF4-5245-10C9-81E58745DCF6}"/>
              </a:ext>
            </a:extLst>
          </p:cNvPr>
          <p:cNvSpPr txBox="1"/>
          <p:nvPr/>
        </p:nvSpPr>
        <p:spPr>
          <a:xfrm>
            <a:off x="1743665" y="2963179"/>
            <a:ext cx="1688228" cy="369332"/>
          </a:xfrm>
          <a:prstGeom prst="rect">
            <a:avLst/>
          </a:prstGeom>
          <a:noFill/>
        </p:spPr>
        <p:txBody>
          <a:bodyPr wrap="square">
            <a:spAutoFit/>
          </a:bodyPr>
          <a:lstStyle/>
          <a:p>
            <a:pPr algn="ctr"/>
            <a:r>
              <a:rPr lang="en-US" altLang="ko-KR" b="0" i="0" dirty="0">
                <a:solidFill>
                  <a:srgbClr val="202122"/>
                </a:solidFill>
                <a:effectLst/>
                <a:latin typeface="Arial" panose="020B0604020202020204" pitchFamily="34" charset="0"/>
              </a:rPr>
              <a:t>Level 1 </a:t>
            </a:r>
            <a:endParaRPr lang="ko-KR" altLang="en-US" dirty="0"/>
          </a:p>
        </p:txBody>
      </p:sp>
      <p:sp>
        <p:nvSpPr>
          <p:cNvPr id="14" name="TextBox 13">
            <a:extLst>
              <a:ext uri="{FF2B5EF4-FFF2-40B4-BE49-F238E27FC236}">
                <a16:creationId xmlns:a16="http://schemas.microsoft.com/office/drawing/2014/main" id="{211E7F3A-87B2-76C0-B994-DB956911F416}"/>
              </a:ext>
            </a:extLst>
          </p:cNvPr>
          <p:cNvSpPr txBox="1"/>
          <p:nvPr/>
        </p:nvSpPr>
        <p:spPr>
          <a:xfrm>
            <a:off x="5248895" y="2963179"/>
            <a:ext cx="1688228" cy="369332"/>
          </a:xfrm>
          <a:prstGeom prst="rect">
            <a:avLst/>
          </a:prstGeom>
          <a:noFill/>
        </p:spPr>
        <p:txBody>
          <a:bodyPr wrap="square">
            <a:spAutoFit/>
          </a:bodyPr>
          <a:lstStyle/>
          <a:p>
            <a:pPr algn="ctr"/>
            <a:r>
              <a:rPr lang="en-US" altLang="ko-KR" b="0" i="0" dirty="0">
                <a:solidFill>
                  <a:srgbClr val="202122"/>
                </a:solidFill>
                <a:effectLst/>
                <a:latin typeface="Arial" panose="020B0604020202020204" pitchFamily="34" charset="0"/>
              </a:rPr>
              <a:t>Level 2 </a:t>
            </a:r>
            <a:endParaRPr lang="ko-KR" altLang="en-US" dirty="0"/>
          </a:p>
        </p:txBody>
      </p:sp>
      <p:sp>
        <p:nvSpPr>
          <p:cNvPr id="15" name="TextBox 14">
            <a:extLst>
              <a:ext uri="{FF2B5EF4-FFF2-40B4-BE49-F238E27FC236}">
                <a16:creationId xmlns:a16="http://schemas.microsoft.com/office/drawing/2014/main" id="{9D474BEA-4770-CE46-AB2D-0272D1EDE043}"/>
              </a:ext>
            </a:extLst>
          </p:cNvPr>
          <p:cNvSpPr txBox="1"/>
          <p:nvPr/>
        </p:nvSpPr>
        <p:spPr>
          <a:xfrm>
            <a:off x="8754125" y="2955117"/>
            <a:ext cx="1688228" cy="369332"/>
          </a:xfrm>
          <a:prstGeom prst="rect">
            <a:avLst/>
          </a:prstGeom>
          <a:noFill/>
        </p:spPr>
        <p:txBody>
          <a:bodyPr wrap="square">
            <a:spAutoFit/>
          </a:bodyPr>
          <a:lstStyle/>
          <a:p>
            <a:pPr algn="ctr"/>
            <a:r>
              <a:rPr lang="en-US" altLang="ko-KR" b="0" i="0" dirty="0">
                <a:solidFill>
                  <a:srgbClr val="202122"/>
                </a:solidFill>
                <a:effectLst/>
                <a:latin typeface="Arial" panose="020B0604020202020204" pitchFamily="34" charset="0"/>
              </a:rPr>
              <a:t>Level 3 </a:t>
            </a:r>
            <a:endParaRPr lang="ko-KR" altLang="en-US" dirty="0"/>
          </a:p>
        </p:txBody>
      </p:sp>
      <p:sp>
        <p:nvSpPr>
          <p:cNvPr id="16" name="TextBox 15">
            <a:extLst>
              <a:ext uri="{FF2B5EF4-FFF2-40B4-BE49-F238E27FC236}">
                <a16:creationId xmlns:a16="http://schemas.microsoft.com/office/drawing/2014/main" id="{DEE5C56D-577F-9C85-59A5-2C7FA449104E}"/>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6"/>
              </a:rPr>
              <a:t>https://uotechnology.edu.iq/ce/Lectures/Image_Processing_4th/DIP_Lecture8.pdf</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283007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87CF2-FC84-3CA7-D04B-5C4865CB5DD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3E7F66D-40FD-14B0-0700-B1860C4C1DBF}"/>
              </a:ext>
            </a:extLst>
          </p:cNvPr>
          <p:cNvSpPr txBox="1"/>
          <p:nvPr/>
        </p:nvSpPr>
        <p:spPr>
          <a:xfrm>
            <a:off x="191115" y="931008"/>
            <a:ext cx="6055861" cy="461665"/>
          </a:xfrm>
          <a:prstGeom prst="rect">
            <a:avLst/>
          </a:prstGeom>
          <a:noFill/>
        </p:spPr>
        <p:txBody>
          <a:bodyPr wrap="square" rtlCol="0">
            <a:spAutoFit/>
          </a:bodyPr>
          <a:lstStyle/>
          <a:p>
            <a:r>
              <a:rPr lang="en-US" altLang="ko-KR" sz="2400" i="1" dirty="0"/>
              <a:t>Applications</a:t>
            </a:r>
          </a:p>
        </p:txBody>
      </p:sp>
      <p:sp>
        <p:nvSpPr>
          <p:cNvPr id="10" name="TextBox 9">
            <a:extLst>
              <a:ext uri="{FF2B5EF4-FFF2-40B4-BE49-F238E27FC236}">
                <a16:creationId xmlns:a16="http://schemas.microsoft.com/office/drawing/2014/main" id="{F9332063-4847-5DE1-51BA-A168063ABCDF}"/>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2" name="TextBox 1">
            <a:extLst>
              <a:ext uri="{FF2B5EF4-FFF2-40B4-BE49-F238E27FC236}">
                <a16:creationId xmlns:a16="http://schemas.microsoft.com/office/drawing/2014/main" id="{74255D1F-8FBF-02EE-EC72-EA87D7D56BCC}"/>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Edge Detection</a:t>
            </a:r>
            <a:endParaRPr lang="en-US" altLang="ko-KR" sz="2000" b="1" dirty="0">
              <a:solidFill>
                <a:srgbClr val="FF0000"/>
              </a:solidFill>
            </a:endParaRPr>
          </a:p>
        </p:txBody>
      </p:sp>
      <p:pic>
        <p:nvPicPr>
          <p:cNvPr id="12" name="Picture 11">
            <a:extLst>
              <a:ext uri="{FF2B5EF4-FFF2-40B4-BE49-F238E27FC236}">
                <a16:creationId xmlns:a16="http://schemas.microsoft.com/office/drawing/2014/main" id="{E894C55B-FCDD-0E90-ADBA-0D90374A70B6}"/>
              </a:ext>
            </a:extLst>
          </p:cNvPr>
          <p:cNvPicPr>
            <a:picLocks noChangeAspect="1"/>
          </p:cNvPicPr>
          <p:nvPr/>
        </p:nvPicPr>
        <p:blipFill>
          <a:blip r:embed="rId2"/>
          <a:stretch>
            <a:fillRect/>
          </a:stretch>
        </p:blipFill>
        <p:spPr>
          <a:xfrm>
            <a:off x="3346094" y="2777406"/>
            <a:ext cx="2416620" cy="2397052"/>
          </a:xfrm>
          <a:prstGeom prst="rect">
            <a:avLst/>
          </a:prstGeom>
        </p:spPr>
      </p:pic>
      <p:pic>
        <p:nvPicPr>
          <p:cNvPr id="14" name="Picture 13">
            <a:extLst>
              <a:ext uri="{FF2B5EF4-FFF2-40B4-BE49-F238E27FC236}">
                <a16:creationId xmlns:a16="http://schemas.microsoft.com/office/drawing/2014/main" id="{8EA2E641-9533-AACD-1CA2-D21EEB1B0582}"/>
              </a:ext>
            </a:extLst>
          </p:cNvPr>
          <p:cNvPicPr>
            <a:picLocks noChangeAspect="1"/>
          </p:cNvPicPr>
          <p:nvPr/>
        </p:nvPicPr>
        <p:blipFill>
          <a:blip r:embed="rId3"/>
          <a:stretch>
            <a:fillRect/>
          </a:stretch>
        </p:blipFill>
        <p:spPr>
          <a:xfrm>
            <a:off x="286008" y="2769863"/>
            <a:ext cx="2414464" cy="2397052"/>
          </a:xfrm>
          <a:prstGeom prst="rect">
            <a:avLst/>
          </a:prstGeom>
        </p:spPr>
      </p:pic>
      <p:pic>
        <p:nvPicPr>
          <p:cNvPr id="16" name="Picture 15">
            <a:extLst>
              <a:ext uri="{FF2B5EF4-FFF2-40B4-BE49-F238E27FC236}">
                <a16:creationId xmlns:a16="http://schemas.microsoft.com/office/drawing/2014/main" id="{6BCE4045-1F16-0909-BB65-5BC3123141A0}"/>
              </a:ext>
            </a:extLst>
          </p:cNvPr>
          <p:cNvPicPr>
            <a:picLocks noChangeAspect="1"/>
          </p:cNvPicPr>
          <p:nvPr/>
        </p:nvPicPr>
        <p:blipFill>
          <a:blip r:embed="rId4"/>
          <a:stretch>
            <a:fillRect/>
          </a:stretch>
        </p:blipFill>
        <p:spPr>
          <a:xfrm>
            <a:off x="6408336" y="2801380"/>
            <a:ext cx="2414464" cy="2404595"/>
          </a:xfrm>
          <a:prstGeom prst="rect">
            <a:avLst/>
          </a:prstGeom>
        </p:spPr>
      </p:pic>
      <p:pic>
        <p:nvPicPr>
          <p:cNvPr id="18" name="Picture 17">
            <a:extLst>
              <a:ext uri="{FF2B5EF4-FFF2-40B4-BE49-F238E27FC236}">
                <a16:creationId xmlns:a16="http://schemas.microsoft.com/office/drawing/2014/main" id="{80B6B38B-46FE-0E70-F315-BC59EF8B4E8C}"/>
              </a:ext>
            </a:extLst>
          </p:cNvPr>
          <p:cNvPicPr>
            <a:picLocks noChangeAspect="1"/>
          </p:cNvPicPr>
          <p:nvPr/>
        </p:nvPicPr>
        <p:blipFill>
          <a:blip r:embed="rId5"/>
          <a:stretch>
            <a:fillRect/>
          </a:stretch>
        </p:blipFill>
        <p:spPr>
          <a:xfrm>
            <a:off x="9468422" y="2777406"/>
            <a:ext cx="2414464" cy="2409001"/>
          </a:xfrm>
          <a:prstGeom prst="rect">
            <a:avLst/>
          </a:prstGeom>
        </p:spPr>
      </p:pic>
      <p:sp>
        <p:nvSpPr>
          <p:cNvPr id="19" name="TextBox 18">
            <a:extLst>
              <a:ext uri="{FF2B5EF4-FFF2-40B4-BE49-F238E27FC236}">
                <a16:creationId xmlns:a16="http://schemas.microsoft.com/office/drawing/2014/main" id="{A17A5BB6-D6CE-9051-18E8-7148F4D2BDC4}"/>
              </a:ext>
            </a:extLst>
          </p:cNvPr>
          <p:cNvSpPr txBox="1"/>
          <p:nvPr/>
        </p:nvSpPr>
        <p:spPr>
          <a:xfrm>
            <a:off x="649126" y="2432048"/>
            <a:ext cx="1688228"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O</a:t>
            </a:r>
            <a:r>
              <a:rPr lang="en-US" altLang="ko-KR" b="0" i="0" dirty="0">
                <a:solidFill>
                  <a:srgbClr val="202122"/>
                </a:solidFill>
                <a:effectLst/>
                <a:latin typeface="Arial" panose="020B0604020202020204" pitchFamily="34" charset="0"/>
              </a:rPr>
              <a:t>riginal</a:t>
            </a:r>
            <a:endParaRPr lang="ko-KR" altLang="en-US" dirty="0"/>
          </a:p>
        </p:txBody>
      </p:sp>
      <p:sp>
        <p:nvSpPr>
          <p:cNvPr id="20" name="TextBox 19">
            <a:extLst>
              <a:ext uri="{FF2B5EF4-FFF2-40B4-BE49-F238E27FC236}">
                <a16:creationId xmlns:a16="http://schemas.microsoft.com/office/drawing/2014/main" id="{ED81DD47-62F4-291A-C11C-0CB675493218}"/>
              </a:ext>
            </a:extLst>
          </p:cNvPr>
          <p:cNvSpPr txBox="1"/>
          <p:nvPr/>
        </p:nvSpPr>
        <p:spPr>
          <a:xfrm>
            <a:off x="3346094" y="2432048"/>
            <a:ext cx="2414464"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Wavelet Transform</a:t>
            </a:r>
            <a:endParaRPr lang="ko-KR" altLang="en-US" dirty="0"/>
          </a:p>
        </p:txBody>
      </p:sp>
      <p:sp>
        <p:nvSpPr>
          <p:cNvPr id="21" name="TextBox 20">
            <a:extLst>
              <a:ext uri="{FF2B5EF4-FFF2-40B4-BE49-F238E27FC236}">
                <a16:creationId xmlns:a16="http://schemas.microsoft.com/office/drawing/2014/main" id="{D4AF475C-3FF5-64DB-B830-C9EEB03BE350}"/>
              </a:ext>
            </a:extLst>
          </p:cNvPr>
          <p:cNvSpPr txBox="1"/>
          <p:nvPr/>
        </p:nvSpPr>
        <p:spPr>
          <a:xfrm>
            <a:off x="6406180" y="2432048"/>
            <a:ext cx="2414464"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Zero the LL </a:t>
            </a:r>
            <a:r>
              <a:rPr lang="en-US" altLang="ko-KR" dirty="0" err="1">
                <a:solidFill>
                  <a:srgbClr val="202122"/>
                </a:solidFill>
                <a:latin typeface="Arial" panose="020B0604020202020204" pitchFamily="34" charset="0"/>
              </a:rPr>
              <a:t>Subband</a:t>
            </a:r>
            <a:endParaRPr lang="ko-KR" altLang="en-US" dirty="0"/>
          </a:p>
        </p:txBody>
      </p:sp>
      <p:sp>
        <p:nvSpPr>
          <p:cNvPr id="22" name="TextBox 21">
            <a:extLst>
              <a:ext uri="{FF2B5EF4-FFF2-40B4-BE49-F238E27FC236}">
                <a16:creationId xmlns:a16="http://schemas.microsoft.com/office/drawing/2014/main" id="{14487641-5184-A932-0739-84750F7FE0E2}"/>
              </a:ext>
            </a:extLst>
          </p:cNvPr>
          <p:cNvSpPr txBox="1"/>
          <p:nvPr/>
        </p:nvSpPr>
        <p:spPr>
          <a:xfrm>
            <a:off x="9464110" y="2432048"/>
            <a:ext cx="2414464"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Resulted Edge Image </a:t>
            </a:r>
            <a:endParaRPr lang="ko-KR" altLang="en-US" dirty="0"/>
          </a:p>
        </p:txBody>
      </p:sp>
      <p:sp>
        <p:nvSpPr>
          <p:cNvPr id="23" name="Arrow: Right 22">
            <a:extLst>
              <a:ext uri="{FF2B5EF4-FFF2-40B4-BE49-F238E27FC236}">
                <a16:creationId xmlns:a16="http://schemas.microsoft.com/office/drawing/2014/main" id="{F923EFA9-30ED-9116-1ABF-6FD4932BFB44}"/>
              </a:ext>
            </a:extLst>
          </p:cNvPr>
          <p:cNvSpPr/>
          <p:nvPr/>
        </p:nvSpPr>
        <p:spPr>
          <a:xfrm>
            <a:off x="2845750" y="3871245"/>
            <a:ext cx="367469" cy="2820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E576FBC6-89A8-BEBD-B2A1-9673C43D3DA4}"/>
              </a:ext>
            </a:extLst>
          </p:cNvPr>
          <p:cNvSpPr/>
          <p:nvPr/>
        </p:nvSpPr>
        <p:spPr>
          <a:xfrm>
            <a:off x="5912265" y="3871244"/>
            <a:ext cx="367469" cy="2820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3CE63BDA-DB96-FAAA-A728-8D8D02716BE2}"/>
              </a:ext>
            </a:extLst>
          </p:cNvPr>
          <p:cNvSpPr/>
          <p:nvPr/>
        </p:nvSpPr>
        <p:spPr>
          <a:xfrm>
            <a:off x="8959720" y="3871244"/>
            <a:ext cx="367469" cy="2820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C48E3FD-2ED9-CFDC-6BB8-9D0111FA2768}"/>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6"/>
              </a:rPr>
              <a:t>https://uotechnology.edu.iq/ce/Lectures/Image_Processing_4th/DIP_Lecture8.pdf</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86509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AA315-ED4B-8AAD-7A33-5B87CD27F08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46FFE0C-5183-6F88-3A92-189207799742}"/>
              </a:ext>
            </a:extLst>
          </p:cNvPr>
          <p:cNvSpPr txBox="1"/>
          <p:nvPr/>
        </p:nvSpPr>
        <p:spPr>
          <a:xfrm>
            <a:off x="191115" y="931008"/>
            <a:ext cx="6055861" cy="461665"/>
          </a:xfrm>
          <a:prstGeom prst="rect">
            <a:avLst/>
          </a:prstGeom>
          <a:noFill/>
        </p:spPr>
        <p:txBody>
          <a:bodyPr wrap="square" rtlCol="0">
            <a:spAutoFit/>
          </a:bodyPr>
          <a:lstStyle/>
          <a:p>
            <a:r>
              <a:rPr lang="en-US" altLang="ko-KR" sz="2400" i="1" dirty="0"/>
              <a:t>Applications</a:t>
            </a:r>
          </a:p>
        </p:txBody>
      </p:sp>
      <p:sp>
        <p:nvSpPr>
          <p:cNvPr id="10" name="TextBox 9">
            <a:extLst>
              <a:ext uri="{FF2B5EF4-FFF2-40B4-BE49-F238E27FC236}">
                <a16:creationId xmlns:a16="http://schemas.microsoft.com/office/drawing/2014/main" id="{8B443E68-62A6-91C4-D8B7-DEF9B6AF3BA9}"/>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2" name="TextBox 1">
            <a:extLst>
              <a:ext uri="{FF2B5EF4-FFF2-40B4-BE49-F238E27FC236}">
                <a16:creationId xmlns:a16="http://schemas.microsoft.com/office/drawing/2014/main" id="{0980E2E0-C723-3EA0-2A52-6259419F976A}"/>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Noise Reduction</a:t>
            </a:r>
            <a:endParaRPr lang="en-US" altLang="ko-KR" sz="2000" b="1" dirty="0">
              <a:solidFill>
                <a:srgbClr val="FF0000"/>
              </a:solidFill>
            </a:endParaRPr>
          </a:p>
        </p:txBody>
      </p:sp>
      <p:pic>
        <p:nvPicPr>
          <p:cNvPr id="5" name="Picture 4">
            <a:extLst>
              <a:ext uri="{FF2B5EF4-FFF2-40B4-BE49-F238E27FC236}">
                <a16:creationId xmlns:a16="http://schemas.microsoft.com/office/drawing/2014/main" id="{B02A0800-1023-E9F3-9765-31F36D5C0268}"/>
              </a:ext>
            </a:extLst>
          </p:cNvPr>
          <p:cNvPicPr>
            <a:picLocks noChangeAspect="1"/>
          </p:cNvPicPr>
          <p:nvPr/>
        </p:nvPicPr>
        <p:blipFill>
          <a:blip r:embed="rId2"/>
          <a:stretch>
            <a:fillRect/>
          </a:stretch>
        </p:blipFill>
        <p:spPr>
          <a:xfrm>
            <a:off x="715127" y="2882859"/>
            <a:ext cx="2420702" cy="2425430"/>
          </a:xfrm>
          <a:prstGeom prst="rect">
            <a:avLst/>
          </a:prstGeom>
        </p:spPr>
      </p:pic>
      <p:pic>
        <p:nvPicPr>
          <p:cNvPr id="7" name="Picture 6">
            <a:extLst>
              <a:ext uri="{FF2B5EF4-FFF2-40B4-BE49-F238E27FC236}">
                <a16:creationId xmlns:a16="http://schemas.microsoft.com/office/drawing/2014/main" id="{247A7704-61AF-0997-8ED8-2CE8EF7E0F01}"/>
              </a:ext>
            </a:extLst>
          </p:cNvPr>
          <p:cNvPicPr>
            <a:picLocks noChangeAspect="1"/>
          </p:cNvPicPr>
          <p:nvPr/>
        </p:nvPicPr>
        <p:blipFill>
          <a:blip r:embed="rId3"/>
          <a:stretch>
            <a:fillRect/>
          </a:stretch>
        </p:blipFill>
        <p:spPr>
          <a:xfrm>
            <a:off x="3883995" y="1889613"/>
            <a:ext cx="4424009" cy="4411922"/>
          </a:xfrm>
          <a:prstGeom prst="rect">
            <a:avLst/>
          </a:prstGeom>
        </p:spPr>
      </p:pic>
      <p:pic>
        <p:nvPicPr>
          <p:cNvPr id="13" name="Picture 12">
            <a:extLst>
              <a:ext uri="{FF2B5EF4-FFF2-40B4-BE49-F238E27FC236}">
                <a16:creationId xmlns:a16="http://schemas.microsoft.com/office/drawing/2014/main" id="{A483C428-5173-CF10-D53F-F5DA236931BB}"/>
              </a:ext>
            </a:extLst>
          </p:cNvPr>
          <p:cNvPicPr>
            <a:picLocks noChangeAspect="1"/>
          </p:cNvPicPr>
          <p:nvPr/>
        </p:nvPicPr>
        <p:blipFill>
          <a:blip r:embed="rId4"/>
          <a:stretch>
            <a:fillRect/>
          </a:stretch>
        </p:blipFill>
        <p:spPr>
          <a:xfrm>
            <a:off x="9056170" y="2882859"/>
            <a:ext cx="2445600" cy="2425430"/>
          </a:xfrm>
          <a:prstGeom prst="rect">
            <a:avLst/>
          </a:prstGeom>
        </p:spPr>
      </p:pic>
      <p:sp>
        <p:nvSpPr>
          <p:cNvPr id="14" name="Arrow: Right 13">
            <a:extLst>
              <a:ext uri="{FF2B5EF4-FFF2-40B4-BE49-F238E27FC236}">
                <a16:creationId xmlns:a16="http://schemas.microsoft.com/office/drawing/2014/main" id="{AAE41B76-A275-385F-DB20-8EA3429A8A61}"/>
              </a:ext>
            </a:extLst>
          </p:cNvPr>
          <p:cNvSpPr/>
          <p:nvPr/>
        </p:nvSpPr>
        <p:spPr>
          <a:xfrm>
            <a:off x="3326177" y="3954568"/>
            <a:ext cx="367469" cy="2820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FDC06823-57C1-C75E-7C4E-4C79789C9BA4}"/>
              </a:ext>
            </a:extLst>
          </p:cNvPr>
          <p:cNvSpPr/>
          <p:nvPr/>
        </p:nvSpPr>
        <p:spPr>
          <a:xfrm>
            <a:off x="8498352" y="3954568"/>
            <a:ext cx="367469" cy="2820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77C4125-CBF8-876D-25C7-130A9C0A97B5}"/>
              </a:ext>
            </a:extLst>
          </p:cNvPr>
          <p:cNvSpPr txBox="1"/>
          <p:nvPr/>
        </p:nvSpPr>
        <p:spPr>
          <a:xfrm>
            <a:off x="1081364" y="2513527"/>
            <a:ext cx="1688228"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O</a:t>
            </a:r>
            <a:r>
              <a:rPr lang="en-US" altLang="ko-KR" b="0" i="0" dirty="0">
                <a:solidFill>
                  <a:srgbClr val="202122"/>
                </a:solidFill>
                <a:effectLst/>
                <a:latin typeface="Arial" panose="020B0604020202020204" pitchFamily="34" charset="0"/>
              </a:rPr>
              <a:t>riginal</a:t>
            </a:r>
            <a:endParaRPr lang="ko-KR" altLang="en-US" dirty="0"/>
          </a:p>
        </p:txBody>
      </p:sp>
      <p:sp>
        <p:nvSpPr>
          <p:cNvPr id="19" name="TextBox 18">
            <a:extLst>
              <a:ext uri="{FF2B5EF4-FFF2-40B4-BE49-F238E27FC236}">
                <a16:creationId xmlns:a16="http://schemas.microsoft.com/office/drawing/2014/main" id="{9BE9B3A1-8AD5-B06A-139B-FA47E2F95285}"/>
              </a:ext>
            </a:extLst>
          </p:cNvPr>
          <p:cNvSpPr txBox="1"/>
          <p:nvPr/>
        </p:nvSpPr>
        <p:spPr>
          <a:xfrm>
            <a:off x="4086560" y="1520281"/>
            <a:ext cx="4018877"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Two-level Wavelet Transform</a:t>
            </a:r>
          </a:p>
        </p:txBody>
      </p:sp>
      <p:sp>
        <p:nvSpPr>
          <p:cNvPr id="22" name="TextBox 21">
            <a:extLst>
              <a:ext uri="{FF2B5EF4-FFF2-40B4-BE49-F238E27FC236}">
                <a16:creationId xmlns:a16="http://schemas.microsoft.com/office/drawing/2014/main" id="{8801117E-6947-EB93-FD2E-1467280D8D64}"/>
              </a:ext>
            </a:extLst>
          </p:cNvPr>
          <p:cNvSpPr txBox="1"/>
          <p:nvPr/>
        </p:nvSpPr>
        <p:spPr>
          <a:xfrm>
            <a:off x="8743463" y="2257101"/>
            <a:ext cx="3071012" cy="646331"/>
          </a:xfrm>
          <a:prstGeom prst="rect">
            <a:avLst/>
          </a:prstGeom>
          <a:noFill/>
        </p:spPr>
        <p:txBody>
          <a:bodyPr wrap="square">
            <a:spAutoFit/>
          </a:bodyPr>
          <a:lstStyle/>
          <a:p>
            <a:pPr algn="ctr"/>
            <a:r>
              <a:rPr lang="it-IT" altLang="ko-KR" dirty="0">
                <a:solidFill>
                  <a:srgbClr val="202122"/>
                </a:solidFill>
                <a:latin typeface="Arial" panose="020B0604020202020204" pitchFamily="34" charset="0"/>
              </a:rPr>
              <a:t>Zero the non-LL Subbands &amp; Restore </a:t>
            </a:r>
          </a:p>
        </p:txBody>
      </p:sp>
      <p:sp>
        <p:nvSpPr>
          <p:cNvPr id="23" name="TextBox 22">
            <a:extLst>
              <a:ext uri="{FF2B5EF4-FFF2-40B4-BE49-F238E27FC236}">
                <a16:creationId xmlns:a16="http://schemas.microsoft.com/office/drawing/2014/main" id="{A210828F-D984-ED73-CEA3-2408EEF521D0}"/>
              </a:ext>
            </a:extLst>
          </p:cNvPr>
          <p:cNvSpPr txBox="1"/>
          <p:nvPr/>
        </p:nvSpPr>
        <p:spPr>
          <a:xfrm>
            <a:off x="8485098" y="5389423"/>
            <a:ext cx="3587742" cy="646331"/>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Noise Reduction / Loss of quality at the image edges.  </a:t>
            </a:r>
          </a:p>
        </p:txBody>
      </p:sp>
      <p:sp>
        <p:nvSpPr>
          <p:cNvPr id="24" name="TextBox 23">
            <a:extLst>
              <a:ext uri="{FF2B5EF4-FFF2-40B4-BE49-F238E27FC236}">
                <a16:creationId xmlns:a16="http://schemas.microsoft.com/office/drawing/2014/main" id="{EFF0E937-3121-06D5-337A-59D0A1196B1E}"/>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5"/>
              </a:rPr>
              <a:t>https://uotechnology.edu.iq/ce/Lectures/Image_Processing_4th/DIP_Lecture8.pdf</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1438374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18FE5-98C2-1C77-A8D7-94A708B9B3C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1135BC7-C9D1-4848-F9E0-8E6A75F09A20}"/>
              </a:ext>
            </a:extLst>
          </p:cNvPr>
          <p:cNvSpPr txBox="1"/>
          <p:nvPr/>
        </p:nvSpPr>
        <p:spPr>
          <a:xfrm>
            <a:off x="191115" y="931008"/>
            <a:ext cx="6055861" cy="461665"/>
          </a:xfrm>
          <a:prstGeom prst="rect">
            <a:avLst/>
          </a:prstGeom>
          <a:noFill/>
        </p:spPr>
        <p:txBody>
          <a:bodyPr wrap="square" rtlCol="0">
            <a:spAutoFit/>
          </a:bodyPr>
          <a:lstStyle/>
          <a:p>
            <a:r>
              <a:rPr lang="en-US" altLang="ko-KR" sz="2400" i="1" dirty="0"/>
              <a:t>Applications</a:t>
            </a:r>
          </a:p>
        </p:txBody>
      </p:sp>
      <p:sp>
        <p:nvSpPr>
          <p:cNvPr id="10" name="TextBox 9">
            <a:extLst>
              <a:ext uri="{FF2B5EF4-FFF2-40B4-BE49-F238E27FC236}">
                <a16:creationId xmlns:a16="http://schemas.microsoft.com/office/drawing/2014/main" id="{5D7C1C21-6BCF-BB07-2FCC-F166908103B7}"/>
              </a:ext>
            </a:extLst>
          </p:cNvPr>
          <p:cNvSpPr txBox="1"/>
          <p:nvPr/>
        </p:nvSpPr>
        <p:spPr>
          <a:xfrm>
            <a:off x="109348" y="407788"/>
            <a:ext cx="3848316" cy="523220"/>
          </a:xfrm>
          <a:prstGeom prst="rect">
            <a:avLst/>
          </a:prstGeom>
          <a:noFill/>
        </p:spPr>
        <p:txBody>
          <a:bodyPr wrap="square" rtlCol="0">
            <a:spAutoFit/>
          </a:bodyPr>
          <a:lstStyle/>
          <a:p>
            <a:r>
              <a:rPr lang="en-US" altLang="ko-KR" sz="2800" b="1" dirty="0"/>
              <a:t>Wavelet Transform </a:t>
            </a:r>
          </a:p>
        </p:txBody>
      </p:sp>
      <p:sp>
        <p:nvSpPr>
          <p:cNvPr id="2" name="TextBox 1">
            <a:extLst>
              <a:ext uri="{FF2B5EF4-FFF2-40B4-BE49-F238E27FC236}">
                <a16:creationId xmlns:a16="http://schemas.microsoft.com/office/drawing/2014/main" id="{29C93C45-C7D4-FCCE-56C1-A2F2E03EF262}"/>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Feature Extraction</a:t>
            </a:r>
            <a:endParaRPr lang="en-US" altLang="ko-KR" sz="2000" b="1" dirty="0">
              <a:solidFill>
                <a:srgbClr val="FF0000"/>
              </a:solidFill>
            </a:endParaRPr>
          </a:p>
        </p:txBody>
      </p:sp>
      <p:sp>
        <p:nvSpPr>
          <p:cNvPr id="3" name="TextBox 2">
            <a:extLst>
              <a:ext uri="{FF2B5EF4-FFF2-40B4-BE49-F238E27FC236}">
                <a16:creationId xmlns:a16="http://schemas.microsoft.com/office/drawing/2014/main" id="{FE5174F0-D9FF-6318-730D-728B93B4B990}"/>
              </a:ext>
            </a:extLst>
          </p:cNvPr>
          <p:cNvSpPr txBox="1"/>
          <p:nvPr/>
        </p:nvSpPr>
        <p:spPr>
          <a:xfrm>
            <a:off x="197337" y="1792783"/>
            <a:ext cx="4101198" cy="1015663"/>
          </a:xfrm>
          <a:prstGeom prst="rect">
            <a:avLst/>
          </a:prstGeom>
          <a:noFill/>
        </p:spPr>
        <p:txBody>
          <a:bodyPr wrap="square" rtlCol="0">
            <a:spAutoFit/>
          </a:bodyPr>
          <a:lstStyle/>
          <a:p>
            <a:pPr algn="just"/>
            <a:r>
              <a:rPr lang="en-US" altLang="ko-KR" sz="2000" dirty="0"/>
              <a:t>Wavelet transforms can be used to extract important features to improve neural network’s performance.</a:t>
            </a:r>
          </a:p>
        </p:txBody>
      </p:sp>
      <p:pic>
        <p:nvPicPr>
          <p:cNvPr id="6" name="Picture 5">
            <a:extLst>
              <a:ext uri="{FF2B5EF4-FFF2-40B4-BE49-F238E27FC236}">
                <a16:creationId xmlns:a16="http://schemas.microsoft.com/office/drawing/2014/main" id="{851F05C0-F9E9-279A-599B-24F0025FB80F}"/>
              </a:ext>
            </a:extLst>
          </p:cNvPr>
          <p:cNvPicPr>
            <a:picLocks noChangeAspect="1"/>
          </p:cNvPicPr>
          <p:nvPr/>
        </p:nvPicPr>
        <p:blipFill>
          <a:blip r:embed="rId2"/>
          <a:stretch>
            <a:fillRect/>
          </a:stretch>
        </p:blipFill>
        <p:spPr>
          <a:xfrm>
            <a:off x="4521167" y="411299"/>
            <a:ext cx="7426341" cy="6035401"/>
          </a:xfrm>
          <a:prstGeom prst="rect">
            <a:avLst/>
          </a:prstGeom>
        </p:spPr>
      </p:pic>
      <p:sp>
        <p:nvSpPr>
          <p:cNvPr id="7" name="TextBox 6">
            <a:extLst>
              <a:ext uri="{FF2B5EF4-FFF2-40B4-BE49-F238E27FC236}">
                <a16:creationId xmlns:a16="http://schemas.microsoft.com/office/drawing/2014/main" id="{D11D142C-9D56-9392-CB4C-090B613CD6C9}"/>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3"/>
              </a:rPr>
              <a:t>https://onlinelibrary.wiley.com/doi/full/10.1155/2022/4345494</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531176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099381" y="2505795"/>
            <a:ext cx="4872669" cy="967957"/>
          </a:xfrm>
          <a:prstGeom prst="rect">
            <a:avLst/>
          </a:prstGeom>
          <a:noFill/>
        </p:spPr>
        <p:txBody>
          <a:bodyPr wrap="square" rtlCol="0">
            <a:spAutoFit/>
          </a:bodyPr>
          <a:lstStyle/>
          <a:p>
            <a:pPr>
              <a:lnSpc>
                <a:spcPct val="150000"/>
              </a:lnSpc>
            </a:pPr>
            <a:r>
              <a:rPr lang="en-US" altLang="ko-KR" sz="2000" b="1" dirty="0">
                <a:solidFill>
                  <a:schemeClr val="bg1">
                    <a:lumMod val="85000"/>
                  </a:schemeClr>
                </a:solidFill>
              </a:rPr>
              <a:t>Wavelet Transform </a:t>
            </a:r>
          </a:p>
          <a:p>
            <a:pPr>
              <a:lnSpc>
                <a:spcPct val="150000"/>
              </a:lnSpc>
            </a:pPr>
            <a:r>
              <a:rPr lang="en-US" altLang="ko-KR" sz="2000" b="1" dirty="0"/>
              <a:t>Geometric Transformations</a:t>
            </a:r>
          </a:p>
        </p:txBody>
      </p:sp>
    </p:spTree>
    <p:extLst>
      <p:ext uri="{BB962C8B-B14F-4D97-AF65-F5344CB8AC3E}">
        <p14:creationId xmlns:p14="http://schemas.microsoft.com/office/powerpoint/2010/main" val="1534316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8EE3BA-ACDA-25ED-2CC6-FD698D0DEBEB}"/>
              </a:ext>
            </a:extLst>
          </p:cNvPr>
          <p:cNvSpPr txBox="1"/>
          <p:nvPr/>
        </p:nvSpPr>
        <p:spPr>
          <a:xfrm>
            <a:off x="191115" y="931008"/>
            <a:ext cx="4279127" cy="461665"/>
          </a:xfrm>
          <a:prstGeom prst="rect">
            <a:avLst/>
          </a:prstGeom>
          <a:noFill/>
        </p:spPr>
        <p:txBody>
          <a:bodyPr wrap="square" rtlCol="0">
            <a:spAutoFit/>
          </a:bodyPr>
          <a:lstStyle/>
          <a:p>
            <a:r>
              <a:rPr lang="en-US" altLang="ko-KR" sz="2400" i="1" dirty="0"/>
              <a:t>Concept</a:t>
            </a:r>
            <a:endParaRPr lang="en-US" altLang="ko-KR" sz="2400" i="1" dirty="0">
              <a:solidFill>
                <a:srgbClr val="FF0000"/>
              </a:solidFill>
            </a:endParaRPr>
          </a:p>
        </p:txBody>
      </p:sp>
      <p:sp>
        <p:nvSpPr>
          <p:cNvPr id="5" name="TextBox 4">
            <a:extLst>
              <a:ext uri="{FF2B5EF4-FFF2-40B4-BE49-F238E27FC236}">
                <a16:creationId xmlns:a16="http://schemas.microsoft.com/office/drawing/2014/main" id="{E0559EAD-929B-986B-2CDB-CAC9163D4B5D}"/>
              </a:ext>
            </a:extLst>
          </p:cNvPr>
          <p:cNvSpPr txBox="1"/>
          <p:nvPr/>
        </p:nvSpPr>
        <p:spPr>
          <a:xfrm>
            <a:off x="109348" y="407788"/>
            <a:ext cx="5635844" cy="523220"/>
          </a:xfrm>
          <a:prstGeom prst="rect">
            <a:avLst/>
          </a:prstGeom>
          <a:noFill/>
        </p:spPr>
        <p:txBody>
          <a:bodyPr wrap="square" rtlCol="0">
            <a:spAutoFit/>
          </a:bodyPr>
          <a:lstStyle/>
          <a:p>
            <a:r>
              <a:rPr lang="en-US" altLang="ko-KR" sz="2800" b="1" dirty="0"/>
              <a:t>Geometric Transformations</a:t>
            </a:r>
          </a:p>
        </p:txBody>
      </p:sp>
      <p:sp>
        <p:nvSpPr>
          <p:cNvPr id="2" name="TextBox 1">
            <a:extLst>
              <a:ext uri="{FF2B5EF4-FFF2-40B4-BE49-F238E27FC236}">
                <a16:creationId xmlns:a16="http://schemas.microsoft.com/office/drawing/2014/main" id="{E1DE9CA0-DD02-F03B-0F37-3722F01F4829}"/>
              </a:ext>
            </a:extLst>
          </p:cNvPr>
          <p:cNvSpPr txBox="1"/>
          <p:nvPr/>
        </p:nvSpPr>
        <p:spPr>
          <a:xfrm>
            <a:off x="191115" y="1392673"/>
            <a:ext cx="11809770" cy="1015663"/>
          </a:xfrm>
          <a:prstGeom prst="rect">
            <a:avLst/>
          </a:prstGeom>
          <a:noFill/>
        </p:spPr>
        <p:txBody>
          <a:bodyPr wrap="square" rtlCol="0">
            <a:spAutoFit/>
          </a:bodyPr>
          <a:lstStyle/>
          <a:p>
            <a:pPr algn="just"/>
            <a:r>
              <a:rPr lang="en-US" altLang="ko-KR" sz="2000" dirty="0"/>
              <a:t>Geometric Transformations in image processing involve altering an image's geometry by manipulating its pixels based on mathematical operations, such as translations, rotations, scaling, and shearing. These transformations are used to modify an image's position, size, rotation, or shape</a:t>
            </a:r>
            <a:endParaRPr lang="en-US" altLang="ko-KR" sz="2000" dirty="0">
              <a:solidFill>
                <a:srgbClr val="FF0000"/>
              </a:solidFill>
            </a:endParaRPr>
          </a:p>
        </p:txBody>
      </p:sp>
      <p:pic>
        <p:nvPicPr>
          <p:cNvPr id="7" name="Picture 6">
            <a:extLst>
              <a:ext uri="{FF2B5EF4-FFF2-40B4-BE49-F238E27FC236}">
                <a16:creationId xmlns:a16="http://schemas.microsoft.com/office/drawing/2014/main" id="{D49B5734-2076-A6AA-E928-85094C3F2C0C}"/>
              </a:ext>
            </a:extLst>
          </p:cNvPr>
          <p:cNvPicPr>
            <a:picLocks noChangeAspect="1"/>
          </p:cNvPicPr>
          <p:nvPr/>
        </p:nvPicPr>
        <p:blipFill>
          <a:blip r:embed="rId2"/>
          <a:stretch>
            <a:fillRect/>
          </a:stretch>
        </p:blipFill>
        <p:spPr>
          <a:xfrm>
            <a:off x="3193797" y="2522556"/>
            <a:ext cx="5804406" cy="3854218"/>
          </a:xfrm>
          <a:prstGeom prst="rect">
            <a:avLst/>
          </a:prstGeom>
        </p:spPr>
      </p:pic>
      <p:sp>
        <p:nvSpPr>
          <p:cNvPr id="8" name="TextBox 7">
            <a:extLst>
              <a:ext uri="{FF2B5EF4-FFF2-40B4-BE49-F238E27FC236}">
                <a16:creationId xmlns:a16="http://schemas.microsoft.com/office/drawing/2014/main" id="{D10475EF-D703-E336-AA11-EC269D06CCC1}"/>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3"/>
              </a:rPr>
              <a:t>https://www.geeksforgeeks.org/geometric-transformation-in-image-processing-1/</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649021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DD41-2FCC-8617-F077-99E9DBF217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ED74CA-4364-861C-2FEC-D110D438AF1B}"/>
              </a:ext>
            </a:extLst>
          </p:cNvPr>
          <p:cNvSpPr txBox="1"/>
          <p:nvPr/>
        </p:nvSpPr>
        <p:spPr>
          <a:xfrm>
            <a:off x="191115" y="931008"/>
            <a:ext cx="4279127" cy="461665"/>
          </a:xfrm>
          <a:prstGeom prst="rect">
            <a:avLst/>
          </a:prstGeom>
          <a:noFill/>
        </p:spPr>
        <p:txBody>
          <a:bodyPr wrap="square" rtlCol="0">
            <a:spAutoFit/>
          </a:bodyPr>
          <a:lstStyle/>
          <a:p>
            <a:r>
              <a:rPr lang="en-US" altLang="ko-KR" sz="2400" i="1" dirty="0"/>
              <a:t>Examples</a:t>
            </a:r>
            <a:endParaRPr lang="en-US" altLang="ko-KR" sz="2400" i="1" dirty="0">
              <a:solidFill>
                <a:srgbClr val="FF0000"/>
              </a:solidFill>
            </a:endParaRPr>
          </a:p>
        </p:txBody>
      </p:sp>
      <p:sp>
        <p:nvSpPr>
          <p:cNvPr id="5" name="TextBox 4">
            <a:extLst>
              <a:ext uri="{FF2B5EF4-FFF2-40B4-BE49-F238E27FC236}">
                <a16:creationId xmlns:a16="http://schemas.microsoft.com/office/drawing/2014/main" id="{1E9F7858-CAA4-5836-34C0-40E890C8EB4E}"/>
              </a:ext>
            </a:extLst>
          </p:cNvPr>
          <p:cNvSpPr txBox="1"/>
          <p:nvPr/>
        </p:nvSpPr>
        <p:spPr>
          <a:xfrm>
            <a:off x="109348" y="407788"/>
            <a:ext cx="5385678" cy="523220"/>
          </a:xfrm>
          <a:prstGeom prst="rect">
            <a:avLst/>
          </a:prstGeom>
          <a:noFill/>
        </p:spPr>
        <p:txBody>
          <a:bodyPr wrap="square" rtlCol="0">
            <a:spAutoFit/>
          </a:bodyPr>
          <a:lstStyle/>
          <a:p>
            <a:r>
              <a:rPr lang="en-US" altLang="ko-KR" sz="2800" b="1" dirty="0"/>
              <a:t>Geometric Transformations</a:t>
            </a:r>
          </a:p>
        </p:txBody>
      </p:sp>
      <p:sp>
        <p:nvSpPr>
          <p:cNvPr id="3" name="TextBox 2">
            <a:extLst>
              <a:ext uri="{FF2B5EF4-FFF2-40B4-BE49-F238E27FC236}">
                <a16:creationId xmlns:a16="http://schemas.microsoft.com/office/drawing/2014/main" id="{04F4EA23-8E17-699B-47CA-55AADB316D07}"/>
              </a:ext>
            </a:extLst>
          </p:cNvPr>
          <p:cNvSpPr txBox="1"/>
          <p:nvPr/>
        </p:nvSpPr>
        <p:spPr>
          <a:xfrm>
            <a:off x="191115" y="1392673"/>
            <a:ext cx="11809770" cy="400110"/>
          </a:xfrm>
          <a:prstGeom prst="rect">
            <a:avLst/>
          </a:prstGeom>
          <a:noFill/>
        </p:spPr>
        <p:txBody>
          <a:bodyPr wrap="square" rtlCol="0">
            <a:spAutoFit/>
          </a:bodyPr>
          <a:lstStyle/>
          <a:p>
            <a:pPr algn="just"/>
            <a:r>
              <a:rPr lang="en-US" sz="2000" dirty="0"/>
              <a:t>- Translation</a:t>
            </a:r>
          </a:p>
        </p:txBody>
      </p:sp>
      <p:sp>
        <p:nvSpPr>
          <p:cNvPr id="6" name="TextBox 5">
            <a:extLst>
              <a:ext uri="{FF2B5EF4-FFF2-40B4-BE49-F238E27FC236}">
                <a16:creationId xmlns:a16="http://schemas.microsoft.com/office/drawing/2014/main" id="{2DBB6830-D294-D6EF-7903-00A66FDCE82C}"/>
              </a:ext>
            </a:extLst>
          </p:cNvPr>
          <p:cNvSpPr txBox="1"/>
          <p:nvPr/>
        </p:nvSpPr>
        <p:spPr>
          <a:xfrm>
            <a:off x="191115" y="1792783"/>
            <a:ext cx="11809770" cy="400110"/>
          </a:xfrm>
          <a:prstGeom prst="rect">
            <a:avLst/>
          </a:prstGeom>
          <a:noFill/>
        </p:spPr>
        <p:txBody>
          <a:bodyPr wrap="square" rtlCol="0">
            <a:spAutoFit/>
          </a:bodyPr>
          <a:lstStyle/>
          <a:p>
            <a:pPr algn="just"/>
            <a:r>
              <a:rPr lang="en-US" sz="2000" dirty="0"/>
              <a:t>- Scaling</a:t>
            </a:r>
          </a:p>
        </p:txBody>
      </p:sp>
      <p:sp>
        <p:nvSpPr>
          <p:cNvPr id="9" name="TextBox 8">
            <a:extLst>
              <a:ext uri="{FF2B5EF4-FFF2-40B4-BE49-F238E27FC236}">
                <a16:creationId xmlns:a16="http://schemas.microsoft.com/office/drawing/2014/main" id="{402DAA74-300A-C623-8AE3-DA69632676AF}"/>
              </a:ext>
            </a:extLst>
          </p:cNvPr>
          <p:cNvSpPr txBox="1"/>
          <p:nvPr/>
        </p:nvSpPr>
        <p:spPr>
          <a:xfrm>
            <a:off x="191115" y="2192893"/>
            <a:ext cx="11809770" cy="400110"/>
          </a:xfrm>
          <a:prstGeom prst="rect">
            <a:avLst/>
          </a:prstGeom>
          <a:noFill/>
        </p:spPr>
        <p:txBody>
          <a:bodyPr wrap="square" rtlCol="0">
            <a:spAutoFit/>
          </a:bodyPr>
          <a:lstStyle/>
          <a:p>
            <a:pPr algn="just"/>
            <a:r>
              <a:rPr lang="en-US" sz="2000" dirty="0"/>
              <a:t>- Rotation</a:t>
            </a:r>
          </a:p>
        </p:txBody>
      </p:sp>
      <p:sp>
        <p:nvSpPr>
          <p:cNvPr id="10" name="TextBox 9">
            <a:extLst>
              <a:ext uri="{FF2B5EF4-FFF2-40B4-BE49-F238E27FC236}">
                <a16:creationId xmlns:a16="http://schemas.microsoft.com/office/drawing/2014/main" id="{D5192B9A-F89D-5FDE-2DE5-0F46F2E72A22}"/>
              </a:ext>
            </a:extLst>
          </p:cNvPr>
          <p:cNvSpPr txBox="1"/>
          <p:nvPr/>
        </p:nvSpPr>
        <p:spPr>
          <a:xfrm>
            <a:off x="191115" y="2593003"/>
            <a:ext cx="11809770" cy="400110"/>
          </a:xfrm>
          <a:prstGeom prst="rect">
            <a:avLst/>
          </a:prstGeom>
          <a:noFill/>
        </p:spPr>
        <p:txBody>
          <a:bodyPr wrap="square" rtlCol="0">
            <a:spAutoFit/>
          </a:bodyPr>
          <a:lstStyle/>
          <a:p>
            <a:pPr algn="just"/>
            <a:r>
              <a:rPr lang="en-US" sz="2000" dirty="0"/>
              <a:t>- Shearing (Skewing)</a:t>
            </a:r>
          </a:p>
        </p:txBody>
      </p:sp>
      <p:sp>
        <p:nvSpPr>
          <p:cNvPr id="11" name="TextBox 10">
            <a:extLst>
              <a:ext uri="{FF2B5EF4-FFF2-40B4-BE49-F238E27FC236}">
                <a16:creationId xmlns:a16="http://schemas.microsoft.com/office/drawing/2014/main" id="{5BE1DC52-A25E-9148-867F-AEDBED1155E0}"/>
              </a:ext>
            </a:extLst>
          </p:cNvPr>
          <p:cNvSpPr txBox="1"/>
          <p:nvPr/>
        </p:nvSpPr>
        <p:spPr>
          <a:xfrm>
            <a:off x="191115" y="2993113"/>
            <a:ext cx="11809770" cy="400110"/>
          </a:xfrm>
          <a:prstGeom prst="rect">
            <a:avLst/>
          </a:prstGeom>
          <a:noFill/>
        </p:spPr>
        <p:txBody>
          <a:bodyPr wrap="square" rtlCol="0">
            <a:spAutoFit/>
          </a:bodyPr>
          <a:lstStyle/>
          <a:p>
            <a:pPr algn="just"/>
            <a:r>
              <a:rPr lang="en-US" sz="2000" dirty="0"/>
              <a:t>- Affine Transformation</a:t>
            </a:r>
          </a:p>
        </p:txBody>
      </p:sp>
      <p:sp>
        <p:nvSpPr>
          <p:cNvPr id="12" name="TextBox 11">
            <a:extLst>
              <a:ext uri="{FF2B5EF4-FFF2-40B4-BE49-F238E27FC236}">
                <a16:creationId xmlns:a16="http://schemas.microsoft.com/office/drawing/2014/main" id="{D4E2EE2E-0F41-1F9A-8B03-13E0B88A5AA9}"/>
              </a:ext>
            </a:extLst>
          </p:cNvPr>
          <p:cNvSpPr txBox="1"/>
          <p:nvPr/>
        </p:nvSpPr>
        <p:spPr>
          <a:xfrm>
            <a:off x="191115" y="3393223"/>
            <a:ext cx="11809770" cy="400110"/>
          </a:xfrm>
          <a:prstGeom prst="rect">
            <a:avLst/>
          </a:prstGeom>
          <a:noFill/>
        </p:spPr>
        <p:txBody>
          <a:bodyPr wrap="square" rtlCol="0">
            <a:spAutoFit/>
          </a:bodyPr>
          <a:lstStyle/>
          <a:p>
            <a:pPr algn="just"/>
            <a:r>
              <a:rPr lang="en-US" sz="2000" dirty="0"/>
              <a:t>- Perspective Transformation</a:t>
            </a:r>
          </a:p>
        </p:txBody>
      </p:sp>
      <p:sp>
        <p:nvSpPr>
          <p:cNvPr id="13" name="TextBox 12">
            <a:extLst>
              <a:ext uri="{FF2B5EF4-FFF2-40B4-BE49-F238E27FC236}">
                <a16:creationId xmlns:a16="http://schemas.microsoft.com/office/drawing/2014/main" id="{6165E1D6-49BF-96E4-2CF7-93B6E6AAD183}"/>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2"/>
              </a:rPr>
              <a:t>https://www.geeksforgeeks.org/geometric-transformation-in-image-processing-1/</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2902339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CEE3B-DF12-9CED-29AB-A7D0CE12AA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7E562F-5044-A444-E81C-9C4883D822E1}"/>
              </a:ext>
            </a:extLst>
          </p:cNvPr>
          <p:cNvSpPr txBox="1"/>
          <p:nvPr/>
        </p:nvSpPr>
        <p:spPr>
          <a:xfrm>
            <a:off x="191115" y="931008"/>
            <a:ext cx="4279127" cy="461665"/>
          </a:xfrm>
          <a:prstGeom prst="rect">
            <a:avLst/>
          </a:prstGeom>
          <a:noFill/>
        </p:spPr>
        <p:txBody>
          <a:bodyPr wrap="square" rtlCol="0">
            <a:spAutoFit/>
          </a:bodyPr>
          <a:lstStyle/>
          <a:p>
            <a:r>
              <a:rPr lang="en-US" altLang="ko-KR" sz="2400" i="1" dirty="0"/>
              <a:t>Translation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A97124B1-5186-E22D-1443-B95E9ADD0790}"/>
              </a:ext>
            </a:extLst>
          </p:cNvPr>
          <p:cNvSpPr txBox="1"/>
          <p:nvPr/>
        </p:nvSpPr>
        <p:spPr>
          <a:xfrm>
            <a:off x="109348" y="407788"/>
            <a:ext cx="6075792" cy="523220"/>
          </a:xfrm>
          <a:prstGeom prst="rect">
            <a:avLst/>
          </a:prstGeom>
          <a:noFill/>
        </p:spPr>
        <p:txBody>
          <a:bodyPr wrap="square" rtlCol="0">
            <a:spAutoFit/>
          </a:bodyPr>
          <a:lstStyle/>
          <a:p>
            <a:r>
              <a:rPr lang="en-US" altLang="ko-KR" sz="2800" b="1" dirty="0"/>
              <a:t>Geometric Transformations</a:t>
            </a:r>
          </a:p>
        </p:txBody>
      </p:sp>
      <p:pic>
        <p:nvPicPr>
          <p:cNvPr id="15362" name="Picture 2" descr="Translation">
            <a:extLst>
              <a:ext uri="{FF2B5EF4-FFF2-40B4-BE49-F238E27FC236}">
                <a16:creationId xmlns:a16="http://schemas.microsoft.com/office/drawing/2014/main" id="{6420E121-CF4A-F463-B7A4-67297F66B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186" y="2443806"/>
            <a:ext cx="4089536" cy="4076635"/>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Translation">
            <a:extLst>
              <a:ext uri="{FF2B5EF4-FFF2-40B4-BE49-F238E27FC236}">
                <a16:creationId xmlns:a16="http://schemas.microsoft.com/office/drawing/2014/main" id="{322D03C9-B6F8-711A-EC8E-89CC29CBC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4370" y="2443806"/>
            <a:ext cx="4089536" cy="407663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DB9148C-9FED-FDF1-A6CC-6C16087B5576}"/>
              </a:ext>
            </a:extLst>
          </p:cNvPr>
          <p:cNvSpPr txBox="1"/>
          <p:nvPr/>
        </p:nvSpPr>
        <p:spPr>
          <a:xfrm>
            <a:off x="191115" y="1392673"/>
            <a:ext cx="11809770" cy="400110"/>
          </a:xfrm>
          <a:prstGeom prst="rect">
            <a:avLst/>
          </a:prstGeom>
          <a:noFill/>
        </p:spPr>
        <p:txBody>
          <a:bodyPr wrap="square" rtlCol="0">
            <a:spAutoFit/>
          </a:bodyPr>
          <a:lstStyle/>
          <a:p>
            <a:pPr algn="just"/>
            <a:r>
              <a:rPr lang="en-US" sz="2000" dirty="0"/>
              <a:t>- Shifting an image in a specific direction (horizontally and/or vertically). </a:t>
            </a:r>
          </a:p>
        </p:txBody>
      </p:sp>
      <p:sp>
        <p:nvSpPr>
          <p:cNvPr id="3" name="TextBox 2">
            <a:extLst>
              <a:ext uri="{FF2B5EF4-FFF2-40B4-BE49-F238E27FC236}">
                <a16:creationId xmlns:a16="http://schemas.microsoft.com/office/drawing/2014/main" id="{74619E97-45BC-3F0E-9786-C57688326032}"/>
              </a:ext>
            </a:extLst>
          </p:cNvPr>
          <p:cNvSpPr txBox="1"/>
          <p:nvPr/>
        </p:nvSpPr>
        <p:spPr>
          <a:xfrm>
            <a:off x="191115" y="1792783"/>
            <a:ext cx="11809770" cy="400110"/>
          </a:xfrm>
          <a:prstGeom prst="rect">
            <a:avLst/>
          </a:prstGeom>
          <a:noFill/>
        </p:spPr>
        <p:txBody>
          <a:bodyPr wrap="square" rtlCol="0">
            <a:spAutoFit/>
          </a:bodyPr>
          <a:lstStyle/>
          <a:p>
            <a:pPr algn="just"/>
            <a:r>
              <a:rPr lang="en-US" sz="2000" dirty="0"/>
              <a:t>- This transformation moves every pixel by a constant offset.</a:t>
            </a:r>
          </a:p>
        </p:txBody>
      </p:sp>
    </p:spTree>
    <p:extLst>
      <p:ext uri="{BB962C8B-B14F-4D97-AF65-F5344CB8AC3E}">
        <p14:creationId xmlns:p14="http://schemas.microsoft.com/office/powerpoint/2010/main" val="3428964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2B623-AF38-1884-E177-91576C32883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4D96EA-A5B4-0276-0BB4-91119BFAF5BD}"/>
              </a:ext>
            </a:extLst>
          </p:cNvPr>
          <p:cNvSpPr txBox="1"/>
          <p:nvPr/>
        </p:nvSpPr>
        <p:spPr>
          <a:xfrm>
            <a:off x="191115" y="931008"/>
            <a:ext cx="4279127" cy="461665"/>
          </a:xfrm>
          <a:prstGeom prst="rect">
            <a:avLst/>
          </a:prstGeom>
          <a:noFill/>
        </p:spPr>
        <p:txBody>
          <a:bodyPr wrap="square" rtlCol="0">
            <a:spAutoFit/>
          </a:bodyPr>
          <a:lstStyle/>
          <a:p>
            <a:r>
              <a:rPr lang="en-US" altLang="ko-KR" sz="2400" i="1" dirty="0"/>
              <a:t>Scaling</a:t>
            </a:r>
            <a:endParaRPr lang="en-US" altLang="ko-KR" sz="2400" i="1" dirty="0">
              <a:solidFill>
                <a:srgbClr val="FF0000"/>
              </a:solidFill>
            </a:endParaRPr>
          </a:p>
        </p:txBody>
      </p:sp>
      <p:sp>
        <p:nvSpPr>
          <p:cNvPr id="5" name="TextBox 4">
            <a:extLst>
              <a:ext uri="{FF2B5EF4-FFF2-40B4-BE49-F238E27FC236}">
                <a16:creationId xmlns:a16="http://schemas.microsoft.com/office/drawing/2014/main" id="{ABC8B81D-E51B-AF33-34D2-E3D7140AB4AC}"/>
              </a:ext>
            </a:extLst>
          </p:cNvPr>
          <p:cNvSpPr txBox="1"/>
          <p:nvPr/>
        </p:nvSpPr>
        <p:spPr>
          <a:xfrm>
            <a:off x="109348" y="407788"/>
            <a:ext cx="6990192" cy="523220"/>
          </a:xfrm>
          <a:prstGeom prst="rect">
            <a:avLst/>
          </a:prstGeom>
          <a:noFill/>
        </p:spPr>
        <p:txBody>
          <a:bodyPr wrap="square" rtlCol="0">
            <a:spAutoFit/>
          </a:bodyPr>
          <a:lstStyle/>
          <a:p>
            <a:r>
              <a:rPr lang="en-US" altLang="ko-KR" sz="2800" b="1" dirty="0"/>
              <a:t>Geometric Transformations</a:t>
            </a:r>
          </a:p>
        </p:txBody>
      </p:sp>
      <p:sp>
        <p:nvSpPr>
          <p:cNvPr id="2" name="TextBox 1">
            <a:extLst>
              <a:ext uri="{FF2B5EF4-FFF2-40B4-BE49-F238E27FC236}">
                <a16:creationId xmlns:a16="http://schemas.microsoft.com/office/drawing/2014/main" id="{51E8ACFA-C9A6-8BBA-FB55-611DA0CCA19B}"/>
              </a:ext>
            </a:extLst>
          </p:cNvPr>
          <p:cNvSpPr txBox="1"/>
          <p:nvPr/>
        </p:nvSpPr>
        <p:spPr>
          <a:xfrm>
            <a:off x="191115" y="1392673"/>
            <a:ext cx="11809770" cy="400110"/>
          </a:xfrm>
          <a:prstGeom prst="rect">
            <a:avLst/>
          </a:prstGeom>
          <a:noFill/>
        </p:spPr>
        <p:txBody>
          <a:bodyPr wrap="square" rtlCol="0">
            <a:spAutoFit/>
          </a:bodyPr>
          <a:lstStyle/>
          <a:p>
            <a:pPr algn="just"/>
            <a:r>
              <a:rPr lang="en-US" sz="2000" dirty="0"/>
              <a:t>- Changing the size of an image (enlarging or reducing).</a:t>
            </a:r>
          </a:p>
        </p:txBody>
      </p:sp>
      <p:sp>
        <p:nvSpPr>
          <p:cNvPr id="3" name="TextBox 2">
            <a:extLst>
              <a:ext uri="{FF2B5EF4-FFF2-40B4-BE49-F238E27FC236}">
                <a16:creationId xmlns:a16="http://schemas.microsoft.com/office/drawing/2014/main" id="{393BE6E5-0A5E-06A1-3951-6E029215D8C3}"/>
              </a:ext>
            </a:extLst>
          </p:cNvPr>
          <p:cNvSpPr txBox="1"/>
          <p:nvPr/>
        </p:nvSpPr>
        <p:spPr>
          <a:xfrm>
            <a:off x="191115" y="1792783"/>
            <a:ext cx="11809770" cy="400110"/>
          </a:xfrm>
          <a:prstGeom prst="rect">
            <a:avLst/>
          </a:prstGeom>
          <a:noFill/>
        </p:spPr>
        <p:txBody>
          <a:bodyPr wrap="square" rtlCol="0">
            <a:spAutoFit/>
          </a:bodyPr>
          <a:lstStyle/>
          <a:p>
            <a:pPr algn="just"/>
            <a:r>
              <a:rPr lang="en-US" sz="2000" dirty="0"/>
              <a:t>- This involves multiplying pixel coordinates by scaling factors.</a:t>
            </a:r>
          </a:p>
        </p:txBody>
      </p:sp>
      <p:pic>
        <p:nvPicPr>
          <p:cNvPr id="17410" name="Picture 2" descr="2D Transformation in Computer Graphics">
            <a:extLst>
              <a:ext uri="{FF2B5EF4-FFF2-40B4-BE49-F238E27FC236}">
                <a16:creationId xmlns:a16="http://schemas.microsoft.com/office/drawing/2014/main" id="{96674996-C3C8-A74C-D2E6-B8DAC28207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1504" y="2950608"/>
            <a:ext cx="4945857" cy="3429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64FBB9D-81D1-CC94-D467-6536391D781E}"/>
              </a:ext>
            </a:extLst>
          </p:cNvPr>
          <p:cNvPicPr>
            <a:picLocks noChangeAspect="1"/>
          </p:cNvPicPr>
          <p:nvPr/>
        </p:nvPicPr>
        <p:blipFill>
          <a:blip r:embed="rId3"/>
          <a:stretch>
            <a:fillRect/>
          </a:stretch>
        </p:blipFill>
        <p:spPr>
          <a:xfrm>
            <a:off x="5118931" y="2702608"/>
            <a:ext cx="6062725" cy="2288136"/>
          </a:xfrm>
          <a:prstGeom prst="rect">
            <a:avLst/>
          </a:prstGeom>
        </p:spPr>
      </p:pic>
    </p:spTree>
    <p:extLst>
      <p:ext uri="{BB962C8B-B14F-4D97-AF65-F5344CB8AC3E}">
        <p14:creationId xmlns:p14="http://schemas.microsoft.com/office/powerpoint/2010/main" val="1552712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CB966-D357-C327-C6BE-FB4746124F3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E11C04-3C4E-6C37-ED3F-DF7BC584A0D3}"/>
              </a:ext>
            </a:extLst>
          </p:cNvPr>
          <p:cNvSpPr txBox="1"/>
          <p:nvPr/>
        </p:nvSpPr>
        <p:spPr>
          <a:xfrm>
            <a:off x="191115" y="931008"/>
            <a:ext cx="4279127" cy="461665"/>
          </a:xfrm>
          <a:prstGeom prst="rect">
            <a:avLst/>
          </a:prstGeom>
          <a:noFill/>
        </p:spPr>
        <p:txBody>
          <a:bodyPr wrap="square" rtlCol="0">
            <a:spAutoFit/>
          </a:bodyPr>
          <a:lstStyle/>
          <a:p>
            <a:r>
              <a:rPr lang="en-US" altLang="ko-KR" sz="2400" i="1" dirty="0"/>
              <a:t>Rotation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072914A2-4EC9-C0D5-0964-A29EA0C583DC}"/>
              </a:ext>
            </a:extLst>
          </p:cNvPr>
          <p:cNvSpPr txBox="1"/>
          <p:nvPr/>
        </p:nvSpPr>
        <p:spPr>
          <a:xfrm>
            <a:off x="109348" y="407788"/>
            <a:ext cx="6463980" cy="523220"/>
          </a:xfrm>
          <a:prstGeom prst="rect">
            <a:avLst/>
          </a:prstGeom>
          <a:noFill/>
        </p:spPr>
        <p:txBody>
          <a:bodyPr wrap="square" rtlCol="0">
            <a:spAutoFit/>
          </a:bodyPr>
          <a:lstStyle/>
          <a:p>
            <a:r>
              <a:rPr lang="en-US" altLang="ko-KR" sz="2800" b="1" dirty="0"/>
              <a:t>Geometric Transformations</a:t>
            </a:r>
          </a:p>
        </p:txBody>
      </p:sp>
      <p:sp>
        <p:nvSpPr>
          <p:cNvPr id="2" name="TextBox 1">
            <a:extLst>
              <a:ext uri="{FF2B5EF4-FFF2-40B4-BE49-F238E27FC236}">
                <a16:creationId xmlns:a16="http://schemas.microsoft.com/office/drawing/2014/main" id="{4C111DB1-083F-3D69-654E-CDCF07960983}"/>
              </a:ext>
            </a:extLst>
          </p:cNvPr>
          <p:cNvSpPr txBox="1"/>
          <p:nvPr/>
        </p:nvSpPr>
        <p:spPr>
          <a:xfrm>
            <a:off x="191115" y="1392673"/>
            <a:ext cx="11809770" cy="400110"/>
          </a:xfrm>
          <a:prstGeom prst="rect">
            <a:avLst/>
          </a:prstGeom>
          <a:noFill/>
        </p:spPr>
        <p:txBody>
          <a:bodyPr wrap="square" rtlCol="0">
            <a:spAutoFit/>
          </a:bodyPr>
          <a:lstStyle/>
          <a:p>
            <a:pPr algn="just"/>
            <a:r>
              <a:rPr lang="en-US" sz="2000" dirty="0"/>
              <a:t>- Turning an image around a specific point.</a:t>
            </a:r>
          </a:p>
        </p:txBody>
      </p:sp>
      <p:sp>
        <p:nvSpPr>
          <p:cNvPr id="3" name="TextBox 2">
            <a:extLst>
              <a:ext uri="{FF2B5EF4-FFF2-40B4-BE49-F238E27FC236}">
                <a16:creationId xmlns:a16="http://schemas.microsoft.com/office/drawing/2014/main" id="{83D30560-F1AA-F5A7-4A52-28A3399438CC}"/>
              </a:ext>
            </a:extLst>
          </p:cNvPr>
          <p:cNvSpPr txBox="1"/>
          <p:nvPr/>
        </p:nvSpPr>
        <p:spPr>
          <a:xfrm>
            <a:off x="191115" y="1792783"/>
            <a:ext cx="11809770" cy="400110"/>
          </a:xfrm>
          <a:prstGeom prst="rect">
            <a:avLst/>
          </a:prstGeom>
          <a:noFill/>
        </p:spPr>
        <p:txBody>
          <a:bodyPr wrap="square" rtlCol="0">
            <a:spAutoFit/>
          </a:bodyPr>
          <a:lstStyle/>
          <a:p>
            <a:pPr algn="just"/>
            <a:r>
              <a:rPr lang="en-US" sz="2000" dirty="0"/>
              <a:t>- This transformation involves rotating pixel coordinates by a certain angle.</a:t>
            </a:r>
          </a:p>
        </p:txBody>
      </p:sp>
      <p:pic>
        <p:nvPicPr>
          <p:cNvPr id="18434" name="Picture 2" descr="IMAGE PROCESSING: Image Rotation in MATLAB - Examples without imrotate  function – Part 2">
            <a:extLst>
              <a:ext uri="{FF2B5EF4-FFF2-40B4-BE49-F238E27FC236}">
                <a16:creationId xmlns:a16="http://schemas.microsoft.com/office/drawing/2014/main" id="{33DFD061-77C6-A428-1B66-6066F8131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4962" y="2237356"/>
            <a:ext cx="5566562" cy="4395457"/>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Find Image Rotation and Scale">
            <a:extLst>
              <a:ext uri="{FF2B5EF4-FFF2-40B4-BE49-F238E27FC236}">
                <a16:creationId xmlns:a16="http://schemas.microsoft.com/office/drawing/2014/main" id="{B684FD3A-A178-3DEC-745F-BC0D617CA9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89" t="6693" r="18605" b="16557"/>
          <a:stretch/>
        </p:blipFill>
        <p:spPr bwMode="auto">
          <a:xfrm>
            <a:off x="1546789" y="3264493"/>
            <a:ext cx="2512464" cy="2478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B406C09-C879-0D91-107E-CEDBE1828C37}"/>
              </a:ext>
            </a:extLst>
          </p:cNvPr>
          <p:cNvSpPr txBox="1"/>
          <p:nvPr/>
        </p:nvSpPr>
        <p:spPr>
          <a:xfrm>
            <a:off x="1958907" y="2929345"/>
            <a:ext cx="1688228" cy="369332"/>
          </a:xfrm>
          <a:prstGeom prst="rect">
            <a:avLst/>
          </a:prstGeom>
          <a:noFill/>
        </p:spPr>
        <p:txBody>
          <a:bodyPr wrap="square">
            <a:spAutoFit/>
          </a:bodyPr>
          <a:lstStyle/>
          <a:p>
            <a:pPr algn="ctr"/>
            <a:r>
              <a:rPr lang="en-US" altLang="ko-KR" dirty="0">
                <a:solidFill>
                  <a:srgbClr val="202122"/>
                </a:solidFill>
                <a:latin typeface="Arial" panose="020B0604020202020204" pitchFamily="34" charset="0"/>
              </a:rPr>
              <a:t>O</a:t>
            </a:r>
            <a:r>
              <a:rPr lang="en-US" altLang="ko-KR" b="0" i="0" dirty="0">
                <a:solidFill>
                  <a:srgbClr val="202122"/>
                </a:solidFill>
                <a:effectLst/>
                <a:latin typeface="Arial" panose="020B0604020202020204" pitchFamily="34" charset="0"/>
              </a:rPr>
              <a:t>riginal</a:t>
            </a:r>
            <a:endParaRPr lang="ko-KR" altLang="en-US" dirty="0"/>
          </a:p>
        </p:txBody>
      </p:sp>
    </p:spTree>
    <p:extLst>
      <p:ext uri="{BB962C8B-B14F-4D97-AF65-F5344CB8AC3E}">
        <p14:creationId xmlns:p14="http://schemas.microsoft.com/office/powerpoint/2010/main" val="3060888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52B3D-5AB9-9B63-210A-D83F3D2BD0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01C387-1544-E678-BD2B-183508394753}"/>
              </a:ext>
            </a:extLst>
          </p:cNvPr>
          <p:cNvSpPr txBox="1"/>
          <p:nvPr/>
        </p:nvSpPr>
        <p:spPr>
          <a:xfrm>
            <a:off x="191115" y="931008"/>
            <a:ext cx="4279127" cy="461665"/>
          </a:xfrm>
          <a:prstGeom prst="rect">
            <a:avLst/>
          </a:prstGeom>
          <a:noFill/>
        </p:spPr>
        <p:txBody>
          <a:bodyPr wrap="square" rtlCol="0">
            <a:spAutoFit/>
          </a:bodyPr>
          <a:lstStyle/>
          <a:p>
            <a:r>
              <a:rPr lang="en-US" altLang="ko-KR" sz="2400" i="1" dirty="0"/>
              <a:t>Shearing (Skewing)</a:t>
            </a:r>
            <a:endParaRPr lang="en-US" altLang="ko-KR" sz="2400" i="1" dirty="0">
              <a:solidFill>
                <a:srgbClr val="FF0000"/>
              </a:solidFill>
            </a:endParaRPr>
          </a:p>
        </p:txBody>
      </p:sp>
      <p:sp>
        <p:nvSpPr>
          <p:cNvPr id="5" name="TextBox 4">
            <a:extLst>
              <a:ext uri="{FF2B5EF4-FFF2-40B4-BE49-F238E27FC236}">
                <a16:creationId xmlns:a16="http://schemas.microsoft.com/office/drawing/2014/main" id="{2AAE2F99-B4C4-CD68-C9F0-69F2D56FEC36}"/>
              </a:ext>
            </a:extLst>
          </p:cNvPr>
          <p:cNvSpPr txBox="1"/>
          <p:nvPr/>
        </p:nvSpPr>
        <p:spPr>
          <a:xfrm>
            <a:off x="109347" y="407788"/>
            <a:ext cx="6144803" cy="523220"/>
          </a:xfrm>
          <a:prstGeom prst="rect">
            <a:avLst/>
          </a:prstGeom>
          <a:noFill/>
        </p:spPr>
        <p:txBody>
          <a:bodyPr wrap="square" rtlCol="0">
            <a:spAutoFit/>
          </a:bodyPr>
          <a:lstStyle/>
          <a:p>
            <a:r>
              <a:rPr lang="en-US" altLang="ko-KR" sz="2800" b="1" dirty="0"/>
              <a:t>Geometric Transformations</a:t>
            </a:r>
          </a:p>
        </p:txBody>
      </p:sp>
      <p:sp>
        <p:nvSpPr>
          <p:cNvPr id="2" name="TextBox 1">
            <a:extLst>
              <a:ext uri="{FF2B5EF4-FFF2-40B4-BE49-F238E27FC236}">
                <a16:creationId xmlns:a16="http://schemas.microsoft.com/office/drawing/2014/main" id="{3C4E9171-2EEF-3EF3-1C60-56092C757E3F}"/>
              </a:ext>
            </a:extLst>
          </p:cNvPr>
          <p:cNvSpPr txBox="1"/>
          <p:nvPr/>
        </p:nvSpPr>
        <p:spPr>
          <a:xfrm>
            <a:off x="191115" y="1392673"/>
            <a:ext cx="11809770" cy="400110"/>
          </a:xfrm>
          <a:prstGeom prst="rect">
            <a:avLst/>
          </a:prstGeom>
          <a:noFill/>
        </p:spPr>
        <p:txBody>
          <a:bodyPr wrap="square" rtlCol="0">
            <a:spAutoFit/>
          </a:bodyPr>
          <a:lstStyle/>
          <a:p>
            <a:pPr algn="just"/>
            <a:r>
              <a:rPr lang="en-US" sz="2000" dirty="0"/>
              <a:t>- Distorting an image by shifting pixels along one axis.</a:t>
            </a:r>
          </a:p>
        </p:txBody>
      </p:sp>
      <p:sp>
        <p:nvSpPr>
          <p:cNvPr id="3" name="TextBox 2">
            <a:extLst>
              <a:ext uri="{FF2B5EF4-FFF2-40B4-BE49-F238E27FC236}">
                <a16:creationId xmlns:a16="http://schemas.microsoft.com/office/drawing/2014/main" id="{B33A8EBE-A128-0A7D-CB49-815502A3587F}"/>
              </a:ext>
            </a:extLst>
          </p:cNvPr>
          <p:cNvSpPr txBox="1"/>
          <p:nvPr/>
        </p:nvSpPr>
        <p:spPr>
          <a:xfrm>
            <a:off x="191115" y="1792783"/>
            <a:ext cx="11809770" cy="400110"/>
          </a:xfrm>
          <a:prstGeom prst="rect">
            <a:avLst/>
          </a:prstGeom>
          <a:noFill/>
        </p:spPr>
        <p:txBody>
          <a:bodyPr wrap="square" rtlCol="0">
            <a:spAutoFit/>
          </a:bodyPr>
          <a:lstStyle/>
          <a:p>
            <a:pPr algn="just"/>
            <a:r>
              <a:rPr lang="en-US" sz="2000" dirty="0"/>
              <a:t>- This transformation skews the image.</a:t>
            </a:r>
          </a:p>
        </p:txBody>
      </p:sp>
      <p:pic>
        <p:nvPicPr>
          <p:cNvPr id="10" name="Picture 9" descr="A diagram of a person's face&#10;&#10;AI-generated content may be incorrect.">
            <a:extLst>
              <a:ext uri="{FF2B5EF4-FFF2-40B4-BE49-F238E27FC236}">
                <a16:creationId xmlns:a16="http://schemas.microsoft.com/office/drawing/2014/main" id="{000407EC-A083-15C4-142B-4B0182070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2492" y="2355966"/>
            <a:ext cx="7707016" cy="4111338"/>
          </a:xfrm>
          <a:prstGeom prst="rect">
            <a:avLst/>
          </a:prstGeom>
        </p:spPr>
      </p:pic>
    </p:spTree>
    <p:extLst>
      <p:ext uri="{BB962C8B-B14F-4D97-AF65-F5344CB8AC3E}">
        <p14:creationId xmlns:p14="http://schemas.microsoft.com/office/powerpoint/2010/main" val="2554968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5E389-CC15-1122-6B90-EA0A0BFB58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D5334A-93AF-0654-E45C-A0369E85A557}"/>
              </a:ext>
            </a:extLst>
          </p:cNvPr>
          <p:cNvSpPr txBox="1"/>
          <p:nvPr/>
        </p:nvSpPr>
        <p:spPr>
          <a:xfrm>
            <a:off x="191115" y="931008"/>
            <a:ext cx="4279127" cy="461665"/>
          </a:xfrm>
          <a:prstGeom prst="rect">
            <a:avLst/>
          </a:prstGeom>
          <a:noFill/>
        </p:spPr>
        <p:txBody>
          <a:bodyPr wrap="square" rtlCol="0">
            <a:spAutoFit/>
          </a:bodyPr>
          <a:lstStyle/>
          <a:p>
            <a:r>
              <a:rPr lang="en-US" altLang="ko-KR" sz="2400" i="1" dirty="0"/>
              <a:t>Affine Transformation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EBD91DB8-09B3-3A4E-8BC8-8F98BF2CA823}"/>
              </a:ext>
            </a:extLst>
          </p:cNvPr>
          <p:cNvSpPr txBox="1"/>
          <p:nvPr/>
        </p:nvSpPr>
        <p:spPr>
          <a:xfrm>
            <a:off x="109348" y="407788"/>
            <a:ext cx="6532992" cy="523220"/>
          </a:xfrm>
          <a:prstGeom prst="rect">
            <a:avLst/>
          </a:prstGeom>
          <a:noFill/>
        </p:spPr>
        <p:txBody>
          <a:bodyPr wrap="square" rtlCol="0">
            <a:spAutoFit/>
          </a:bodyPr>
          <a:lstStyle/>
          <a:p>
            <a:r>
              <a:rPr lang="en-US" altLang="ko-KR" sz="2800" b="1" dirty="0"/>
              <a:t>Geometric Transformations</a:t>
            </a:r>
          </a:p>
        </p:txBody>
      </p:sp>
      <p:sp>
        <p:nvSpPr>
          <p:cNvPr id="2" name="TextBox 1">
            <a:extLst>
              <a:ext uri="{FF2B5EF4-FFF2-40B4-BE49-F238E27FC236}">
                <a16:creationId xmlns:a16="http://schemas.microsoft.com/office/drawing/2014/main" id="{83B01F07-30A6-83C0-9193-CB54BF8698D0}"/>
              </a:ext>
            </a:extLst>
          </p:cNvPr>
          <p:cNvSpPr txBox="1"/>
          <p:nvPr/>
        </p:nvSpPr>
        <p:spPr>
          <a:xfrm>
            <a:off x="191115" y="1392673"/>
            <a:ext cx="11809770" cy="400110"/>
          </a:xfrm>
          <a:prstGeom prst="rect">
            <a:avLst/>
          </a:prstGeom>
          <a:noFill/>
        </p:spPr>
        <p:txBody>
          <a:bodyPr wrap="square" rtlCol="0">
            <a:spAutoFit/>
          </a:bodyPr>
          <a:lstStyle/>
          <a:p>
            <a:pPr algn="just"/>
            <a:r>
              <a:rPr lang="en-US" sz="2000" dirty="0"/>
              <a:t>- A combination of translation, scaling, rotation, and shearing.</a:t>
            </a:r>
          </a:p>
        </p:txBody>
      </p:sp>
      <p:sp>
        <p:nvSpPr>
          <p:cNvPr id="3" name="TextBox 2">
            <a:extLst>
              <a:ext uri="{FF2B5EF4-FFF2-40B4-BE49-F238E27FC236}">
                <a16:creationId xmlns:a16="http://schemas.microsoft.com/office/drawing/2014/main" id="{D4F2EDC4-8E9E-DFFE-06DA-AEAC5AF720D7}"/>
              </a:ext>
            </a:extLst>
          </p:cNvPr>
          <p:cNvSpPr txBox="1"/>
          <p:nvPr/>
        </p:nvSpPr>
        <p:spPr>
          <a:xfrm>
            <a:off x="191115" y="1792783"/>
            <a:ext cx="11809770" cy="400110"/>
          </a:xfrm>
          <a:prstGeom prst="rect">
            <a:avLst/>
          </a:prstGeom>
          <a:noFill/>
        </p:spPr>
        <p:txBody>
          <a:bodyPr wrap="square" rtlCol="0">
            <a:spAutoFit/>
          </a:bodyPr>
          <a:lstStyle/>
          <a:p>
            <a:pPr algn="just"/>
            <a:r>
              <a:rPr lang="en-US" sz="2000" dirty="0"/>
              <a:t>- Preserves parallel lines.</a:t>
            </a:r>
          </a:p>
        </p:txBody>
      </p:sp>
      <p:pic>
        <p:nvPicPr>
          <p:cNvPr id="22530" name="Picture 2" descr="Python OpenCV – Affine Transformation | GeeksforGeeks">
            <a:extLst>
              <a:ext uri="{FF2B5EF4-FFF2-40B4-BE49-F238E27FC236}">
                <a16:creationId xmlns:a16="http://schemas.microsoft.com/office/drawing/2014/main" id="{DFCCFA32-D4FE-E3D7-B9BB-2579736A0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143" y="2701718"/>
            <a:ext cx="4850904" cy="2542099"/>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Python OpenCV – Affine Transformation | GeeksforGeeks">
            <a:extLst>
              <a:ext uri="{FF2B5EF4-FFF2-40B4-BE49-F238E27FC236}">
                <a16:creationId xmlns:a16="http://schemas.microsoft.com/office/drawing/2014/main" id="{E6F6B814-47B4-92A6-EC9B-7B9CE2111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352" y="2701718"/>
            <a:ext cx="4795505" cy="25420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BB23B83-3478-3D05-1AB7-2DD51ABA785D}"/>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4"/>
              </a:rPr>
              <a:t>https://www.geeksforgeeks.org/python-opencv-affine-transformation/</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2873370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9438E-EA0F-1481-2C42-F0FFFAC348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99ADBD-9BA2-A75D-A0A6-F9C83412200F}"/>
              </a:ext>
            </a:extLst>
          </p:cNvPr>
          <p:cNvSpPr txBox="1"/>
          <p:nvPr/>
        </p:nvSpPr>
        <p:spPr>
          <a:xfrm>
            <a:off x="191115" y="931008"/>
            <a:ext cx="4279127" cy="461665"/>
          </a:xfrm>
          <a:prstGeom prst="rect">
            <a:avLst/>
          </a:prstGeom>
          <a:noFill/>
        </p:spPr>
        <p:txBody>
          <a:bodyPr wrap="square" rtlCol="0">
            <a:spAutoFit/>
          </a:bodyPr>
          <a:lstStyle/>
          <a:p>
            <a:r>
              <a:rPr lang="en-US" altLang="ko-KR" sz="2400" i="1" dirty="0"/>
              <a:t>Perspective Transformation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07B6A4A4-14C4-D5DD-D404-CB1E3C4AF834}"/>
              </a:ext>
            </a:extLst>
          </p:cNvPr>
          <p:cNvSpPr txBox="1"/>
          <p:nvPr/>
        </p:nvSpPr>
        <p:spPr>
          <a:xfrm>
            <a:off x="109348" y="407788"/>
            <a:ext cx="6489860" cy="523220"/>
          </a:xfrm>
          <a:prstGeom prst="rect">
            <a:avLst/>
          </a:prstGeom>
          <a:noFill/>
        </p:spPr>
        <p:txBody>
          <a:bodyPr wrap="square" rtlCol="0">
            <a:spAutoFit/>
          </a:bodyPr>
          <a:lstStyle/>
          <a:p>
            <a:r>
              <a:rPr lang="en-US" altLang="ko-KR" sz="2800" b="1" dirty="0"/>
              <a:t>Geometric Transformations</a:t>
            </a:r>
          </a:p>
        </p:txBody>
      </p:sp>
      <p:sp>
        <p:nvSpPr>
          <p:cNvPr id="2" name="TextBox 1">
            <a:extLst>
              <a:ext uri="{FF2B5EF4-FFF2-40B4-BE49-F238E27FC236}">
                <a16:creationId xmlns:a16="http://schemas.microsoft.com/office/drawing/2014/main" id="{4825879D-33BD-0765-6A32-FB8D2378F651}"/>
              </a:ext>
            </a:extLst>
          </p:cNvPr>
          <p:cNvSpPr txBox="1"/>
          <p:nvPr/>
        </p:nvSpPr>
        <p:spPr>
          <a:xfrm>
            <a:off x="191115" y="1392673"/>
            <a:ext cx="11809770" cy="400110"/>
          </a:xfrm>
          <a:prstGeom prst="rect">
            <a:avLst/>
          </a:prstGeom>
          <a:noFill/>
        </p:spPr>
        <p:txBody>
          <a:bodyPr wrap="square" rtlCol="0">
            <a:spAutoFit/>
          </a:bodyPr>
          <a:lstStyle/>
          <a:p>
            <a:pPr algn="just"/>
            <a:r>
              <a:rPr lang="en-US" sz="2000" dirty="0"/>
              <a:t>- More complex transformations that can change the perspective of an image. </a:t>
            </a:r>
          </a:p>
        </p:txBody>
      </p:sp>
      <p:sp>
        <p:nvSpPr>
          <p:cNvPr id="3" name="TextBox 2">
            <a:extLst>
              <a:ext uri="{FF2B5EF4-FFF2-40B4-BE49-F238E27FC236}">
                <a16:creationId xmlns:a16="http://schemas.microsoft.com/office/drawing/2014/main" id="{DA7CADA6-1471-F62B-5E98-5E3652200EE3}"/>
              </a:ext>
            </a:extLst>
          </p:cNvPr>
          <p:cNvSpPr txBox="1"/>
          <p:nvPr/>
        </p:nvSpPr>
        <p:spPr>
          <a:xfrm>
            <a:off x="191115" y="1792783"/>
            <a:ext cx="11809770" cy="400110"/>
          </a:xfrm>
          <a:prstGeom prst="rect">
            <a:avLst/>
          </a:prstGeom>
          <a:noFill/>
        </p:spPr>
        <p:txBody>
          <a:bodyPr wrap="square" rtlCol="0">
            <a:spAutoFit/>
          </a:bodyPr>
          <a:lstStyle/>
          <a:p>
            <a:pPr algn="just"/>
            <a:r>
              <a:rPr lang="en-US" sz="2000" dirty="0"/>
              <a:t>- Used for correcting perspective distortions.</a:t>
            </a:r>
          </a:p>
        </p:txBody>
      </p:sp>
      <p:pic>
        <p:nvPicPr>
          <p:cNvPr id="20484" name="Picture 4" descr="4 Point OpenCV getPerspective Transform Example - PyImageSearch">
            <a:extLst>
              <a:ext uri="{FF2B5EF4-FFF2-40B4-BE49-F238E27FC236}">
                <a16:creationId xmlns:a16="http://schemas.microsoft.com/office/drawing/2014/main" id="{6BBCEA64-FDA9-2C8A-1417-614F6AF4D1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912" y="2781010"/>
            <a:ext cx="5208173" cy="3406145"/>
          </a:xfrm>
          <a:prstGeom prst="rect">
            <a:avLst/>
          </a:prstGeom>
          <a:noFill/>
          <a:extLst>
            <a:ext uri="{909E8E84-426E-40DD-AFC4-6F175D3DCCD1}">
              <a14:hiddenFill xmlns:a14="http://schemas.microsoft.com/office/drawing/2010/main">
                <a:solidFill>
                  <a:srgbClr val="FFFFFF"/>
                </a:solidFill>
              </a14:hiddenFill>
            </a:ext>
          </a:extLst>
        </p:spPr>
      </p:pic>
      <p:pic>
        <p:nvPicPr>
          <p:cNvPr id="20486" name="Picture 6" descr="perspective transformation | TheAILearner">
            <a:extLst>
              <a:ext uri="{FF2B5EF4-FFF2-40B4-BE49-F238E27FC236}">
                <a16:creationId xmlns:a16="http://schemas.microsoft.com/office/drawing/2014/main" id="{3E77AFE0-8E64-B5E4-AF5E-418C38F9C8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63" y="2669915"/>
            <a:ext cx="4970036" cy="3141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185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EE69-87E1-F7E9-12CA-6EAB2FD069A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5CA33B-C2A7-2AF3-2379-7E74CD2F4AFE}"/>
              </a:ext>
            </a:extLst>
          </p:cNvPr>
          <p:cNvSpPr txBox="1"/>
          <p:nvPr/>
        </p:nvSpPr>
        <p:spPr>
          <a:xfrm>
            <a:off x="191115" y="931008"/>
            <a:ext cx="8576870" cy="461665"/>
          </a:xfrm>
          <a:prstGeom prst="rect">
            <a:avLst/>
          </a:prstGeom>
          <a:noFill/>
        </p:spPr>
        <p:txBody>
          <a:bodyPr wrap="square" rtlCol="0">
            <a:spAutoFit/>
          </a:bodyPr>
          <a:lstStyle/>
          <a:p>
            <a:r>
              <a:rPr lang="en-US" altLang="ko-KR" sz="2400" i="1" dirty="0"/>
              <a:t>Affine Transformation vs Perspective Transformation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98E08617-6F9C-1FB7-33A4-C69F0FB44A6A}"/>
              </a:ext>
            </a:extLst>
          </p:cNvPr>
          <p:cNvSpPr txBox="1"/>
          <p:nvPr/>
        </p:nvSpPr>
        <p:spPr>
          <a:xfrm>
            <a:off x="109348" y="407788"/>
            <a:ext cx="6084418" cy="523220"/>
          </a:xfrm>
          <a:prstGeom prst="rect">
            <a:avLst/>
          </a:prstGeom>
          <a:noFill/>
        </p:spPr>
        <p:txBody>
          <a:bodyPr wrap="square" rtlCol="0">
            <a:spAutoFit/>
          </a:bodyPr>
          <a:lstStyle/>
          <a:p>
            <a:r>
              <a:rPr lang="en-US" altLang="ko-KR" sz="2800" b="1" dirty="0"/>
              <a:t>Geometric Transformations</a:t>
            </a:r>
          </a:p>
        </p:txBody>
      </p:sp>
      <p:pic>
        <p:nvPicPr>
          <p:cNvPr id="21508" name="Picture 4" descr="Image Transformation 알아보기 - gaussian37">
            <a:extLst>
              <a:ext uri="{FF2B5EF4-FFF2-40B4-BE49-F238E27FC236}">
                <a16:creationId xmlns:a16="http://schemas.microsoft.com/office/drawing/2014/main" id="{EFB40AB2-8395-F5B7-5BFD-EAE9EC318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3083" y="1658707"/>
            <a:ext cx="9485833" cy="448847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910425-7ACA-654A-9909-13F0600A3222}"/>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3"/>
              </a:rPr>
              <a:t>https://gaussian37.github.io/vision-concept-image_transformation/</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3983858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C79C5-28B9-093F-E79B-BD1DB47A2E4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64B73BC-F930-0895-1265-A71BD73F6E09}"/>
              </a:ext>
            </a:extLst>
          </p:cNvPr>
          <p:cNvSpPr txBox="1"/>
          <p:nvPr/>
        </p:nvSpPr>
        <p:spPr>
          <a:xfrm>
            <a:off x="109347" y="407788"/>
            <a:ext cx="7504955" cy="523220"/>
          </a:xfrm>
          <a:prstGeom prst="rect">
            <a:avLst/>
          </a:prstGeom>
          <a:noFill/>
        </p:spPr>
        <p:txBody>
          <a:bodyPr wrap="square" rtlCol="0">
            <a:spAutoFit/>
          </a:bodyPr>
          <a:lstStyle/>
          <a:p>
            <a:r>
              <a:rPr lang="en-US" altLang="ko-KR" sz="2800" b="1" dirty="0"/>
              <a:t>Wavelet Transform &amp; Geometric Transformations</a:t>
            </a:r>
          </a:p>
        </p:txBody>
      </p:sp>
      <p:sp>
        <p:nvSpPr>
          <p:cNvPr id="2" name="TextBox 1">
            <a:extLst>
              <a:ext uri="{FF2B5EF4-FFF2-40B4-BE49-F238E27FC236}">
                <a16:creationId xmlns:a16="http://schemas.microsoft.com/office/drawing/2014/main" id="{0914D72E-18BD-E734-CA98-DBD1302D3350}"/>
              </a:ext>
            </a:extLst>
          </p:cNvPr>
          <p:cNvSpPr txBox="1"/>
          <p:nvPr/>
        </p:nvSpPr>
        <p:spPr>
          <a:xfrm>
            <a:off x="191115" y="931008"/>
            <a:ext cx="4279127" cy="461665"/>
          </a:xfrm>
          <a:prstGeom prst="rect">
            <a:avLst/>
          </a:prstGeom>
          <a:noFill/>
        </p:spPr>
        <p:txBody>
          <a:bodyPr wrap="square" rtlCol="0">
            <a:spAutoFit/>
          </a:bodyPr>
          <a:lstStyle/>
          <a:p>
            <a:r>
              <a:rPr lang="en-US" altLang="ko-KR" sz="2400" i="1" dirty="0"/>
              <a:t>Practice</a:t>
            </a:r>
            <a:endParaRPr lang="en-US" altLang="ko-KR" sz="2400" i="1" dirty="0">
              <a:solidFill>
                <a:srgbClr val="FF0000"/>
              </a:solidFill>
            </a:endParaRPr>
          </a:p>
        </p:txBody>
      </p:sp>
      <p:sp>
        <p:nvSpPr>
          <p:cNvPr id="7" name="TextBox 6">
            <a:extLst>
              <a:ext uri="{FF2B5EF4-FFF2-40B4-BE49-F238E27FC236}">
                <a16:creationId xmlns:a16="http://schemas.microsoft.com/office/drawing/2014/main" id="{0815A277-F9A1-779B-FD38-B4266B677248}"/>
              </a:ext>
            </a:extLst>
          </p:cNvPr>
          <p:cNvSpPr txBox="1"/>
          <p:nvPr/>
        </p:nvSpPr>
        <p:spPr>
          <a:xfrm>
            <a:off x="337872" y="1392673"/>
            <a:ext cx="6187107" cy="400110"/>
          </a:xfrm>
          <a:prstGeom prst="rect">
            <a:avLst/>
          </a:prstGeom>
          <a:noFill/>
        </p:spPr>
        <p:txBody>
          <a:bodyPr wrap="square" rtlCol="0">
            <a:spAutoFit/>
          </a:bodyPr>
          <a:lstStyle/>
          <a:p>
            <a:pPr algn="just"/>
            <a:r>
              <a:rPr lang="en-US" altLang="ko-KR" sz="2000" dirty="0"/>
              <a:t>- Wavelet Transform  </a:t>
            </a:r>
          </a:p>
        </p:txBody>
      </p:sp>
      <p:sp>
        <p:nvSpPr>
          <p:cNvPr id="4" name="TextBox 3">
            <a:extLst>
              <a:ext uri="{FF2B5EF4-FFF2-40B4-BE49-F238E27FC236}">
                <a16:creationId xmlns:a16="http://schemas.microsoft.com/office/drawing/2014/main" id="{72EBF8A6-F488-1175-86AD-4A2E62DCD87E}"/>
              </a:ext>
            </a:extLst>
          </p:cNvPr>
          <p:cNvSpPr txBox="1"/>
          <p:nvPr/>
        </p:nvSpPr>
        <p:spPr>
          <a:xfrm>
            <a:off x="337872" y="1792783"/>
            <a:ext cx="6187107" cy="400110"/>
          </a:xfrm>
          <a:prstGeom prst="rect">
            <a:avLst/>
          </a:prstGeom>
          <a:noFill/>
        </p:spPr>
        <p:txBody>
          <a:bodyPr wrap="square" rtlCol="0">
            <a:spAutoFit/>
          </a:bodyPr>
          <a:lstStyle/>
          <a:p>
            <a:pPr algn="just"/>
            <a:r>
              <a:rPr lang="en-US" altLang="ko-KR" sz="2000" dirty="0"/>
              <a:t>- Geometric Transformations</a:t>
            </a:r>
          </a:p>
        </p:txBody>
      </p:sp>
    </p:spTree>
    <p:extLst>
      <p:ext uri="{BB962C8B-B14F-4D97-AF65-F5344CB8AC3E}">
        <p14:creationId xmlns:p14="http://schemas.microsoft.com/office/powerpoint/2010/main" val="1162992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42224" y="2852184"/>
            <a:ext cx="5307549" cy="707886"/>
          </a:xfrm>
          <a:prstGeom prst="rect">
            <a:avLst/>
          </a:prstGeom>
          <a:noFill/>
        </p:spPr>
        <p:txBody>
          <a:bodyPr wrap="square" rtlCol="0">
            <a:spAutoFit/>
          </a:bodyPr>
          <a:lstStyle/>
          <a:p>
            <a:pPr algn="ctr"/>
            <a:r>
              <a:rPr lang="en-US" sz="4000" dirty="0"/>
              <a:t>Thank You</a:t>
            </a:r>
          </a:p>
        </p:txBody>
      </p:sp>
      <p:sp>
        <p:nvSpPr>
          <p:cNvPr id="3" name="TextBox 2"/>
          <p:cNvSpPr txBox="1"/>
          <p:nvPr/>
        </p:nvSpPr>
        <p:spPr>
          <a:xfrm>
            <a:off x="5230902" y="3651873"/>
            <a:ext cx="1730195" cy="284052"/>
          </a:xfrm>
          <a:prstGeom prst="rect">
            <a:avLst/>
          </a:prstGeom>
          <a:noFill/>
        </p:spPr>
        <p:txBody>
          <a:bodyPr wrap="square" rtlCol="0">
            <a:spAutoFit/>
          </a:bodyPr>
          <a:lstStyle/>
          <a:p>
            <a:pPr algn="ctr"/>
            <a:r>
              <a:rPr lang="en-US" sz="1246" dirty="0"/>
              <a:t>anhtl@ut.edu.vn</a:t>
            </a:r>
          </a:p>
        </p:txBody>
      </p:sp>
      <p:sp>
        <p:nvSpPr>
          <p:cNvPr id="4" name="Rectangle 3"/>
          <p:cNvSpPr/>
          <p:nvPr/>
        </p:nvSpPr>
        <p:spPr>
          <a:xfrm>
            <a:off x="9213274" y="6542116"/>
            <a:ext cx="1454727" cy="3158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023490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113196</TotalTime>
  <Words>795</Words>
  <Application>Microsoft Office PowerPoint</Application>
  <PresentationFormat>Widescreen</PresentationFormat>
  <Paragraphs>115</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Tran Le Anh</cp:lastModifiedBy>
  <cp:revision>6312</cp:revision>
  <cp:lastPrinted>2021-09-06T03:39:39Z</cp:lastPrinted>
  <dcterms:created xsi:type="dcterms:W3CDTF">2020-10-10T03:17:57Z</dcterms:created>
  <dcterms:modified xsi:type="dcterms:W3CDTF">2025-03-30T17:14:37Z</dcterms:modified>
</cp:coreProperties>
</file>