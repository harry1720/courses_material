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5"/>
  </p:notesMasterIdLst>
  <p:sldIdLst>
    <p:sldId id="261" r:id="rId2"/>
    <p:sldId id="331" r:id="rId3"/>
    <p:sldId id="1852" r:id="rId4"/>
    <p:sldId id="1847" r:id="rId5"/>
    <p:sldId id="1856" r:id="rId6"/>
    <p:sldId id="1854" r:id="rId7"/>
    <p:sldId id="1869" r:id="rId8"/>
    <p:sldId id="1870" r:id="rId9"/>
    <p:sldId id="1853" r:id="rId10"/>
    <p:sldId id="1857" r:id="rId11"/>
    <p:sldId id="1858" r:id="rId12"/>
    <p:sldId id="1863" r:id="rId13"/>
    <p:sldId id="1859" r:id="rId14"/>
    <p:sldId id="1860" r:id="rId15"/>
    <p:sldId id="1871" r:id="rId16"/>
    <p:sldId id="1861" r:id="rId17"/>
    <p:sldId id="1862" r:id="rId18"/>
    <p:sldId id="1865" r:id="rId19"/>
    <p:sldId id="1866" r:id="rId20"/>
    <p:sldId id="1868" r:id="rId21"/>
    <p:sldId id="1872" r:id="rId22"/>
    <p:sldId id="1804" r:id="rId23"/>
    <p:sldId id="267" r:id="rId24"/>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2" clrIdx="0">
    <p:extLst>
      <p:ext uri="{19B8F6BF-5375-455C-9EA6-DF929625EA0E}">
        <p15:presenceInfo xmlns:p15="http://schemas.microsoft.com/office/powerpoint/2012/main" userId="admin" providerId="None"/>
      </p:ext>
    </p:extLst>
  </p:cmAuthor>
  <p:cmAuthor id="2" name="Tran Le Anh" initials="TLA" lastIdx="3" clrIdx="1">
    <p:extLst>
      <p:ext uri="{19B8F6BF-5375-455C-9EA6-DF929625EA0E}">
        <p15:presenceInfo xmlns:p15="http://schemas.microsoft.com/office/powerpoint/2012/main" userId="Tran Le Anh"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8189E"/>
    <a:srgbClr val="F0F0F0"/>
    <a:srgbClr val="F5F5F5"/>
    <a:srgbClr val="FDFDFD"/>
    <a:srgbClr val="FBFB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220" autoAdjust="0"/>
    <p:restoredTop sz="93988" autoAdjust="0"/>
  </p:normalViewPr>
  <p:slideViewPr>
    <p:cSldViewPr snapToGrid="0">
      <p:cViewPr varScale="1">
        <p:scale>
          <a:sx n="86" d="100"/>
          <a:sy n="86" d="100"/>
        </p:scale>
        <p:origin x="96" y="714"/>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47" cy="498328"/>
          </a:xfrm>
          <a:prstGeom prst="rect">
            <a:avLst/>
          </a:prstGeom>
        </p:spPr>
        <p:txBody>
          <a:bodyPr vert="horz" lIns="92108" tIns="46054" rIns="92108" bIns="46054" rtlCol="0"/>
          <a:lstStyle>
            <a:lvl1pPr algn="l">
              <a:defRPr sz="1200"/>
            </a:lvl1pPr>
          </a:lstStyle>
          <a:p>
            <a:endParaRPr lang="en-US"/>
          </a:p>
        </p:txBody>
      </p:sp>
      <p:sp>
        <p:nvSpPr>
          <p:cNvPr id="3" name="Date Placeholder 2"/>
          <p:cNvSpPr>
            <a:spLocks noGrp="1"/>
          </p:cNvSpPr>
          <p:nvPr>
            <p:ph type="dt" idx="1"/>
          </p:nvPr>
        </p:nvSpPr>
        <p:spPr>
          <a:xfrm>
            <a:off x="3849826" y="0"/>
            <a:ext cx="2946246" cy="498328"/>
          </a:xfrm>
          <a:prstGeom prst="rect">
            <a:avLst/>
          </a:prstGeom>
        </p:spPr>
        <p:txBody>
          <a:bodyPr vert="horz" lIns="92108" tIns="46054" rIns="92108" bIns="46054" rtlCol="0"/>
          <a:lstStyle>
            <a:lvl1pPr algn="r">
              <a:defRPr sz="1200"/>
            </a:lvl1pPr>
          </a:lstStyle>
          <a:p>
            <a:fld id="{73FD9801-A144-4B40-9127-0684BD7D58AB}" type="datetimeFigureOut">
              <a:rPr lang="en-US" smtClean="0"/>
              <a:t>4/14/2025</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2108" tIns="46054" rIns="92108" bIns="46054" rtlCol="0" anchor="ctr"/>
          <a:lstStyle/>
          <a:p>
            <a:endParaRPr lang="en-US"/>
          </a:p>
        </p:txBody>
      </p:sp>
      <p:sp>
        <p:nvSpPr>
          <p:cNvPr id="5" name="Notes Placeholder 4"/>
          <p:cNvSpPr>
            <a:spLocks noGrp="1"/>
          </p:cNvSpPr>
          <p:nvPr>
            <p:ph type="body" sz="quarter" idx="3"/>
          </p:nvPr>
        </p:nvSpPr>
        <p:spPr>
          <a:xfrm>
            <a:off x="679288" y="4777245"/>
            <a:ext cx="5439101" cy="3908363"/>
          </a:xfrm>
          <a:prstGeom prst="rect">
            <a:avLst/>
          </a:prstGeom>
        </p:spPr>
        <p:txBody>
          <a:bodyPr vert="horz" lIns="92108" tIns="46054" rIns="92108" bIns="46054"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310"/>
            <a:ext cx="2946247" cy="498328"/>
          </a:xfrm>
          <a:prstGeom prst="rect">
            <a:avLst/>
          </a:prstGeom>
        </p:spPr>
        <p:txBody>
          <a:bodyPr vert="horz" lIns="92108" tIns="46054" rIns="92108" bIns="46054" rtlCol="0" anchor="b"/>
          <a:lstStyle>
            <a:lvl1pPr algn="l">
              <a:defRPr sz="1200"/>
            </a:lvl1pPr>
          </a:lstStyle>
          <a:p>
            <a:endParaRPr lang="en-US"/>
          </a:p>
        </p:txBody>
      </p:sp>
      <p:sp>
        <p:nvSpPr>
          <p:cNvPr id="7" name="Slide Number Placeholder 6"/>
          <p:cNvSpPr>
            <a:spLocks noGrp="1"/>
          </p:cNvSpPr>
          <p:nvPr>
            <p:ph type="sldNum" sz="quarter" idx="5"/>
          </p:nvPr>
        </p:nvSpPr>
        <p:spPr>
          <a:xfrm>
            <a:off x="3849826" y="9428310"/>
            <a:ext cx="2946246" cy="498328"/>
          </a:xfrm>
          <a:prstGeom prst="rect">
            <a:avLst/>
          </a:prstGeom>
        </p:spPr>
        <p:txBody>
          <a:bodyPr vert="horz" lIns="92108" tIns="46054" rIns="92108" bIns="46054" rtlCol="0" anchor="b"/>
          <a:lstStyle>
            <a:lvl1pPr algn="r">
              <a:defRPr sz="1200"/>
            </a:lvl1pPr>
          </a:lstStyle>
          <a:p>
            <a:fld id="{5E947791-EB80-4ECA-83D2-BD9595BD98A0}" type="slidenum">
              <a:rPr lang="en-US" smtClean="0"/>
              <a:t>‹#›</a:t>
            </a:fld>
            <a:endParaRPr lang="en-US"/>
          </a:p>
        </p:txBody>
      </p:sp>
    </p:spTree>
    <p:extLst>
      <p:ext uri="{BB962C8B-B14F-4D97-AF65-F5344CB8AC3E}">
        <p14:creationId xmlns:p14="http://schemas.microsoft.com/office/powerpoint/2010/main" val="1147632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ko-KR"/>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ko-KR"/>
              <a:t>Click to edit Master subtitle style</a:t>
            </a:r>
            <a:endParaRPr lang="en-US" dirty="0"/>
          </a:p>
        </p:txBody>
      </p:sp>
      <p:sp>
        <p:nvSpPr>
          <p:cNvPr id="4" name="Date Placeholder 3"/>
          <p:cNvSpPr>
            <a:spLocks noGrp="1"/>
          </p:cNvSpPr>
          <p:nvPr>
            <p:ph type="dt" sz="half" idx="10"/>
          </p:nvPr>
        </p:nvSpPr>
        <p:spPr/>
        <p:txBody>
          <a:bodyPr/>
          <a:lstStyle/>
          <a:p>
            <a:fld id="{082BFE88-591F-4A3E-B0A4-257ECE97BEAB}" type="datetimeFigureOut">
              <a:rPr lang="en-US" smtClean="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36401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Click to edit Master title style</a:t>
            </a:r>
            <a:endParaRPr lang="en-US" dirty="0"/>
          </a:p>
        </p:txBody>
      </p:sp>
      <p:sp>
        <p:nvSpPr>
          <p:cNvPr id="3" name="Content Placeholder 2"/>
          <p:cNvSpPr>
            <a:spLocks noGrp="1"/>
          </p:cNvSpPr>
          <p:nvPr>
            <p:ph idx="1"/>
          </p:nvPr>
        </p:nvSpPr>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4" name="Date Placeholder 3"/>
          <p:cNvSpPr>
            <a:spLocks noGrp="1"/>
          </p:cNvSpPr>
          <p:nvPr>
            <p:ph type="dt" sz="half" idx="10"/>
          </p:nvPr>
        </p:nvSpPr>
        <p:spPr/>
        <p:txBody>
          <a:bodyPr/>
          <a:lstStyle/>
          <a:p>
            <a:fld id="{082BFE88-591F-4A3E-B0A4-257ECE97BEAB}" type="datetimeFigureOut">
              <a:rPr lang="en-US" smtClean="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1385465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ko-KR"/>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ko-KR"/>
              <a:t>Click to edit Master text styles</a:t>
            </a:r>
          </a:p>
        </p:txBody>
      </p:sp>
      <p:sp>
        <p:nvSpPr>
          <p:cNvPr id="4" name="Date Placeholder 3"/>
          <p:cNvSpPr>
            <a:spLocks noGrp="1"/>
          </p:cNvSpPr>
          <p:nvPr>
            <p:ph type="dt" sz="half" idx="10"/>
          </p:nvPr>
        </p:nvSpPr>
        <p:spPr/>
        <p:txBody>
          <a:bodyPr/>
          <a:lstStyle/>
          <a:p>
            <a:fld id="{082BFE88-591F-4A3E-B0A4-257ECE97BEAB}" type="datetimeFigureOut">
              <a:rPr lang="en-US" smtClean="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1471135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5" name="Date Placeholder 4"/>
          <p:cNvSpPr>
            <a:spLocks noGrp="1"/>
          </p:cNvSpPr>
          <p:nvPr>
            <p:ph type="dt" sz="half" idx="10"/>
          </p:nvPr>
        </p:nvSpPr>
        <p:spPr/>
        <p:txBody>
          <a:bodyPr/>
          <a:lstStyle/>
          <a:p>
            <a:fld id="{082BFE88-591F-4A3E-B0A4-257ECE97BEAB}" type="datetimeFigureOut">
              <a:rPr lang="en-US" smtClean="0"/>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1839532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ko-KR"/>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7" name="Date Placeholder 6"/>
          <p:cNvSpPr>
            <a:spLocks noGrp="1"/>
          </p:cNvSpPr>
          <p:nvPr>
            <p:ph type="dt" sz="half" idx="10"/>
          </p:nvPr>
        </p:nvSpPr>
        <p:spPr/>
        <p:txBody>
          <a:bodyPr/>
          <a:lstStyle/>
          <a:p>
            <a:fld id="{082BFE88-591F-4A3E-B0A4-257ECE97BEAB}" type="datetimeFigureOut">
              <a:rPr lang="en-US" smtClean="0"/>
              <a:t>4/14/2025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749853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Click to edit Master title style</a:t>
            </a:r>
            <a:endParaRPr lang="en-US" dirty="0"/>
          </a:p>
        </p:txBody>
      </p:sp>
      <p:sp>
        <p:nvSpPr>
          <p:cNvPr id="3" name="Date Placeholder 2"/>
          <p:cNvSpPr>
            <a:spLocks noGrp="1"/>
          </p:cNvSpPr>
          <p:nvPr>
            <p:ph type="dt" sz="half" idx="10"/>
          </p:nvPr>
        </p:nvSpPr>
        <p:spPr/>
        <p:txBody>
          <a:bodyPr/>
          <a:lstStyle/>
          <a:p>
            <a:fld id="{082BFE88-591F-4A3E-B0A4-257ECE97BEAB}" type="datetimeFigureOut">
              <a:rPr lang="en-US" smtClean="0"/>
              <a:t>4/14/2025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856810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2BFE88-591F-4A3E-B0A4-257ECE97BEAB}" type="datetimeFigureOut">
              <a:rPr lang="en-US" smtClean="0"/>
              <a:t>4/14/2025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407989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ko-KR"/>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ko-KR"/>
              <a:t>Click to edit Master text styles</a:t>
            </a:r>
          </a:p>
        </p:txBody>
      </p:sp>
      <p:sp>
        <p:nvSpPr>
          <p:cNvPr id="5" name="Date Placeholder 4"/>
          <p:cNvSpPr>
            <a:spLocks noGrp="1"/>
          </p:cNvSpPr>
          <p:nvPr>
            <p:ph type="dt" sz="half" idx="10"/>
          </p:nvPr>
        </p:nvSpPr>
        <p:spPr/>
        <p:txBody>
          <a:bodyPr/>
          <a:lstStyle/>
          <a:p>
            <a:fld id="{082BFE88-591F-4A3E-B0A4-257ECE97BEAB}" type="datetimeFigureOut">
              <a:rPr lang="en-US" smtClean="0"/>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3991959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ko-KR"/>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ko-KR"/>
              <a:t>Click to edit Master text styles</a:t>
            </a:r>
          </a:p>
        </p:txBody>
      </p:sp>
      <p:sp>
        <p:nvSpPr>
          <p:cNvPr id="5" name="Date Placeholder 4"/>
          <p:cNvSpPr>
            <a:spLocks noGrp="1"/>
          </p:cNvSpPr>
          <p:nvPr>
            <p:ph type="dt" sz="half" idx="10"/>
          </p:nvPr>
        </p:nvSpPr>
        <p:spPr/>
        <p:txBody>
          <a:bodyPr/>
          <a:lstStyle/>
          <a:p>
            <a:fld id="{082BFE88-591F-4A3E-B0A4-257ECE97BEAB}" type="datetimeFigureOut">
              <a:rPr lang="en-US" smtClean="0"/>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4162544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4" name="Date Placeholder 3"/>
          <p:cNvSpPr>
            <a:spLocks noGrp="1"/>
          </p:cNvSpPr>
          <p:nvPr>
            <p:ph type="dt" sz="half" idx="10"/>
          </p:nvPr>
        </p:nvSpPr>
        <p:spPr/>
        <p:txBody>
          <a:bodyPr/>
          <a:lstStyle/>
          <a:p>
            <a:fld id="{082BFE88-591F-4A3E-B0A4-257ECE97BEAB}" type="datetimeFigureOut">
              <a:rPr lang="en-US" smtClean="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3726672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ko-KR"/>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4" name="Date Placeholder 3"/>
          <p:cNvSpPr>
            <a:spLocks noGrp="1"/>
          </p:cNvSpPr>
          <p:nvPr>
            <p:ph type="dt" sz="half" idx="10"/>
          </p:nvPr>
        </p:nvSpPr>
        <p:spPr/>
        <p:txBody>
          <a:bodyPr/>
          <a:lstStyle/>
          <a:p>
            <a:fld id="{082BFE88-591F-4A3E-B0A4-257ECE97BEAB}" type="datetimeFigureOut">
              <a:rPr lang="en-US" smtClean="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3124180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ko-KR"/>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2BFE88-591F-4A3E-B0A4-257ECE97BEAB}" type="datetimeFigureOut">
              <a:rPr lang="en-US" smtClean="0"/>
              <a:t>4/14/2025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
        <p:nvSpPr>
          <p:cNvPr id="7" name="Rectangle 6">
            <a:extLst>
              <a:ext uri="{FF2B5EF4-FFF2-40B4-BE49-F238E27FC236}">
                <a16:creationId xmlns:a16="http://schemas.microsoft.com/office/drawing/2014/main" id="{F62F85EF-21C5-415F-AEF3-0F51C92A13CF}"/>
              </a:ext>
            </a:extLst>
          </p:cNvPr>
          <p:cNvSpPr/>
          <p:nvPr userDrawn="1"/>
        </p:nvSpPr>
        <p:spPr>
          <a:xfrm>
            <a:off x="9877587" y="6610027"/>
            <a:ext cx="2314413" cy="2479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100" dirty="0">
                <a:solidFill>
                  <a:schemeClr val="bg1">
                    <a:lumMod val="75000"/>
                  </a:schemeClr>
                </a:solidFill>
              </a:rPr>
              <a:t>anhtl@ut.edu.vn</a:t>
            </a:r>
          </a:p>
        </p:txBody>
      </p:sp>
      <p:sp>
        <p:nvSpPr>
          <p:cNvPr id="8" name="TextBox 7">
            <a:extLst>
              <a:ext uri="{FF2B5EF4-FFF2-40B4-BE49-F238E27FC236}">
                <a16:creationId xmlns:a16="http://schemas.microsoft.com/office/drawing/2014/main" id="{023A4BF7-4007-4EE9-8948-4D4E0A77C823}"/>
              </a:ext>
            </a:extLst>
          </p:cNvPr>
          <p:cNvSpPr txBox="1"/>
          <p:nvPr userDrawn="1"/>
        </p:nvSpPr>
        <p:spPr>
          <a:xfrm>
            <a:off x="4053216" y="30693"/>
            <a:ext cx="4085568" cy="284052"/>
          </a:xfrm>
          <a:prstGeom prst="rect">
            <a:avLst/>
          </a:prstGeom>
          <a:noFill/>
        </p:spPr>
        <p:txBody>
          <a:bodyPr wrap="square" rtlCol="0">
            <a:spAutoFit/>
          </a:bodyPr>
          <a:lstStyle/>
          <a:p>
            <a:pPr algn="ctr"/>
            <a:r>
              <a:rPr lang="en-US" sz="1246" dirty="0">
                <a:solidFill>
                  <a:schemeClr val="bg1">
                    <a:lumMod val="75000"/>
                  </a:schemeClr>
                </a:solidFill>
              </a:rPr>
              <a:t>Ho Chi Minh City University of Transport</a:t>
            </a:r>
          </a:p>
        </p:txBody>
      </p:sp>
    </p:spTree>
    <p:extLst>
      <p:ext uri="{BB962C8B-B14F-4D97-AF65-F5344CB8AC3E}">
        <p14:creationId xmlns:p14="http://schemas.microsoft.com/office/powerpoint/2010/main" val="110057462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hyperlink" Target="https://www.bogotobogo.com/python/OpenCV_Python/python_opencv3_Image_Gradient_Sobel_Laplacian_Derivatives_Edge_Detection.php"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evendrapratapyadav.github.io/Fuzzy_Image_processing/" TargetMode="Externa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3.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21.jpe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7" Type="http://schemas.openxmlformats.org/officeDocument/2006/relationships/image" Target="../media/image23.jpe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24.jpeg"/><Relationship Id="rId5" Type="http://schemas.openxmlformats.org/officeDocument/2006/relationships/image" Target="../media/image19.jpeg"/><Relationship Id="rId4" Type="http://schemas.openxmlformats.org/officeDocument/2006/relationships/image" Target="../media/image2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homepages.inf.ed.ac.uk/rbf/CVonline/LOCAL_COPIES/MARSHALL/node30.html#:~:text=In%20general%2C%20edge%20linking%20methods,share%20the%20same%20edge%20equation." TargetMode="External"/><Relationship Id="rId2" Type="http://schemas.openxmlformats.org/officeDocument/2006/relationships/image" Target="../media/image26.gif"/><Relationship Id="rId1" Type="http://schemas.openxmlformats.org/officeDocument/2006/relationships/slideLayout" Target="../slideLayouts/slideLayout2.xml"/><Relationship Id="rId5" Type="http://schemas.openxmlformats.org/officeDocument/2006/relationships/image" Target="../media/image28.jpeg"/><Relationship Id="rId4" Type="http://schemas.openxmlformats.org/officeDocument/2006/relationships/image" Target="../media/image27.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06040" y="2762804"/>
            <a:ext cx="8579899" cy="754694"/>
          </a:xfrm>
          <a:prstGeom prst="rect">
            <a:avLst/>
          </a:prstGeom>
          <a:noFill/>
        </p:spPr>
        <p:txBody>
          <a:bodyPr wrap="square" rtlCol="0">
            <a:spAutoFit/>
          </a:bodyPr>
          <a:lstStyle/>
          <a:p>
            <a:pPr algn="ctr">
              <a:lnSpc>
                <a:spcPct val="150000"/>
              </a:lnSpc>
            </a:pPr>
            <a:r>
              <a:rPr lang="en-US" sz="3200" b="1" dirty="0"/>
              <a:t>Edge Detection and Linking</a:t>
            </a:r>
          </a:p>
        </p:txBody>
      </p:sp>
      <p:sp>
        <p:nvSpPr>
          <p:cNvPr id="3" name="TextBox 2"/>
          <p:cNvSpPr txBox="1"/>
          <p:nvPr/>
        </p:nvSpPr>
        <p:spPr>
          <a:xfrm>
            <a:off x="4922430" y="4487464"/>
            <a:ext cx="2347122" cy="369332"/>
          </a:xfrm>
          <a:prstGeom prst="rect">
            <a:avLst/>
          </a:prstGeom>
          <a:noFill/>
        </p:spPr>
        <p:txBody>
          <a:bodyPr wrap="square" rtlCol="0">
            <a:spAutoFit/>
          </a:bodyPr>
          <a:lstStyle/>
          <a:p>
            <a:pPr algn="ctr"/>
            <a:r>
              <a:rPr lang="en-US" dirty="0"/>
              <a:t>Tran Le Anh</a:t>
            </a:r>
          </a:p>
        </p:txBody>
      </p:sp>
      <p:sp>
        <p:nvSpPr>
          <p:cNvPr id="4" name="TextBox 3"/>
          <p:cNvSpPr txBox="1"/>
          <p:nvPr/>
        </p:nvSpPr>
        <p:spPr>
          <a:xfrm>
            <a:off x="4563905" y="30525"/>
            <a:ext cx="3064176" cy="284052"/>
          </a:xfrm>
          <a:prstGeom prst="rect">
            <a:avLst/>
          </a:prstGeom>
          <a:solidFill>
            <a:schemeClr val="bg1"/>
          </a:solidFill>
        </p:spPr>
        <p:txBody>
          <a:bodyPr wrap="square" rtlCol="0">
            <a:spAutoFit/>
          </a:bodyPr>
          <a:lstStyle/>
          <a:p>
            <a:pPr algn="ctr"/>
            <a:r>
              <a:rPr lang="en-US" sz="1246" dirty="0"/>
              <a:t>Ho Chi Minh City University of Transport</a:t>
            </a:r>
          </a:p>
        </p:txBody>
      </p:sp>
      <p:sp>
        <p:nvSpPr>
          <p:cNvPr id="5" name="TextBox 4"/>
          <p:cNvSpPr txBox="1"/>
          <p:nvPr/>
        </p:nvSpPr>
        <p:spPr>
          <a:xfrm>
            <a:off x="4853013" y="4856796"/>
            <a:ext cx="2485955" cy="338554"/>
          </a:xfrm>
          <a:prstGeom prst="rect">
            <a:avLst/>
          </a:prstGeom>
          <a:noFill/>
        </p:spPr>
        <p:txBody>
          <a:bodyPr wrap="square" rtlCol="0">
            <a:spAutoFit/>
          </a:bodyPr>
          <a:lstStyle/>
          <a:p>
            <a:pPr algn="ctr"/>
            <a:r>
              <a:rPr lang="en-US" sz="1600" dirty="0"/>
              <a:t>anhtl@ut.edu.vn</a:t>
            </a:r>
          </a:p>
        </p:txBody>
      </p:sp>
      <p:sp>
        <p:nvSpPr>
          <p:cNvPr id="6" name="TextBox 5"/>
          <p:cNvSpPr txBox="1"/>
          <p:nvPr/>
        </p:nvSpPr>
        <p:spPr>
          <a:xfrm>
            <a:off x="5230894" y="6534648"/>
            <a:ext cx="1730195" cy="284052"/>
          </a:xfrm>
          <a:prstGeom prst="rect">
            <a:avLst/>
          </a:prstGeom>
          <a:noFill/>
        </p:spPr>
        <p:txBody>
          <a:bodyPr wrap="square" rtlCol="0">
            <a:spAutoFit/>
          </a:bodyPr>
          <a:lstStyle/>
          <a:p>
            <a:pPr algn="ctr"/>
            <a:r>
              <a:rPr lang="en-US" sz="1246" dirty="0"/>
              <a:t>04-2025</a:t>
            </a:r>
          </a:p>
        </p:txBody>
      </p:sp>
      <p:sp>
        <p:nvSpPr>
          <p:cNvPr id="7" name="TextBox 6"/>
          <p:cNvSpPr txBox="1"/>
          <p:nvPr/>
        </p:nvSpPr>
        <p:spPr>
          <a:xfrm>
            <a:off x="3752912" y="1458669"/>
            <a:ext cx="4686156" cy="400110"/>
          </a:xfrm>
          <a:prstGeom prst="rect">
            <a:avLst/>
          </a:prstGeom>
          <a:noFill/>
        </p:spPr>
        <p:txBody>
          <a:bodyPr wrap="square" rtlCol="0">
            <a:spAutoFit/>
          </a:bodyPr>
          <a:lstStyle/>
          <a:p>
            <a:pPr algn="ctr"/>
            <a:r>
              <a:rPr lang="en-US" sz="2000" dirty="0"/>
              <a:t>Image Processing and Computer Vision</a:t>
            </a:r>
          </a:p>
        </p:txBody>
      </p:sp>
      <p:sp>
        <p:nvSpPr>
          <p:cNvPr id="8" name="Rectangle 7"/>
          <p:cNvSpPr/>
          <p:nvPr/>
        </p:nvSpPr>
        <p:spPr>
          <a:xfrm>
            <a:off x="10714413" y="6534648"/>
            <a:ext cx="1454727" cy="31588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AC10F536-84A9-F63C-9FC0-C898AC1A1BA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71141" y="61725"/>
            <a:ext cx="2252164" cy="505067"/>
          </a:xfrm>
          <a:prstGeom prst="rect">
            <a:avLst/>
          </a:prstGeom>
        </p:spPr>
      </p:pic>
    </p:spTree>
    <p:extLst>
      <p:ext uri="{BB962C8B-B14F-4D97-AF65-F5344CB8AC3E}">
        <p14:creationId xmlns:p14="http://schemas.microsoft.com/office/powerpoint/2010/main" val="3492541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89B116-55C3-657B-AF0B-0849FBE9CC15}"/>
              </a:ext>
            </a:extLst>
          </p:cNvPr>
          <p:cNvSpPr txBox="1"/>
          <p:nvPr/>
        </p:nvSpPr>
        <p:spPr>
          <a:xfrm>
            <a:off x="3099381" y="2505795"/>
            <a:ext cx="4872669" cy="1429622"/>
          </a:xfrm>
          <a:prstGeom prst="rect">
            <a:avLst/>
          </a:prstGeom>
          <a:noFill/>
        </p:spPr>
        <p:txBody>
          <a:bodyPr wrap="square" rtlCol="0">
            <a:spAutoFit/>
          </a:bodyPr>
          <a:lstStyle/>
          <a:p>
            <a:pPr>
              <a:lnSpc>
                <a:spcPct val="150000"/>
              </a:lnSpc>
            </a:pPr>
            <a:r>
              <a:rPr lang="en-US" altLang="ko-KR" sz="2000" b="1" dirty="0"/>
              <a:t>Edge Detection</a:t>
            </a:r>
          </a:p>
          <a:p>
            <a:pPr>
              <a:lnSpc>
                <a:spcPct val="150000"/>
              </a:lnSpc>
            </a:pPr>
            <a:r>
              <a:rPr lang="en-US" altLang="ko-KR" sz="2000" b="1" dirty="0"/>
              <a:t>Canny Edge Detector</a:t>
            </a:r>
          </a:p>
          <a:p>
            <a:pPr>
              <a:lnSpc>
                <a:spcPct val="150000"/>
              </a:lnSpc>
            </a:pPr>
            <a:r>
              <a:rPr lang="en-US" altLang="ko-KR" sz="2000" b="1" dirty="0"/>
              <a:t>Edge Linking</a:t>
            </a:r>
          </a:p>
        </p:txBody>
      </p:sp>
    </p:spTree>
    <p:extLst>
      <p:ext uri="{BB962C8B-B14F-4D97-AF65-F5344CB8AC3E}">
        <p14:creationId xmlns:p14="http://schemas.microsoft.com/office/powerpoint/2010/main" val="1877193180"/>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14AC4-6079-EE71-595E-80801C0CB63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B41D148-9613-DC33-1F2A-E8BFC06C455E}"/>
              </a:ext>
            </a:extLst>
          </p:cNvPr>
          <p:cNvSpPr txBox="1"/>
          <p:nvPr/>
        </p:nvSpPr>
        <p:spPr>
          <a:xfrm>
            <a:off x="3099381" y="2505795"/>
            <a:ext cx="4872669" cy="1429622"/>
          </a:xfrm>
          <a:prstGeom prst="rect">
            <a:avLst/>
          </a:prstGeom>
          <a:noFill/>
        </p:spPr>
        <p:txBody>
          <a:bodyPr wrap="square" rtlCol="0">
            <a:spAutoFit/>
          </a:bodyPr>
          <a:lstStyle/>
          <a:p>
            <a:pPr>
              <a:lnSpc>
                <a:spcPct val="150000"/>
              </a:lnSpc>
            </a:pPr>
            <a:r>
              <a:rPr lang="en-US" altLang="ko-KR" sz="2000" b="1" dirty="0"/>
              <a:t>Edge Detection</a:t>
            </a:r>
          </a:p>
          <a:p>
            <a:pPr>
              <a:lnSpc>
                <a:spcPct val="150000"/>
              </a:lnSpc>
            </a:pPr>
            <a:r>
              <a:rPr lang="en-US" altLang="ko-KR" sz="2000" b="1" dirty="0">
                <a:solidFill>
                  <a:schemeClr val="bg1">
                    <a:lumMod val="85000"/>
                  </a:schemeClr>
                </a:solidFill>
              </a:rPr>
              <a:t>Canny Edge Detector</a:t>
            </a:r>
          </a:p>
          <a:p>
            <a:pPr>
              <a:lnSpc>
                <a:spcPct val="150000"/>
              </a:lnSpc>
            </a:pPr>
            <a:r>
              <a:rPr lang="en-US" altLang="ko-KR" sz="2000" b="1" dirty="0">
                <a:solidFill>
                  <a:schemeClr val="bg1">
                    <a:lumMod val="85000"/>
                  </a:schemeClr>
                </a:solidFill>
              </a:rPr>
              <a:t>Edge Linking</a:t>
            </a:r>
          </a:p>
        </p:txBody>
      </p:sp>
    </p:spTree>
    <p:extLst>
      <p:ext uri="{BB962C8B-B14F-4D97-AF65-F5344CB8AC3E}">
        <p14:creationId xmlns:p14="http://schemas.microsoft.com/office/powerpoint/2010/main" val="1479221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48852-3CC6-1C3C-8A6F-55A92BF5344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9914691F-470B-1194-598C-4D9747539528}"/>
              </a:ext>
            </a:extLst>
          </p:cNvPr>
          <p:cNvSpPr txBox="1"/>
          <p:nvPr/>
        </p:nvSpPr>
        <p:spPr>
          <a:xfrm>
            <a:off x="191115" y="931008"/>
            <a:ext cx="4279127" cy="461665"/>
          </a:xfrm>
          <a:prstGeom prst="rect">
            <a:avLst/>
          </a:prstGeom>
          <a:noFill/>
        </p:spPr>
        <p:txBody>
          <a:bodyPr wrap="square" rtlCol="0">
            <a:spAutoFit/>
          </a:bodyPr>
          <a:lstStyle/>
          <a:p>
            <a:r>
              <a:rPr lang="en-US" altLang="ko-KR" sz="2400" i="1" dirty="0"/>
              <a:t>Concept</a:t>
            </a:r>
          </a:p>
        </p:txBody>
      </p:sp>
      <p:sp>
        <p:nvSpPr>
          <p:cNvPr id="10" name="TextBox 9">
            <a:extLst>
              <a:ext uri="{FF2B5EF4-FFF2-40B4-BE49-F238E27FC236}">
                <a16:creationId xmlns:a16="http://schemas.microsoft.com/office/drawing/2014/main" id="{F8077E23-6924-089B-5AC5-F76D9E8BDF5B}"/>
              </a:ext>
            </a:extLst>
          </p:cNvPr>
          <p:cNvSpPr txBox="1"/>
          <p:nvPr/>
        </p:nvSpPr>
        <p:spPr>
          <a:xfrm>
            <a:off x="109348" y="407788"/>
            <a:ext cx="3848316" cy="523220"/>
          </a:xfrm>
          <a:prstGeom prst="rect">
            <a:avLst/>
          </a:prstGeom>
          <a:noFill/>
        </p:spPr>
        <p:txBody>
          <a:bodyPr wrap="square" rtlCol="0">
            <a:spAutoFit/>
          </a:bodyPr>
          <a:lstStyle/>
          <a:p>
            <a:r>
              <a:rPr lang="en-US" altLang="ko-KR" sz="2800" b="1" dirty="0"/>
              <a:t>Edge Detection</a:t>
            </a:r>
          </a:p>
        </p:txBody>
      </p:sp>
      <p:sp>
        <p:nvSpPr>
          <p:cNvPr id="2" name="TextBox 1">
            <a:extLst>
              <a:ext uri="{FF2B5EF4-FFF2-40B4-BE49-F238E27FC236}">
                <a16:creationId xmlns:a16="http://schemas.microsoft.com/office/drawing/2014/main" id="{AB8BAF3C-714B-C558-873B-C881AB913288}"/>
              </a:ext>
            </a:extLst>
          </p:cNvPr>
          <p:cNvSpPr txBox="1"/>
          <p:nvPr/>
        </p:nvSpPr>
        <p:spPr>
          <a:xfrm>
            <a:off x="191115" y="1392673"/>
            <a:ext cx="11809770" cy="707886"/>
          </a:xfrm>
          <a:prstGeom prst="rect">
            <a:avLst/>
          </a:prstGeom>
          <a:noFill/>
        </p:spPr>
        <p:txBody>
          <a:bodyPr wrap="square" rtlCol="0">
            <a:spAutoFit/>
          </a:bodyPr>
          <a:lstStyle/>
          <a:p>
            <a:pPr algn="just"/>
            <a:r>
              <a:rPr lang="en-US" altLang="ko-KR" sz="2000" dirty="0"/>
              <a:t>- Edge detection is a fundamental technique in image processing and computer vision that aims to find the outlines or boundaries of objects within an image. </a:t>
            </a:r>
            <a:endParaRPr lang="en-US" altLang="ko-KR" sz="2000" dirty="0">
              <a:solidFill>
                <a:srgbClr val="FF0000"/>
              </a:solidFill>
            </a:endParaRPr>
          </a:p>
        </p:txBody>
      </p:sp>
      <p:sp>
        <p:nvSpPr>
          <p:cNvPr id="3" name="TextBox 2">
            <a:extLst>
              <a:ext uri="{FF2B5EF4-FFF2-40B4-BE49-F238E27FC236}">
                <a16:creationId xmlns:a16="http://schemas.microsoft.com/office/drawing/2014/main" id="{C8F8BFDE-E745-E6FA-42AA-7208A5379CE6}"/>
              </a:ext>
            </a:extLst>
          </p:cNvPr>
          <p:cNvSpPr txBox="1"/>
          <p:nvPr/>
        </p:nvSpPr>
        <p:spPr>
          <a:xfrm>
            <a:off x="191115" y="2100559"/>
            <a:ext cx="11809770" cy="707886"/>
          </a:xfrm>
          <a:prstGeom prst="rect">
            <a:avLst/>
          </a:prstGeom>
          <a:noFill/>
        </p:spPr>
        <p:txBody>
          <a:bodyPr wrap="square" rtlCol="0">
            <a:spAutoFit/>
          </a:bodyPr>
          <a:lstStyle/>
          <a:p>
            <a:pPr algn="just"/>
            <a:r>
              <a:rPr lang="en-US" altLang="ko-KR" sz="2000" dirty="0"/>
              <a:t>- Edge detection identifies regions where the intensity of pixels changes rapidly, indicating a boundary between different objects or regions. </a:t>
            </a:r>
            <a:endParaRPr lang="en-US" altLang="ko-KR" sz="2000" dirty="0">
              <a:solidFill>
                <a:srgbClr val="FF0000"/>
              </a:solidFill>
            </a:endParaRPr>
          </a:p>
        </p:txBody>
      </p:sp>
      <p:pic>
        <p:nvPicPr>
          <p:cNvPr id="5" name="Picture 2" descr="Guide to Edge Detection Algorithms - Analytics Vidhya">
            <a:extLst>
              <a:ext uri="{FF2B5EF4-FFF2-40B4-BE49-F238E27FC236}">
                <a16:creationId xmlns:a16="http://schemas.microsoft.com/office/drawing/2014/main" id="{5F48492A-0CE5-9851-05AE-B0130121A5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4410" y="3388142"/>
            <a:ext cx="5623180" cy="277337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C4A1FB9-040A-A42D-9302-1AB78320624E}"/>
              </a:ext>
            </a:extLst>
          </p:cNvPr>
          <p:cNvSpPr txBox="1"/>
          <p:nvPr/>
        </p:nvSpPr>
        <p:spPr>
          <a:xfrm>
            <a:off x="4008940" y="2991301"/>
            <a:ext cx="1330036" cy="369332"/>
          </a:xfrm>
          <a:prstGeom prst="rect">
            <a:avLst/>
          </a:prstGeom>
          <a:noFill/>
        </p:spPr>
        <p:txBody>
          <a:bodyPr wrap="square" rtlCol="0">
            <a:spAutoFit/>
          </a:bodyPr>
          <a:lstStyle/>
          <a:p>
            <a:pPr algn="ctr"/>
            <a:r>
              <a:rPr lang="en-US" altLang="ko-KR" dirty="0"/>
              <a:t>Original</a:t>
            </a:r>
            <a:endParaRPr lang="en-US" altLang="ko-KR" sz="2000" dirty="0">
              <a:solidFill>
                <a:srgbClr val="FF0000"/>
              </a:solidFill>
            </a:endParaRPr>
          </a:p>
        </p:txBody>
      </p:sp>
      <p:sp>
        <p:nvSpPr>
          <p:cNvPr id="9" name="TextBox 8">
            <a:extLst>
              <a:ext uri="{FF2B5EF4-FFF2-40B4-BE49-F238E27FC236}">
                <a16:creationId xmlns:a16="http://schemas.microsoft.com/office/drawing/2014/main" id="{0C1AC231-B812-FA3B-5F3C-67A5382B1EF2}"/>
              </a:ext>
            </a:extLst>
          </p:cNvPr>
          <p:cNvSpPr txBox="1"/>
          <p:nvPr/>
        </p:nvSpPr>
        <p:spPr>
          <a:xfrm>
            <a:off x="6853026" y="2991301"/>
            <a:ext cx="1330036" cy="369332"/>
          </a:xfrm>
          <a:prstGeom prst="rect">
            <a:avLst/>
          </a:prstGeom>
          <a:noFill/>
        </p:spPr>
        <p:txBody>
          <a:bodyPr wrap="square" rtlCol="0">
            <a:spAutoFit/>
          </a:bodyPr>
          <a:lstStyle/>
          <a:p>
            <a:pPr algn="ctr"/>
            <a:r>
              <a:rPr lang="en-US" altLang="ko-KR" dirty="0"/>
              <a:t>Edges</a:t>
            </a:r>
            <a:endParaRPr lang="en-US" altLang="ko-KR" sz="2000" dirty="0">
              <a:solidFill>
                <a:srgbClr val="FF0000"/>
              </a:solidFill>
            </a:endParaRPr>
          </a:p>
        </p:txBody>
      </p:sp>
    </p:spTree>
    <p:extLst>
      <p:ext uri="{BB962C8B-B14F-4D97-AF65-F5344CB8AC3E}">
        <p14:creationId xmlns:p14="http://schemas.microsoft.com/office/powerpoint/2010/main" val="1032070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13E95-EDED-9EE9-54A3-BD7BFDFEBE1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4B48D45-24EF-248E-AF54-9D72AAF06753}"/>
              </a:ext>
            </a:extLst>
          </p:cNvPr>
          <p:cNvSpPr txBox="1"/>
          <p:nvPr/>
        </p:nvSpPr>
        <p:spPr>
          <a:xfrm>
            <a:off x="191115" y="931008"/>
            <a:ext cx="4279127" cy="461665"/>
          </a:xfrm>
          <a:prstGeom prst="rect">
            <a:avLst/>
          </a:prstGeom>
          <a:noFill/>
        </p:spPr>
        <p:txBody>
          <a:bodyPr wrap="square" rtlCol="0">
            <a:spAutoFit/>
          </a:bodyPr>
          <a:lstStyle/>
          <a:p>
            <a:r>
              <a:rPr lang="en-US" altLang="ko-KR" sz="2400" i="1" dirty="0"/>
              <a:t>Why is it Important?</a:t>
            </a:r>
          </a:p>
        </p:txBody>
      </p:sp>
      <p:sp>
        <p:nvSpPr>
          <p:cNvPr id="10" name="TextBox 9">
            <a:extLst>
              <a:ext uri="{FF2B5EF4-FFF2-40B4-BE49-F238E27FC236}">
                <a16:creationId xmlns:a16="http://schemas.microsoft.com/office/drawing/2014/main" id="{533C329F-445D-7A9A-2211-97F26F121E4C}"/>
              </a:ext>
            </a:extLst>
          </p:cNvPr>
          <p:cNvSpPr txBox="1"/>
          <p:nvPr/>
        </p:nvSpPr>
        <p:spPr>
          <a:xfrm>
            <a:off x="109348" y="407788"/>
            <a:ext cx="3848316" cy="523220"/>
          </a:xfrm>
          <a:prstGeom prst="rect">
            <a:avLst/>
          </a:prstGeom>
          <a:noFill/>
        </p:spPr>
        <p:txBody>
          <a:bodyPr wrap="square" rtlCol="0">
            <a:spAutoFit/>
          </a:bodyPr>
          <a:lstStyle/>
          <a:p>
            <a:r>
              <a:rPr lang="en-US" altLang="ko-KR" sz="2800" b="1" dirty="0"/>
              <a:t>Edge Detection</a:t>
            </a:r>
          </a:p>
        </p:txBody>
      </p:sp>
      <p:sp>
        <p:nvSpPr>
          <p:cNvPr id="2" name="TextBox 1">
            <a:extLst>
              <a:ext uri="{FF2B5EF4-FFF2-40B4-BE49-F238E27FC236}">
                <a16:creationId xmlns:a16="http://schemas.microsoft.com/office/drawing/2014/main" id="{EF01495A-76D2-17C0-7E6E-480711FF2309}"/>
              </a:ext>
            </a:extLst>
          </p:cNvPr>
          <p:cNvSpPr txBox="1"/>
          <p:nvPr/>
        </p:nvSpPr>
        <p:spPr>
          <a:xfrm>
            <a:off x="191115" y="1392673"/>
            <a:ext cx="11809770" cy="400110"/>
          </a:xfrm>
          <a:prstGeom prst="rect">
            <a:avLst/>
          </a:prstGeom>
          <a:noFill/>
        </p:spPr>
        <p:txBody>
          <a:bodyPr wrap="square" rtlCol="0">
            <a:spAutoFit/>
          </a:bodyPr>
          <a:lstStyle/>
          <a:p>
            <a:pPr algn="just"/>
            <a:r>
              <a:rPr lang="en-US" altLang="ko-KR" sz="2000" dirty="0"/>
              <a:t>- Edges represent object boundaries, shapes, or transitions, critical for understanding image content.</a:t>
            </a:r>
            <a:endParaRPr lang="en-US" altLang="ko-KR" sz="2000" dirty="0">
              <a:solidFill>
                <a:srgbClr val="FF0000"/>
              </a:solidFill>
            </a:endParaRPr>
          </a:p>
        </p:txBody>
      </p:sp>
      <p:sp>
        <p:nvSpPr>
          <p:cNvPr id="3" name="TextBox 2">
            <a:extLst>
              <a:ext uri="{FF2B5EF4-FFF2-40B4-BE49-F238E27FC236}">
                <a16:creationId xmlns:a16="http://schemas.microsoft.com/office/drawing/2014/main" id="{1DEEC447-825A-D627-AC84-7737176F6B79}"/>
              </a:ext>
            </a:extLst>
          </p:cNvPr>
          <p:cNvSpPr txBox="1"/>
          <p:nvPr/>
        </p:nvSpPr>
        <p:spPr>
          <a:xfrm>
            <a:off x="191115" y="1792783"/>
            <a:ext cx="11809770" cy="400110"/>
          </a:xfrm>
          <a:prstGeom prst="rect">
            <a:avLst/>
          </a:prstGeom>
          <a:noFill/>
        </p:spPr>
        <p:txBody>
          <a:bodyPr wrap="square" rtlCol="0">
            <a:spAutoFit/>
          </a:bodyPr>
          <a:lstStyle/>
          <a:p>
            <a:pPr algn="just"/>
            <a:r>
              <a:rPr lang="en-US" altLang="ko-KR" sz="2000" dirty="0"/>
              <a:t>- Foundation for many computer vision tasks: object detection, segmentation, feature extraction.</a:t>
            </a:r>
            <a:endParaRPr lang="en-US" altLang="ko-KR" sz="2000" dirty="0">
              <a:solidFill>
                <a:srgbClr val="FF0000"/>
              </a:solidFill>
            </a:endParaRPr>
          </a:p>
        </p:txBody>
      </p:sp>
      <p:sp>
        <p:nvSpPr>
          <p:cNvPr id="5" name="TextBox 4">
            <a:extLst>
              <a:ext uri="{FF2B5EF4-FFF2-40B4-BE49-F238E27FC236}">
                <a16:creationId xmlns:a16="http://schemas.microsoft.com/office/drawing/2014/main" id="{DF940F66-0352-7529-9A39-12965694985A}"/>
              </a:ext>
            </a:extLst>
          </p:cNvPr>
          <p:cNvSpPr txBox="1"/>
          <p:nvPr/>
        </p:nvSpPr>
        <p:spPr>
          <a:xfrm>
            <a:off x="191115" y="2192893"/>
            <a:ext cx="11809770" cy="400110"/>
          </a:xfrm>
          <a:prstGeom prst="rect">
            <a:avLst/>
          </a:prstGeom>
          <a:noFill/>
        </p:spPr>
        <p:txBody>
          <a:bodyPr wrap="square" rtlCol="0">
            <a:spAutoFit/>
          </a:bodyPr>
          <a:lstStyle/>
          <a:p>
            <a:pPr algn="just"/>
            <a:r>
              <a:rPr lang="en-US" altLang="ko-KR" sz="2000" dirty="0"/>
              <a:t>- Applications: Autonomous vehicles, medical imaging, facial recognition, robotics.</a:t>
            </a:r>
            <a:endParaRPr lang="en-US" altLang="ko-KR" sz="2000" dirty="0">
              <a:solidFill>
                <a:srgbClr val="FF0000"/>
              </a:solidFill>
            </a:endParaRPr>
          </a:p>
        </p:txBody>
      </p:sp>
      <p:sp>
        <p:nvSpPr>
          <p:cNvPr id="11" name="TextBox 10">
            <a:extLst>
              <a:ext uri="{FF2B5EF4-FFF2-40B4-BE49-F238E27FC236}">
                <a16:creationId xmlns:a16="http://schemas.microsoft.com/office/drawing/2014/main" id="{419FF4C1-47AA-6416-0E30-767F620181CD}"/>
              </a:ext>
            </a:extLst>
          </p:cNvPr>
          <p:cNvSpPr txBox="1"/>
          <p:nvPr/>
        </p:nvSpPr>
        <p:spPr>
          <a:xfrm>
            <a:off x="7744355" y="2872798"/>
            <a:ext cx="2866479" cy="369332"/>
          </a:xfrm>
          <a:prstGeom prst="rect">
            <a:avLst/>
          </a:prstGeom>
          <a:noFill/>
        </p:spPr>
        <p:txBody>
          <a:bodyPr wrap="square" rtlCol="0">
            <a:spAutoFit/>
          </a:bodyPr>
          <a:lstStyle/>
          <a:p>
            <a:pPr algn="ctr"/>
            <a:r>
              <a:rPr lang="en-US" altLang="ko-KR" sz="1800" dirty="0"/>
              <a:t>Medical Imaging </a:t>
            </a:r>
            <a:r>
              <a:rPr lang="en-US" altLang="ko-KR" dirty="0"/>
              <a:t>A</a:t>
            </a:r>
            <a:r>
              <a:rPr lang="en-US" altLang="ko-KR" sz="1800" dirty="0"/>
              <a:t>nalysis</a:t>
            </a:r>
            <a:endParaRPr lang="en-US" altLang="ko-KR" sz="2000" dirty="0">
              <a:solidFill>
                <a:srgbClr val="FF0000"/>
              </a:solidFill>
            </a:endParaRPr>
          </a:p>
        </p:txBody>
      </p:sp>
      <p:pic>
        <p:nvPicPr>
          <p:cNvPr id="2050" name="Picture 2" descr="Comparative Analysis of Edge Detection Operators Using a Threshold  Estimation Approach on Medical Noisy Images with Different Complexities">
            <a:extLst>
              <a:ext uri="{FF2B5EF4-FFF2-40B4-BE49-F238E27FC236}">
                <a16:creationId xmlns:a16="http://schemas.microsoft.com/office/drawing/2014/main" id="{A47E884C-7081-E867-67A4-DE99532CFFA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07427" y="3248591"/>
            <a:ext cx="4540336" cy="314179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OpenCV | Real Time Road Lane Detection | GeeksforGeeks">
            <a:extLst>
              <a:ext uri="{FF2B5EF4-FFF2-40B4-BE49-F238E27FC236}">
                <a16:creationId xmlns:a16="http://schemas.microsoft.com/office/drawing/2014/main" id="{0EB688CC-57DC-4465-0B33-CF34648EF4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542" y="3158821"/>
            <a:ext cx="5745012" cy="323156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6051292-101E-FEDD-B3B1-4755CA650938}"/>
              </a:ext>
            </a:extLst>
          </p:cNvPr>
          <p:cNvSpPr txBox="1"/>
          <p:nvPr/>
        </p:nvSpPr>
        <p:spPr>
          <a:xfrm>
            <a:off x="1031731" y="2872798"/>
            <a:ext cx="4642633" cy="369332"/>
          </a:xfrm>
          <a:prstGeom prst="rect">
            <a:avLst/>
          </a:prstGeom>
          <a:noFill/>
        </p:spPr>
        <p:txBody>
          <a:bodyPr wrap="square" rtlCol="0">
            <a:spAutoFit/>
          </a:bodyPr>
          <a:lstStyle/>
          <a:p>
            <a:pPr algn="ctr"/>
            <a:r>
              <a:rPr lang="en-US" altLang="ko-KR" sz="1800" dirty="0"/>
              <a:t>Advanced Driver-Assistance Systems (ADAS)</a:t>
            </a:r>
            <a:endParaRPr lang="en-US" altLang="ko-KR" sz="2000" dirty="0">
              <a:solidFill>
                <a:srgbClr val="FF0000"/>
              </a:solidFill>
            </a:endParaRPr>
          </a:p>
        </p:txBody>
      </p:sp>
    </p:spTree>
    <p:extLst>
      <p:ext uri="{BB962C8B-B14F-4D97-AF65-F5344CB8AC3E}">
        <p14:creationId xmlns:p14="http://schemas.microsoft.com/office/powerpoint/2010/main" val="2938595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F668A-7918-D237-4286-AE3D8A3A979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28F57B63-6E7C-00CB-9C4B-63DB47888687}"/>
              </a:ext>
            </a:extLst>
          </p:cNvPr>
          <p:cNvSpPr txBox="1"/>
          <p:nvPr/>
        </p:nvSpPr>
        <p:spPr>
          <a:xfrm>
            <a:off x="191115" y="931008"/>
            <a:ext cx="4279127" cy="461665"/>
          </a:xfrm>
          <a:prstGeom prst="rect">
            <a:avLst/>
          </a:prstGeom>
          <a:noFill/>
        </p:spPr>
        <p:txBody>
          <a:bodyPr wrap="square" rtlCol="0">
            <a:spAutoFit/>
          </a:bodyPr>
          <a:lstStyle/>
          <a:p>
            <a:r>
              <a:rPr lang="en-US" altLang="ko-KR" sz="2400" i="1" dirty="0"/>
              <a:t>Techniques</a:t>
            </a:r>
          </a:p>
        </p:txBody>
      </p:sp>
      <p:sp>
        <p:nvSpPr>
          <p:cNvPr id="10" name="TextBox 9">
            <a:extLst>
              <a:ext uri="{FF2B5EF4-FFF2-40B4-BE49-F238E27FC236}">
                <a16:creationId xmlns:a16="http://schemas.microsoft.com/office/drawing/2014/main" id="{E231CC3A-D9A9-0DAC-F48F-3D01E2B1648B}"/>
              </a:ext>
            </a:extLst>
          </p:cNvPr>
          <p:cNvSpPr txBox="1"/>
          <p:nvPr/>
        </p:nvSpPr>
        <p:spPr>
          <a:xfrm>
            <a:off x="109348" y="407788"/>
            <a:ext cx="3848316" cy="523220"/>
          </a:xfrm>
          <a:prstGeom prst="rect">
            <a:avLst/>
          </a:prstGeom>
          <a:noFill/>
        </p:spPr>
        <p:txBody>
          <a:bodyPr wrap="square" rtlCol="0">
            <a:spAutoFit/>
          </a:bodyPr>
          <a:lstStyle/>
          <a:p>
            <a:r>
              <a:rPr lang="en-US" altLang="ko-KR" sz="2800" b="1" dirty="0"/>
              <a:t>Edge Detection</a:t>
            </a:r>
          </a:p>
        </p:txBody>
      </p:sp>
      <p:sp>
        <p:nvSpPr>
          <p:cNvPr id="2" name="TextBox 1">
            <a:extLst>
              <a:ext uri="{FF2B5EF4-FFF2-40B4-BE49-F238E27FC236}">
                <a16:creationId xmlns:a16="http://schemas.microsoft.com/office/drawing/2014/main" id="{4EC2128E-7032-364C-348F-7BE0C134BF05}"/>
              </a:ext>
            </a:extLst>
          </p:cNvPr>
          <p:cNvSpPr txBox="1"/>
          <p:nvPr/>
        </p:nvSpPr>
        <p:spPr>
          <a:xfrm>
            <a:off x="191115" y="1392673"/>
            <a:ext cx="11809770" cy="400110"/>
          </a:xfrm>
          <a:prstGeom prst="rect">
            <a:avLst/>
          </a:prstGeom>
          <a:noFill/>
        </p:spPr>
        <p:txBody>
          <a:bodyPr wrap="square" rtlCol="0">
            <a:spAutoFit/>
          </a:bodyPr>
          <a:lstStyle/>
          <a:p>
            <a:pPr algn="just"/>
            <a:r>
              <a:rPr lang="en-US" altLang="ko-KR" sz="2000" dirty="0"/>
              <a:t>- First-Order Derivative Methods: </a:t>
            </a:r>
            <a:r>
              <a:rPr lang="en-US" sz="2000" dirty="0"/>
              <a:t>Sobel Operator, Prewitt Operator, etc.</a:t>
            </a:r>
            <a:r>
              <a:rPr lang="en-US" altLang="ko-KR" sz="2000" dirty="0"/>
              <a:t> </a:t>
            </a:r>
            <a:endParaRPr lang="en-US" altLang="ko-KR" sz="2000" dirty="0">
              <a:solidFill>
                <a:srgbClr val="FF0000"/>
              </a:solidFill>
            </a:endParaRPr>
          </a:p>
        </p:txBody>
      </p:sp>
      <p:sp>
        <p:nvSpPr>
          <p:cNvPr id="5" name="TextBox 4">
            <a:extLst>
              <a:ext uri="{FF2B5EF4-FFF2-40B4-BE49-F238E27FC236}">
                <a16:creationId xmlns:a16="http://schemas.microsoft.com/office/drawing/2014/main" id="{FD7AF8F7-283D-4901-6202-92545DE98A84}"/>
              </a:ext>
            </a:extLst>
          </p:cNvPr>
          <p:cNvSpPr txBox="1"/>
          <p:nvPr/>
        </p:nvSpPr>
        <p:spPr>
          <a:xfrm>
            <a:off x="191115" y="1792783"/>
            <a:ext cx="11809770" cy="400110"/>
          </a:xfrm>
          <a:prstGeom prst="rect">
            <a:avLst/>
          </a:prstGeom>
          <a:noFill/>
        </p:spPr>
        <p:txBody>
          <a:bodyPr wrap="square" rtlCol="0">
            <a:spAutoFit/>
          </a:bodyPr>
          <a:lstStyle/>
          <a:p>
            <a:pPr algn="just"/>
            <a:r>
              <a:rPr lang="en-US" altLang="ko-KR" sz="2000" dirty="0"/>
              <a:t>- </a:t>
            </a:r>
            <a:r>
              <a:rPr lang="en-US" sz="2000" dirty="0"/>
              <a:t>Second-Order Derivative Methods</a:t>
            </a:r>
            <a:r>
              <a:rPr lang="en-US" altLang="ko-KR" sz="2000" dirty="0"/>
              <a:t>: </a:t>
            </a:r>
            <a:r>
              <a:rPr lang="en-US" sz="2000" dirty="0"/>
              <a:t>Laplacian of Gaussian (</a:t>
            </a:r>
            <a:r>
              <a:rPr lang="en-US" sz="2000" dirty="0" err="1"/>
              <a:t>LoG</a:t>
            </a:r>
            <a:r>
              <a:rPr lang="en-US" sz="2000" dirty="0"/>
              <a:t>), Difference of Gaussians (</a:t>
            </a:r>
            <a:r>
              <a:rPr lang="en-US" sz="2000" dirty="0" err="1"/>
              <a:t>DoG</a:t>
            </a:r>
            <a:r>
              <a:rPr lang="en-US" sz="2000" dirty="0"/>
              <a:t>), etc.</a:t>
            </a:r>
            <a:r>
              <a:rPr lang="en-US" altLang="ko-KR" sz="2000" dirty="0"/>
              <a:t> </a:t>
            </a:r>
            <a:endParaRPr lang="en-US" altLang="ko-KR" sz="2000" dirty="0">
              <a:solidFill>
                <a:srgbClr val="FF0000"/>
              </a:solidFill>
            </a:endParaRPr>
          </a:p>
        </p:txBody>
      </p:sp>
      <p:sp>
        <p:nvSpPr>
          <p:cNvPr id="7" name="TextBox 6">
            <a:extLst>
              <a:ext uri="{FF2B5EF4-FFF2-40B4-BE49-F238E27FC236}">
                <a16:creationId xmlns:a16="http://schemas.microsoft.com/office/drawing/2014/main" id="{0C1A438C-0C02-ABB4-E065-FCA41E185D04}"/>
              </a:ext>
            </a:extLst>
          </p:cNvPr>
          <p:cNvSpPr txBox="1"/>
          <p:nvPr/>
        </p:nvSpPr>
        <p:spPr>
          <a:xfrm>
            <a:off x="191115" y="2192893"/>
            <a:ext cx="11809770" cy="400110"/>
          </a:xfrm>
          <a:prstGeom prst="rect">
            <a:avLst/>
          </a:prstGeom>
          <a:noFill/>
        </p:spPr>
        <p:txBody>
          <a:bodyPr wrap="square" rtlCol="0">
            <a:spAutoFit/>
          </a:bodyPr>
          <a:lstStyle/>
          <a:p>
            <a:pPr algn="just"/>
            <a:r>
              <a:rPr lang="en-US" altLang="ko-KR" sz="2000" dirty="0"/>
              <a:t>- </a:t>
            </a:r>
            <a:r>
              <a:rPr lang="en-US" sz="2000" dirty="0"/>
              <a:t>Canny Edge Detector</a:t>
            </a:r>
          </a:p>
        </p:txBody>
      </p:sp>
      <p:pic>
        <p:nvPicPr>
          <p:cNvPr id="6" name="Picture 5">
            <a:extLst>
              <a:ext uri="{FF2B5EF4-FFF2-40B4-BE49-F238E27FC236}">
                <a16:creationId xmlns:a16="http://schemas.microsoft.com/office/drawing/2014/main" id="{32B132E4-2DD6-DC74-D04F-061B03E392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659" y="2993113"/>
            <a:ext cx="5343525" cy="3352800"/>
          </a:xfrm>
          <a:prstGeom prst="rect">
            <a:avLst/>
          </a:prstGeom>
        </p:spPr>
      </p:pic>
      <p:pic>
        <p:nvPicPr>
          <p:cNvPr id="1028" name="Picture 4" descr="Understanding Second-Order Derivative Methods in Edge Detection | by  Helenjoy | Medium">
            <a:extLst>
              <a:ext uri="{FF2B5EF4-FFF2-40B4-BE49-F238E27FC236}">
                <a16:creationId xmlns:a16="http://schemas.microsoft.com/office/drawing/2014/main" id="{61539A53-6DCB-8F33-51D5-B739319500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2161" y="2823986"/>
            <a:ext cx="4541193" cy="36910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8537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F668A-7918-D237-4286-AE3D8A3A979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28F57B63-6E7C-00CB-9C4B-63DB47888687}"/>
              </a:ext>
            </a:extLst>
          </p:cNvPr>
          <p:cNvSpPr txBox="1"/>
          <p:nvPr/>
        </p:nvSpPr>
        <p:spPr>
          <a:xfrm>
            <a:off x="191115" y="931008"/>
            <a:ext cx="4279127" cy="461665"/>
          </a:xfrm>
          <a:prstGeom prst="rect">
            <a:avLst/>
          </a:prstGeom>
          <a:noFill/>
        </p:spPr>
        <p:txBody>
          <a:bodyPr wrap="square" rtlCol="0">
            <a:spAutoFit/>
          </a:bodyPr>
          <a:lstStyle/>
          <a:p>
            <a:r>
              <a:rPr lang="en-US" altLang="ko-KR" sz="2400" i="1" dirty="0"/>
              <a:t>Techniques</a:t>
            </a:r>
          </a:p>
        </p:txBody>
      </p:sp>
      <p:sp>
        <p:nvSpPr>
          <p:cNvPr id="10" name="TextBox 9">
            <a:extLst>
              <a:ext uri="{FF2B5EF4-FFF2-40B4-BE49-F238E27FC236}">
                <a16:creationId xmlns:a16="http://schemas.microsoft.com/office/drawing/2014/main" id="{E231CC3A-D9A9-0DAC-F48F-3D01E2B1648B}"/>
              </a:ext>
            </a:extLst>
          </p:cNvPr>
          <p:cNvSpPr txBox="1"/>
          <p:nvPr/>
        </p:nvSpPr>
        <p:spPr>
          <a:xfrm>
            <a:off x="109348" y="407788"/>
            <a:ext cx="3848316" cy="523220"/>
          </a:xfrm>
          <a:prstGeom prst="rect">
            <a:avLst/>
          </a:prstGeom>
          <a:noFill/>
        </p:spPr>
        <p:txBody>
          <a:bodyPr wrap="square" rtlCol="0">
            <a:spAutoFit/>
          </a:bodyPr>
          <a:lstStyle/>
          <a:p>
            <a:r>
              <a:rPr lang="en-US" altLang="ko-KR" sz="2800" b="1" dirty="0"/>
              <a:t>Edge Detection</a:t>
            </a:r>
          </a:p>
        </p:txBody>
      </p:sp>
      <p:sp>
        <p:nvSpPr>
          <p:cNvPr id="2" name="TextBox 1">
            <a:extLst>
              <a:ext uri="{FF2B5EF4-FFF2-40B4-BE49-F238E27FC236}">
                <a16:creationId xmlns:a16="http://schemas.microsoft.com/office/drawing/2014/main" id="{4EC2128E-7032-364C-348F-7BE0C134BF05}"/>
              </a:ext>
            </a:extLst>
          </p:cNvPr>
          <p:cNvSpPr txBox="1"/>
          <p:nvPr/>
        </p:nvSpPr>
        <p:spPr>
          <a:xfrm>
            <a:off x="191115" y="1392673"/>
            <a:ext cx="11809770" cy="400110"/>
          </a:xfrm>
          <a:prstGeom prst="rect">
            <a:avLst/>
          </a:prstGeom>
          <a:noFill/>
        </p:spPr>
        <p:txBody>
          <a:bodyPr wrap="square" rtlCol="0">
            <a:spAutoFit/>
          </a:bodyPr>
          <a:lstStyle/>
          <a:p>
            <a:pPr algn="just"/>
            <a:r>
              <a:rPr lang="en-US" altLang="ko-KR" sz="2000" dirty="0"/>
              <a:t>- First-Order Derivative Methods: </a:t>
            </a:r>
            <a:r>
              <a:rPr lang="en-US" sz="2000" dirty="0"/>
              <a:t>Sobel Operator, Prewitt Operator, etc.</a:t>
            </a:r>
            <a:r>
              <a:rPr lang="en-US" altLang="ko-KR" sz="2000" dirty="0"/>
              <a:t> </a:t>
            </a:r>
            <a:endParaRPr lang="en-US" altLang="ko-KR" sz="2000" dirty="0">
              <a:solidFill>
                <a:srgbClr val="FF0000"/>
              </a:solidFill>
            </a:endParaRPr>
          </a:p>
        </p:txBody>
      </p:sp>
      <p:sp>
        <p:nvSpPr>
          <p:cNvPr id="5" name="TextBox 4">
            <a:extLst>
              <a:ext uri="{FF2B5EF4-FFF2-40B4-BE49-F238E27FC236}">
                <a16:creationId xmlns:a16="http://schemas.microsoft.com/office/drawing/2014/main" id="{FD7AF8F7-283D-4901-6202-92545DE98A84}"/>
              </a:ext>
            </a:extLst>
          </p:cNvPr>
          <p:cNvSpPr txBox="1"/>
          <p:nvPr/>
        </p:nvSpPr>
        <p:spPr>
          <a:xfrm>
            <a:off x="191115" y="1792783"/>
            <a:ext cx="11809770" cy="400110"/>
          </a:xfrm>
          <a:prstGeom prst="rect">
            <a:avLst/>
          </a:prstGeom>
          <a:noFill/>
        </p:spPr>
        <p:txBody>
          <a:bodyPr wrap="square" rtlCol="0">
            <a:spAutoFit/>
          </a:bodyPr>
          <a:lstStyle/>
          <a:p>
            <a:pPr algn="just"/>
            <a:r>
              <a:rPr lang="en-US" altLang="ko-KR" sz="2000" dirty="0"/>
              <a:t>- </a:t>
            </a:r>
            <a:r>
              <a:rPr lang="en-US" sz="2000" dirty="0"/>
              <a:t>Second-Order Derivative Methods</a:t>
            </a:r>
            <a:r>
              <a:rPr lang="en-US" altLang="ko-KR" sz="2000" dirty="0"/>
              <a:t>: </a:t>
            </a:r>
            <a:r>
              <a:rPr lang="en-US" sz="2000" dirty="0"/>
              <a:t>Laplacian of Gaussian (</a:t>
            </a:r>
            <a:r>
              <a:rPr lang="en-US" sz="2000" dirty="0" err="1"/>
              <a:t>LoG</a:t>
            </a:r>
            <a:r>
              <a:rPr lang="en-US" sz="2000" dirty="0"/>
              <a:t>), Difference of Gaussians (</a:t>
            </a:r>
            <a:r>
              <a:rPr lang="en-US" sz="2000" dirty="0" err="1"/>
              <a:t>DoG</a:t>
            </a:r>
            <a:r>
              <a:rPr lang="en-US" sz="2000" dirty="0"/>
              <a:t>), etc.</a:t>
            </a:r>
            <a:r>
              <a:rPr lang="en-US" altLang="ko-KR" sz="2000" dirty="0"/>
              <a:t> </a:t>
            </a:r>
            <a:endParaRPr lang="en-US" altLang="ko-KR" sz="2000" dirty="0">
              <a:solidFill>
                <a:srgbClr val="FF0000"/>
              </a:solidFill>
            </a:endParaRPr>
          </a:p>
        </p:txBody>
      </p:sp>
      <p:sp>
        <p:nvSpPr>
          <p:cNvPr id="7" name="TextBox 6">
            <a:extLst>
              <a:ext uri="{FF2B5EF4-FFF2-40B4-BE49-F238E27FC236}">
                <a16:creationId xmlns:a16="http://schemas.microsoft.com/office/drawing/2014/main" id="{0C1A438C-0C02-ABB4-E065-FCA41E185D04}"/>
              </a:ext>
            </a:extLst>
          </p:cNvPr>
          <p:cNvSpPr txBox="1"/>
          <p:nvPr/>
        </p:nvSpPr>
        <p:spPr>
          <a:xfrm>
            <a:off x="191115" y="2192893"/>
            <a:ext cx="11809770" cy="400110"/>
          </a:xfrm>
          <a:prstGeom prst="rect">
            <a:avLst/>
          </a:prstGeom>
          <a:noFill/>
        </p:spPr>
        <p:txBody>
          <a:bodyPr wrap="square" rtlCol="0">
            <a:spAutoFit/>
          </a:bodyPr>
          <a:lstStyle/>
          <a:p>
            <a:pPr algn="just"/>
            <a:r>
              <a:rPr lang="en-US" altLang="ko-KR" sz="2000" dirty="0"/>
              <a:t>- </a:t>
            </a:r>
            <a:r>
              <a:rPr lang="en-US" sz="2000" dirty="0"/>
              <a:t>Canny Edge Detector</a:t>
            </a:r>
          </a:p>
        </p:txBody>
      </p:sp>
      <p:pic>
        <p:nvPicPr>
          <p:cNvPr id="2050" name="Picture 2" descr="Understanding Second-Order Derivative Methods in Edge Detection | by  Helenjoy | Medium">
            <a:extLst>
              <a:ext uri="{FF2B5EF4-FFF2-40B4-BE49-F238E27FC236}">
                <a16:creationId xmlns:a16="http://schemas.microsoft.com/office/drawing/2014/main" id="{0D21E43C-9155-EDCC-A6B6-685FCC7625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5209" y="3195437"/>
            <a:ext cx="7178193" cy="284836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Gaussian and Laplacian of Gaussian profiles - noise removal post - Imgur">
            <a:extLst>
              <a:ext uri="{FF2B5EF4-FFF2-40B4-BE49-F238E27FC236}">
                <a16:creationId xmlns:a16="http://schemas.microsoft.com/office/drawing/2014/main" id="{869AFA76-2057-447A-48AF-0A287F23FA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447" y="2959660"/>
            <a:ext cx="3961528" cy="3433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6943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F668A-7918-D237-4286-AE3D8A3A979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28F57B63-6E7C-00CB-9C4B-63DB47888687}"/>
              </a:ext>
            </a:extLst>
          </p:cNvPr>
          <p:cNvSpPr txBox="1"/>
          <p:nvPr/>
        </p:nvSpPr>
        <p:spPr>
          <a:xfrm>
            <a:off x="191115" y="931008"/>
            <a:ext cx="4279127" cy="461665"/>
          </a:xfrm>
          <a:prstGeom prst="rect">
            <a:avLst/>
          </a:prstGeom>
          <a:noFill/>
        </p:spPr>
        <p:txBody>
          <a:bodyPr wrap="square" rtlCol="0">
            <a:spAutoFit/>
          </a:bodyPr>
          <a:lstStyle/>
          <a:p>
            <a:r>
              <a:rPr lang="en-US" altLang="ko-KR" sz="2400" i="1" dirty="0"/>
              <a:t>Techniques</a:t>
            </a:r>
          </a:p>
        </p:txBody>
      </p:sp>
      <p:sp>
        <p:nvSpPr>
          <p:cNvPr id="10" name="TextBox 9">
            <a:extLst>
              <a:ext uri="{FF2B5EF4-FFF2-40B4-BE49-F238E27FC236}">
                <a16:creationId xmlns:a16="http://schemas.microsoft.com/office/drawing/2014/main" id="{E231CC3A-D9A9-0DAC-F48F-3D01E2B1648B}"/>
              </a:ext>
            </a:extLst>
          </p:cNvPr>
          <p:cNvSpPr txBox="1"/>
          <p:nvPr/>
        </p:nvSpPr>
        <p:spPr>
          <a:xfrm>
            <a:off x="109348" y="407788"/>
            <a:ext cx="3848316" cy="523220"/>
          </a:xfrm>
          <a:prstGeom prst="rect">
            <a:avLst/>
          </a:prstGeom>
          <a:noFill/>
        </p:spPr>
        <p:txBody>
          <a:bodyPr wrap="square" rtlCol="0">
            <a:spAutoFit/>
          </a:bodyPr>
          <a:lstStyle/>
          <a:p>
            <a:r>
              <a:rPr lang="en-US" altLang="ko-KR" sz="2800" b="1" dirty="0"/>
              <a:t>Edge Detection</a:t>
            </a:r>
          </a:p>
        </p:txBody>
      </p:sp>
      <p:sp>
        <p:nvSpPr>
          <p:cNvPr id="2" name="TextBox 1">
            <a:extLst>
              <a:ext uri="{FF2B5EF4-FFF2-40B4-BE49-F238E27FC236}">
                <a16:creationId xmlns:a16="http://schemas.microsoft.com/office/drawing/2014/main" id="{4EC2128E-7032-364C-348F-7BE0C134BF05}"/>
              </a:ext>
            </a:extLst>
          </p:cNvPr>
          <p:cNvSpPr txBox="1"/>
          <p:nvPr/>
        </p:nvSpPr>
        <p:spPr>
          <a:xfrm>
            <a:off x="191115" y="1392673"/>
            <a:ext cx="11809770" cy="400110"/>
          </a:xfrm>
          <a:prstGeom prst="rect">
            <a:avLst/>
          </a:prstGeom>
          <a:noFill/>
        </p:spPr>
        <p:txBody>
          <a:bodyPr wrap="square" rtlCol="0">
            <a:spAutoFit/>
          </a:bodyPr>
          <a:lstStyle/>
          <a:p>
            <a:pPr algn="just"/>
            <a:r>
              <a:rPr lang="en-US" altLang="ko-KR" sz="2000" dirty="0"/>
              <a:t>- First-Order Derivative Methods: </a:t>
            </a:r>
            <a:r>
              <a:rPr lang="en-US" sz="2000" dirty="0"/>
              <a:t>Sobel Operator, Prewitt Operator, etc.</a:t>
            </a:r>
            <a:r>
              <a:rPr lang="en-US" altLang="ko-KR" sz="2000" dirty="0"/>
              <a:t> </a:t>
            </a:r>
            <a:endParaRPr lang="en-US" altLang="ko-KR" sz="2000" dirty="0">
              <a:solidFill>
                <a:srgbClr val="FF0000"/>
              </a:solidFill>
            </a:endParaRPr>
          </a:p>
        </p:txBody>
      </p:sp>
      <p:sp>
        <p:nvSpPr>
          <p:cNvPr id="5" name="TextBox 4">
            <a:extLst>
              <a:ext uri="{FF2B5EF4-FFF2-40B4-BE49-F238E27FC236}">
                <a16:creationId xmlns:a16="http://schemas.microsoft.com/office/drawing/2014/main" id="{FD7AF8F7-283D-4901-6202-92545DE98A84}"/>
              </a:ext>
            </a:extLst>
          </p:cNvPr>
          <p:cNvSpPr txBox="1"/>
          <p:nvPr/>
        </p:nvSpPr>
        <p:spPr>
          <a:xfrm>
            <a:off x="191115" y="1792783"/>
            <a:ext cx="11809770" cy="400110"/>
          </a:xfrm>
          <a:prstGeom prst="rect">
            <a:avLst/>
          </a:prstGeom>
          <a:noFill/>
        </p:spPr>
        <p:txBody>
          <a:bodyPr wrap="square" rtlCol="0">
            <a:spAutoFit/>
          </a:bodyPr>
          <a:lstStyle/>
          <a:p>
            <a:pPr algn="just"/>
            <a:r>
              <a:rPr lang="en-US" altLang="ko-KR" sz="2000" dirty="0"/>
              <a:t>- </a:t>
            </a:r>
            <a:r>
              <a:rPr lang="en-US" sz="2000" dirty="0"/>
              <a:t>Second-Order Derivative Methods</a:t>
            </a:r>
            <a:r>
              <a:rPr lang="en-US" altLang="ko-KR" sz="2000" dirty="0"/>
              <a:t>: </a:t>
            </a:r>
            <a:r>
              <a:rPr lang="en-US" sz="2000" dirty="0"/>
              <a:t>Laplacian of Gaussian (</a:t>
            </a:r>
            <a:r>
              <a:rPr lang="en-US" sz="2000" dirty="0" err="1"/>
              <a:t>LoG</a:t>
            </a:r>
            <a:r>
              <a:rPr lang="en-US" sz="2000" dirty="0"/>
              <a:t>), Difference of Gaussians (</a:t>
            </a:r>
            <a:r>
              <a:rPr lang="en-US" sz="2000" dirty="0" err="1"/>
              <a:t>DoG</a:t>
            </a:r>
            <a:r>
              <a:rPr lang="en-US" sz="2000" dirty="0"/>
              <a:t>), etc.</a:t>
            </a:r>
            <a:r>
              <a:rPr lang="en-US" altLang="ko-KR" sz="2000" dirty="0"/>
              <a:t> </a:t>
            </a:r>
            <a:endParaRPr lang="en-US" altLang="ko-KR" sz="2000" dirty="0">
              <a:solidFill>
                <a:srgbClr val="FF0000"/>
              </a:solidFill>
            </a:endParaRPr>
          </a:p>
        </p:txBody>
      </p:sp>
      <p:sp>
        <p:nvSpPr>
          <p:cNvPr id="7" name="TextBox 6">
            <a:extLst>
              <a:ext uri="{FF2B5EF4-FFF2-40B4-BE49-F238E27FC236}">
                <a16:creationId xmlns:a16="http://schemas.microsoft.com/office/drawing/2014/main" id="{0C1A438C-0C02-ABB4-E065-FCA41E185D04}"/>
              </a:ext>
            </a:extLst>
          </p:cNvPr>
          <p:cNvSpPr txBox="1"/>
          <p:nvPr/>
        </p:nvSpPr>
        <p:spPr>
          <a:xfrm>
            <a:off x="191115" y="2192893"/>
            <a:ext cx="11809770" cy="400110"/>
          </a:xfrm>
          <a:prstGeom prst="rect">
            <a:avLst/>
          </a:prstGeom>
          <a:noFill/>
        </p:spPr>
        <p:txBody>
          <a:bodyPr wrap="square" rtlCol="0">
            <a:spAutoFit/>
          </a:bodyPr>
          <a:lstStyle/>
          <a:p>
            <a:pPr algn="just"/>
            <a:r>
              <a:rPr lang="en-US" altLang="ko-KR" sz="2000" dirty="0"/>
              <a:t>- </a:t>
            </a:r>
            <a:r>
              <a:rPr lang="en-US" sz="2000" dirty="0"/>
              <a:t>Canny Edge Detector</a:t>
            </a:r>
          </a:p>
        </p:txBody>
      </p:sp>
      <p:pic>
        <p:nvPicPr>
          <p:cNvPr id="3074" name="Picture 2" descr="OpenCV 3 Image Edge Detection : Sobel and Laplacian - 2020">
            <a:extLst>
              <a:ext uri="{FF2B5EF4-FFF2-40B4-BE49-F238E27FC236}">
                <a16:creationId xmlns:a16="http://schemas.microsoft.com/office/drawing/2014/main" id="{1EABA356-8AF0-52CB-A720-5A6B747203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3581" y="2711469"/>
            <a:ext cx="4440358" cy="368617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3E63321C-CF19-F3E6-543D-61EBAB550A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965" y="2711469"/>
            <a:ext cx="5067300" cy="36861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E30FA20-8F4E-D0FD-EBB8-478FD0134355}"/>
              </a:ext>
            </a:extLst>
          </p:cNvPr>
          <p:cNvSpPr txBox="1"/>
          <p:nvPr/>
        </p:nvSpPr>
        <p:spPr>
          <a:xfrm>
            <a:off x="34184" y="6493808"/>
            <a:ext cx="10113426" cy="338554"/>
          </a:xfrm>
          <a:prstGeom prst="rect">
            <a:avLst/>
          </a:prstGeom>
          <a:noFill/>
        </p:spPr>
        <p:txBody>
          <a:bodyPr wrap="square" rtlCol="0">
            <a:spAutoFit/>
          </a:bodyPr>
          <a:lstStyle/>
          <a:p>
            <a:pPr algn="just"/>
            <a:r>
              <a:rPr lang="en-US" altLang="ko-KR" sz="1600" dirty="0"/>
              <a:t>Ref: </a:t>
            </a:r>
            <a:r>
              <a:rPr lang="en-US" altLang="ko-KR" sz="1600" dirty="0">
                <a:hlinkClick r:id="rId4"/>
              </a:rPr>
              <a:t>Image Edge Detection : Sobel and Laplacian</a:t>
            </a:r>
            <a:endParaRPr lang="en-US" altLang="ko-KR" sz="1600" dirty="0">
              <a:solidFill>
                <a:srgbClr val="FF0000"/>
              </a:solidFill>
            </a:endParaRPr>
          </a:p>
        </p:txBody>
      </p:sp>
    </p:spTree>
    <p:extLst>
      <p:ext uri="{BB962C8B-B14F-4D97-AF65-F5344CB8AC3E}">
        <p14:creationId xmlns:p14="http://schemas.microsoft.com/office/powerpoint/2010/main" val="620398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84030-C928-73FB-F567-95E889491C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E947FE-4FD8-81A5-D3E4-BB5024EF3BB9}"/>
              </a:ext>
            </a:extLst>
          </p:cNvPr>
          <p:cNvSpPr txBox="1"/>
          <p:nvPr/>
        </p:nvSpPr>
        <p:spPr>
          <a:xfrm>
            <a:off x="3099381" y="2505795"/>
            <a:ext cx="4872669" cy="1429622"/>
          </a:xfrm>
          <a:prstGeom prst="rect">
            <a:avLst/>
          </a:prstGeom>
          <a:noFill/>
        </p:spPr>
        <p:txBody>
          <a:bodyPr wrap="square" rtlCol="0">
            <a:spAutoFit/>
          </a:bodyPr>
          <a:lstStyle/>
          <a:p>
            <a:pPr>
              <a:lnSpc>
                <a:spcPct val="150000"/>
              </a:lnSpc>
            </a:pPr>
            <a:r>
              <a:rPr lang="en-US" altLang="ko-KR" sz="2000" b="1" dirty="0">
                <a:solidFill>
                  <a:schemeClr val="bg1">
                    <a:lumMod val="85000"/>
                  </a:schemeClr>
                </a:solidFill>
              </a:rPr>
              <a:t>Edge Detection</a:t>
            </a:r>
          </a:p>
          <a:p>
            <a:pPr>
              <a:lnSpc>
                <a:spcPct val="150000"/>
              </a:lnSpc>
            </a:pPr>
            <a:r>
              <a:rPr lang="en-US" altLang="ko-KR" sz="2000" b="1" dirty="0"/>
              <a:t>Canny Edge Detector</a:t>
            </a:r>
          </a:p>
          <a:p>
            <a:pPr>
              <a:lnSpc>
                <a:spcPct val="150000"/>
              </a:lnSpc>
            </a:pPr>
            <a:r>
              <a:rPr lang="en-US" altLang="ko-KR" sz="2000" b="1" dirty="0">
                <a:solidFill>
                  <a:schemeClr val="bg1">
                    <a:lumMod val="85000"/>
                  </a:schemeClr>
                </a:solidFill>
              </a:rPr>
              <a:t>Edge Linking</a:t>
            </a:r>
          </a:p>
        </p:txBody>
      </p:sp>
    </p:spTree>
    <p:extLst>
      <p:ext uri="{BB962C8B-B14F-4D97-AF65-F5344CB8AC3E}">
        <p14:creationId xmlns:p14="http://schemas.microsoft.com/office/powerpoint/2010/main" val="2729124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CA324-FCB3-737F-77E8-E2D0E31418D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23087BD-34AA-4A89-5B17-D467C2D41141}"/>
              </a:ext>
            </a:extLst>
          </p:cNvPr>
          <p:cNvSpPr txBox="1"/>
          <p:nvPr/>
        </p:nvSpPr>
        <p:spPr>
          <a:xfrm>
            <a:off x="191115" y="931008"/>
            <a:ext cx="4279127" cy="461665"/>
          </a:xfrm>
          <a:prstGeom prst="rect">
            <a:avLst/>
          </a:prstGeom>
          <a:noFill/>
        </p:spPr>
        <p:txBody>
          <a:bodyPr wrap="square" rtlCol="0">
            <a:spAutoFit/>
          </a:bodyPr>
          <a:lstStyle/>
          <a:p>
            <a:r>
              <a:rPr lang="en-US" altLang="ko-KR" sz="2400" i="1" dirty="0"/>
              <a:t>Process</a:t>
            </a:r>
            <a:endParaRPr lang="en-US" altLang="ko-KR" sz="2400" i="1" dirty="0">
              <a:solidFill>
                <a:srgbClr val="FF0000"/>
              </a:solidFill>
            </a:endParaRPr>
          </a:p>
        </p:txBody>
      </p:sp>
      <p:sp>
        <p:nvSpPr>
          <p:cNvPr id="5" name="TextBox 4">
            <a:extLst>
              <a:ext uri="{FF2B5EF4-FFF2-40B4-BE49-F238E27FC236}">
                <a16:creationId xmlns:a16="http://schemas.microsoft.com/office/drawing/2014/main" id="{0189E2B1-E845-5A07-E4A8-428C161FF2F5}"/>
              </a:ext>
            </a:extLst>
          </p:cNvPr>
          <p:cNvSpPr txBox="1"/>
          <p:nvPr/>
        </p:nvSpPr>
        <p:spPr>
          <a:xfrm>
            <a:off x="109348" y="407788"/>
            <a:ext cx="5635844" cy="523220"/>
          </a:xfrm>
          <a:prstGeom prst="rect">
            <a:avLst/>
          </a:prstGeom>
          <a:noFill/>
        </p:spPr>
        <p:txBody>
          <a:bodyPr wrap="square" rtlCol="0">
            <a:spAutoFit/>
          </a:bodyPr>
          <a:lstStyle/>
          <a:p>
            <a:r>
              <a:rPr lang="en-US" altLang="ko-KR" sz="2800" b="1" dirty="0"/>
              <a:t>Canny Edge Detector</a:t>
            </a:r>
          </a:p>
        </p:txBody>
      </p:sp>
      <p:sp>
        <p:nvSpPr>
          <p:cNvPr id="3" name="TextBox 2">
            <a:extLst>
              <a:ext uri="{FF2B5EF4-FFF2-40B4-BE49-F238E27FC236}">
                <a16:creationId xmlns:a16="http://schemas.microsoft.com/office/drawing/2014/main" id="{059DB37E-1AC0-9F9A-51D5-12578EA0FA97}"/>
              </a:ext>
            </a:extLst>
          </p:cNvPr>
          <p:cNvSpPr txBox="1"/>
          <p:nvPr/>
        </p:nvSpPr>
        <p:spPr>
          <a:xfrm>
            <a:off x="191115" y="1392673"/>
            <a:ext cx="11809770" cy="400110"/>
          </a:xfrm>
          <a:prstGeom prst="rect">
            <a:avLst/>
          </a:prstGeom>
          <a:noFill/>
        </p:spPr>
        <p:txBody>
          <a:bodyPr wrap="square" rtlCol="0">
            <a:spAutoFit/>
          </a:bodyPr>
          <a:lstStyle/>
          <a:p>
            <a:pPr algn="just"/>
            <a:r>
              <a:rPr lang="en-US" altLang="ko-KR" sz="2000" dirty="0"/>
              <a:t>- Noise Reduction: Apply Gaussian blur.</a:t>
            </a:r>
            <a:endParaRPr lang="en-US" altLang="ko-KR" sz="2000" dirty="0">
              <a:solidFill>
                <a:srgbClr val="FF0000"/>
              </a:solidFill>
            </a:endParaRPr>
          </a:p>
        </p:txBody>
      </p:sp>
      <p:sp>
        <p:nvSpPr>
          <p:cNvPr id="6" name="TextBox 5">
            <a:extLst>
              <a:ext uri="{FF2B5EF4-FFF2-40B4-BE49-F238E27FC236}">
                <a16:creationId xmlns:a16="http://schemas.microsoft.com/office/drawing/2014/main" id="{901DC937-E092-BF98-8E7A-A9EB366BAB2A}"/>
              </a:ext>
            </a:extLst>
          </p:cNvPr>
          <p:cNvSpPr txBox="1"/>
          <p:nvPr/>
        </p:nvSpPr>
        <p:spPr>
          <a:xfrm>
            <a:off x="191115" y="1792783"/>
            <a:ext cx="11809770" cy="400110"/>
          </a:xfrm>
          <a:prstGeom prst="rect">
            <a:avLst/>
          </a:prstGeom>
          <a:noFill/>
        </p:spPr>
        <p:txBody>
          <a:bodyPr wrap="square" rtlCol="0">
            <a:spAutoFit/>
          </a:bodyPr>
          <a:lstStyle/>
          <a:p>
            <a:pPr algn="just"/>
            <a:r>
              <a:rPr lang="en-US" altLang="ko-KR" sz="2000" dirty="0"/>
              <a:t>- Gradient Computation: Use Sobel kernels to find edge strength and direction.</a:t>
            </a:r>
          </a:p>
        </p:txBody>
      </p:sp>
      <p:sp>
        <p:nvSpPr>
          <p:cNvPr id="7" name="TextBox 6">
            <a:extLst>
              <a:ext uri="{FF2B5EF4-FFF2-40B4-BE49-F238E27FC236}">
                <a16:creationId xmlns:a16="http://schemas.microsoft.com/office/drawing/2014/main" id="{3BD8BAA9-FDB8-BEDE-82AE-0DCDBDE9700B}"/>
              </a:ext>
            </a:extLst>
          </p:cNvPr>
          <p:cNvSpPr txBox="1"/>
          <p:nvPr/>
        </p:nvSpPr>
        <p:spPr>
          <a:xfrm>
            <a:off x="191115" y="2192893"/>
            <a:ext cx="11809770" cy="400110"/>
          </a:xfrm>
          <a:prstGeom prst="rect">
            <a:avLst/>
          </a:prstGeom>
          <a:noFill/>
        </p:spPr>
        <p:txBody>
          <a:bodyPr wrap="square" rtlCol="0">
            <a:spAutoFit/>
          </a:bodyPr>
          <a:lstStyle/>
          <a:p>
            <a:pPr algn="just"/>
            <a:r>
              <a:rPr lang="en-US" altLang="ko-KR" sz="2000" dirty="0"/>
              <a:t>- Non-Maximum Suppression: Thin edges by suppressing non-maximum gradient values.</a:t>
            </a:r>
            <a:endParaRPr lang="en-US" altLang="ko-KR" sz="2000" dirty="0">
              <a:solidFill>
                <a:srgbClr val="FF0000"/>
              </a:solidFill>
            </a:endParaRPr>
          </a:p>
        </p:txBody>
      </p:sp>
      <p:sp>
        <p:nvSpPr>
          <p:cNvPr id="8" name="TextBox 7">
            <a:extLst>
              <a:ext uri="{FF2B5EF4-FFF2-40B4-BE49-F238E27FC236}">
                <a16:creationId xmlns:a16="http://schemas.microsoft.com/office/drawing/2014/main" id="{6AEF0E0E-B91C-1DA2-0D7D-11A0EED9A400}"/>
              </a:ext>
            </a:extLst>
          </p:cNvPr>
          <p:cNvSpPr txBox="1"/>
          <p:nvPr/>
        </p:nvSpPr>
        <p:spPr>
          <a:xfrm>
            <a:off x="191115" y="2593003"/>
            <a:ext cx="11809770" cy="400110"/>
          </a:xfrm>
          <a:prstGeom prst="rect">
            <a:avLst/>
          </a:prstGeom>
          <a:noFill/>
        </p:spPr>
        <p:txBody>
          <a:bodyPr wrap="square" rtlCol="0">
            <a:spAutoFit/>
          </a:bodyPr>
          <a:lstStyle/>
          <a:p>
            <a:pPr algn="just"/>
            <a:r>
              <a:rPr lang="en-US" altLang="ko-KR" sz="2000" dirty="0"/>
              <a:t>- Double Thresholding: Classify edges as strong, weak, or non-edges.</a:t>
            </a:r>
            <a:endParaRPr lang="en-US" altLang="ko-KR" sz="2000" dirty="0">
              <a:solidFill>
                <a:srgbClr val="FF0000"/>
              </a:solidFill>
            </a:endParaRPr>
          </a:p>
        </p:txBody>
      </p:sp>
      <p:sp>
        <p:nvSpPr>
          <p:cNvPr id="2" name="TextBox 1">
            <a:extLst>
              <a:ext uri="{FF2B5EF4-FFF2-40B4-BE49-F238E27FC236}">
                <a16:creationId xmlns:a16="http://schemas.microsoft.com/office/drawing/2014/main" id="{6BBE71F5-53F2-C47F-71A1-79AC2A0478BA}"/>
              </a:ext>
            </a:extLst>
          </p:cNvPr>
          <p:cNvSpPr txBox="1"/>
          <p:nvPr/>
        </p:nvSpPr>
        <p:spPr>
          <a:xfrm>
            <a:off x="191115" y="2993113"/>
            <a:ext cx="11809770" cy="400110"/>
          </a:xfrm>
          <a:prstGeom prst="rect">
            <a:avLst/>
          </a:prstGeom>
          <a:noFill/>
        </p:spPr>
        <p:txBody>
          <a:bodyPr wrap="square" rtlCol="0">
            <a:spAutoFit/>
          </a:bodyPr>
          <a:lstStyle/>
          <a:p>
            <a:pPr algn="just"/>
            <a:r>
              <a:rPr lang="en-US" altLang="ko-KR" sz="2000" dirty="0"/>
              <a:t>- Edge Tracking: Connect weak edges to strong ones using hysteresis.</a:t>
            </a:r>
            <a:endParaRPr lang="en-US" altLang="ko-KR" sz="2000" dirty="0">
              <a:solidFill>
                <a:srgbClr val="FF0000"/>
              </a:solidFill>
            </a:endParaRPr>
          </a:p>
        </p:txBody>
      </p:sp>
    </p:spTree>
    <p:extLst>
      <p:ext uri="{BB962C8B-B14F-4D97-AF65-F5344CB8AC3E}">
        <p14:creationId xmlns:p14="http://schemas.microsoft.com/office/powerpoint/2010/main" val="2743565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F58FE-5B4B-B416-3AF2-CBD56F333DC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E359585-3013-C327-F7DC-5C9EFD689225}"/>
              </a:ext>
            </a:extLst>
          </p:cNvPr>
          <p:cNvSpPr txBox="1"/>
          <p:nvPr/>
        </p:nvSpPr>
        <p:spPr>
          <a:xfrm>
            <a:off x="191115" y="931008"/>
            <a:ext cx="4279127" cy="461665"/>
          </a:xfrm>
          <a:prstGeom prst="rect">
            <a:avLst/>
          </a:prstGeom>
          <a:noFill/>
        </p:spPr>
        <p:txBody>
          <a:bodyPr wrap="square" rtlCol="0">
            <a:spAutoFit/>
          </a:bodyPr>
          <a:lstStyle/>
          <a:p>
            <a:r>
              <a:rPr lang="en-US" altLang="ko-KR" sz="2400" i="1" dirty="0"/>
              <a:t>Noise Reduction</a:t>
            </a:r>
            <a:endParaRPr lang="en-US" altLang="ko-KR" sz="2400" i="1" dirty="0">
              <a:solidFill>
                <a:srgbClr val="FF0000"/>
              </a:solidFill>
            </a:endParaRPr>
          </a:p>
        </p:txBody>
      </p:sp>
      <p:sp>
        <p:nvSpPr>
          <p:cNvPr id="5" name="TextBox 4">
            <a:extLst>
              <a:ext uri="{FF2B5EF4-FFF2-40B4-BE49-F238E27FC236}">
                <a16:creationId xmlns:a16="http://schemas.microsoft.com/office/drawing/2014/main" id="{29F98F24-3C73-4577-E13A-592DD7931BE0}"/>
              </a:ext>
            </a:extLst>
          </p:cNvPr>
          <p:cNvSpPr txBox="1"/>
          <p:nvPr/>
        </p:nvSpPr>
        <p:spPr>
          <a:xfrm>
            <a:off x="109348" y="407788"/>
            <a:ext cx="5635844" cy="523220"/>
          </a:xfrm>
          <a:prstGeom prst="rect">
            <a:avLst/>
          </a:prstGeom>
          <a:noFill/>
        </p:spPr>
        <p:txBody>
          <a:bodyPr wrap="square" rtlCol="0">
            <a:spAutoFit/>
          </a:bodyPr>
          <a:lstStyle/>
          <a:p>
            <a:r>
              <a:rPr lang="en-US" altLang="ko-KR" sz="2800" b="1" dirty="0"/>
              <a:t>Canny Edge Detector</a:t>
            </a:r>
          </a:p>
        </p:txBody>
      </p:sp>
      <p:sp>
        <p:nvSpPr>
          <p:cNvPr id="9" name="TextBox 8">
            <a:extLst>
              <a:ext uri="{FF2B5EF4-FFF2-40B4-BE49-F238E27FC236}">
                <a16:creationId xmlns:a16="http://schemas.microsoft.com/office/drawing/2014/main" id="{19FB620D-37E8-2A7E-0827-ED7D3A34DAD5}"/>
              </a:ext>
            </a:extLst>
          </p:cNvPr>
          <p:cNvSpPr txBox="1"/>
          <p:nvPr/>
        </p:nvSpPr>
        <p:spPr>
          <a:xfrm>
            <a:off x="191115" y="1392673"/>
            <a:ext cx="11809770" cy="400110"/>
          </a:xfrm>
          <a:prstGeom prst="rect">
            <a:avLst/>
          </a:prstGeom>
          <a:noFill/>
        </p:spPr>
        <p:txBody>
          <a:bodyPr wrap="square" rtlCol="0">
            <a:spAutoFit/>
          </a:bodyPr>
          <a:lstStyle/>
          <a:p>
            <a:pPr algn="just"/>
            <a:r>
              <a:rPr lang="en-US" altLang="ko-KR" sz="2000" dirty="0"/>
              <a:t>Why Noise Reduction?</a:t>
            </a:r>
            <a:endParaRPr lang="en-US" altLang="ko-KR" sz="2000" dirty="0">
              <a:solidFill>
                <a:srgbClr val="FF0000"/>
              </a:solidFill>
            </a:endParaRPr>
          </a:p>
        </p:txBody>
      </p:sp>
      <p:sp>
        <p:nvSpPr>
          <p:cNvPr id="2" name="TextBox 1">
            <a:extLst>
              <a:ext uri="{FF2B5EF4-FFF2-40B4-BE49-F238E27FC236}">
                <a16:creationId xmlns:a16="http://schemas.microsoft.com/office/drawing/2014/main" id="{7FF5AEE9-2897-B344-B960-87D80F23DA02}"/>
              </a:ext>
            </a:extLst>
          </p:cNvPr>
          <p:cNvSpPr txBox="1"/>
          <p:nvPr/>
        </p:nvSpPr>
        <p:spPr>
          <a:xfrm>
            <a:off x="191115" y="1792783"/>
            <a:ext cx="11809770" cy="400110"/>
          </a:xfrm>
          <a:prstGeom prst="rect">
            <a:avLst/>
          </a:prstGeom>
          <a:noFill/>
        </p:spPr>
        <p:txBody>
          <a:bodyPr wrap="square" rtlCol="0">
            <a:spAutoFit/>
          </a:bodyPr>
          <a:lstStyle/>
          <a:p>
            <a:pPr algn="just"/>
            <a:r>
              <a:rPr lang="en-US" altLang="ko-KR" sz="2000" dirty="0"/>
              <a:t>- Edge detection identifies sharp intensity changes in an image, but noise also creates these sharp changes.</a:t>
            </a:r>
          </a:p>
        </p:txBody>
      </p:sp>
      <p:sp>
        <p:nvSpPr>
          <p:cNvPr id="3" name="TextBox 2">
            <a:extLst>
              <a:ext uri="{FF2B5EF4-FFF2-40B4-BE49-F238E27FC236}">
                <a16:creationId xmlns:a16="http://schemas.microsoft.com/office/drawing/2014/main" id="{EF463CAE-51BE-0AB5-8A46-B8671D54B4D9}"/>
              </a:ext>
            </a:extLst>
          </p:cNvPr>
          <p:cNvSpPr txBox="1"/>
          <p:nvPr/>
        </p:nvSpPr>
        <p:spPr>
          <a:xfrm>
            <a:off x="191115" y="2192893"/>
            <a:ext cx="11809770" cy="400110"/>
          </a:xfrm>
          <a:prstGeom prst="rect">
            <a:avLst/>
          </a:prstGeom>
          <a:noFill/>
        </p:spPr>
        <p:txBody>
          <a:bodyPr wrap="square" rtlCol="0">
            <a:spAutoFit/>
          </a:bodyPr>
          <a:lstStyle/>
          <a:p>
            <a:pPr algn="just"/>
            <a:r>
              <a:rPr lang="en-US" altLang="ko-KR" sz="2000" dirty="0">
                <a:latin typeface="Times New Roman" panose="02020603050405020304" pitchFamily="18" charset="0"/>
                <a:cs typeface="Times New Roman" panose="02020603050405020304" pitchFamily="18" charset="0"/>
              </a:rPr>
              <a:t>→</a:t>
            </a:r>
            <a:r>
              <a:rPr lang="en-US" altLang="ko-KR" sz="2000" dirty="0"/>
              <a:t> Get false edges caused by noise.</a:t>
            </a:r>
            <a:endParaRPr lang="en-US" altLang="ko-KR" sz="2000" dirty="0">
              <a:solidFill>
                <a:srgbClr val="FF0000"/>
              </a:solidFill>
            </a:endParaRPr>
          </a:p>
        </p:txBody>
      </p:sp>
      <p:pic>
        <p:nvPicPr>
          <p:cNvPr id="4100" name="Picture 4" descr="Fuzzy Image Processing in MATLAB">
            <a:extLst>
              <a:ext uri="{FF2B5EF4-FFF2-40B4-BE49-F238E27FC236}">
                <a16:creationId xmlns:a16="http://schemas.microsoft.com/office/drawing/2014/main" id="{EE210139-EEA7-D05E-B1C2-FDB05E5CB5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9579" y="2604154"/>
            <a:ext cx="7687714" cy="396349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5A7112E7-B73B-0405-9EE7-1C06F4D7AA0E}"/>
              </a:ext>
            </a:extLst>
          </p:cNvPr>
          <p:cNvSpPr txBox="1"/>
          <p:nvPr/>
        </p:nvSpPr>
        <p:spPr>
          <a:xfrm>
            <a:off x="34184" y="6493808"/>
            <a:ext cx="10113426" cy="338554"/>
          </a:xfrm>
          <a:prstGeom prst="rect">
            <a:avLst/>
          </a:prstGeom>
          <a:noFill/>
        </p:spPr>
        <p:txBody>
          <a:bodyPr wrap="square" rtlCol="0">
            <a:spAutoFit/>
          </a:bodyPr>
          <a:lstStyle/>
          <a:p>
            <a:pPr algn="just"/>
            <a:r>
              <a:rPr lang="en-US" altLang="ko-KR" sz="1600" dirty="0"/>
              <a:t>Ref: </a:t>
            </a:r>
            <a:r>
              <a:rPr lang="en-US" altLang="ko-KR" sz="1600" dirty="0">
                <a:hlinkClick r:id="rId3"/>
              </a:rPr>
              <a:t>https://devendrapratapyadav.github.io/Fuzzy_Image_processing/</a:t>
            </a:r>
            <a:r>
              <a:rPr lang="en-US" altLang="ko-KR" sz="1600" dirty="0"/>
              <a:t> </a:t>
            </a:r>
            <a:endParaRPr lang="en-US" altLang="ko-KR" sz="1600" dirty="0">
              <a:solidFill>
                <a:srgbClr val="FF0000"/>
              </a:solidFill>
            </a:endParaRPr>
          </a:p>
        </p:txBody>
      </p:sp>
    </p:spTree>
    <p:extLst>
      <p:ext uri="{BB962C8B-B14F-4D97-AF65-F5344CB8AC3E}">
        <p14:creationId xmlns:p14="http://schemas.microsoft.com/office/powerpoint/2010/main" val="507317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258A2-AC9B-246C-C9FA-1601A5E82E6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B523DB6-62B5-FA2D-6862-F1FEB0CA7CC8}"/>
              </a:ext>
            </a:extLst>
          </p:cNvPr>
          <p:cNvSpPr txBox="1"/>
          <p:nvPr/>
        </p:nvSpPr>
        <p:spPr>
          <a:xfrm>
            <a:off x="191115" y="931008"/>
            <a:ext cx="4279127" cy="461665"/>
          </a:xfrm>
          <a:prstGeom prst="rect">
            <a:avLst/>
          </a:prstGeom>
          <a:noFill/>
        </p:spPr>
        <p:txBody>
          <a:bodyPr wrap="square" rtlCol="0">
            <a:spAutoFit/>
          </a:bodyPr>
          <a:lstStyle/>
          <a:p>
            <a:r>
              <a:rPr lang="en-US" altLang="ko-KR" sz="2400" i="1" dirty="0"/>
              <a:t>Noise Reduction</a:t>
            </a:r>
            <a:endParaRPr lang="en-US" altLang="ko-KR" sz="2400" i="1" dirty="0">
              <a:solidFill>
                <a:srgbClr val="FF0000"/>
              </a:solidFill>
            </a:endParaRPr>
          </a:p>
        </p:txBody>
      </p:sp>
      <p:sp>
        <p:nvSpPr>
          <p:cNvPr id="5" name="TextBox 4">
            <a:extLst>
              <a:ext uri="{FF2B5EF4-FFF2-40B4-BE49-F238E27FC236}">
                <a16:creationId xmlns:a16="http://schemas.microsoft.com/office/drawing/2014/main" id="{95EC0210-AE97-0269-83C7-8B66BD62CDBB}"/>
              </a:ext>
            </a:extLst>
          </p:cNvPr>
          <p:cNvSpPr txBox="1"/>
          <p:nvPr/>
        </p:nvSpPr>
        <p:spPr>
          <a:xfrm>
            <a:off x="109348" y="407788"/>
            <a:ext cx="5635844" cy="523220"/>
          </a:xfrm>
          <a:prstGeom prst="rect">
            <a:avLst/>
          </a:prstGeom>
          <a:noFill/>
        </p:spPr>
        <p:txBody>
          <a:bodyPr wrap="square" rtlCol="0">
            <a:spAutoFit/>
          </a:bodyPr>
          <a:lstStyle/>
          <a:p>
            <a:r>
              <a:rPr lang="en-US" altLang="ko-KR" sz="2800" b="1" dirty="0"/>
              <a:t>Canny Edge Detector</a:t>
            </a:r>
          </a:p>
        </p:txBody>
      </p:sp>
      <p:sp>
        <p:nvSpPr>
          <p:cNvPr id="9" name="TextBox 8">
            <a:extLst>
              <a:ext uri="{FF2B5EF4-FFF2-40B4-BE49-F238E27FC236}">
                <a16:creationId xmlns:a16="http://schemas.microsoft.com/office/drawing/2014/main" id="{AA0DC96A-0F96-C7E5-94CC-274548B21AA3}"/>
              </a:ext>
            </a:extLst>
          </p:cNvPr>
          <p:cNvSpPr txBox="1"/>
          <p:nvPr/>
        </p:nvSpPr>
        <p:spPr>
          <a:xfrm>
            <a:off x="191115" y="1392673"/>
            <a:ext cx="11809770" cy="400110"/>
          </a:xfrm>
          <a:prstGeom prst="rect">
            <a:avLst/>
          </a:prstGeom>
          <a:noFill/>
        </p:spPr>
        <p:txBody>
          <a:bodyPr wrap="square" rtlCol="0">
            <a:spAutoFit/>
          </a:bodyPr>
          <a:lstStyle/>
          <a:p>
            <a:pPr algn="just"/>
            <a:r>
              <a:rPr lang="en-US" altLang="ko-KR" sz="2000" dirty="0"/>
              <a:t>Apply a Gaussian blur to the image to reduce noise because edge detection is sensitive to noise.</a:t>
            </a:r>
            <a:endParaRPr lang="en-US" altLang="ko-KR" sz="2000" dirty="0">
              <a:solidFill>
                <a:srgbClr val="FF0000"/>
              </a:solidFill>
            </a:endParaRPr>
          </a:p>
        </p:txBody>
      </p:sp>
      <p:pic>
        <p:nvPicPr>
          <p:cNvPr id="2" name="Picture 4" descr="http://justin-liang.com/tutorials/canny/images/1_original.jpg">
            <a:extLst>
              <a:ext uri="{FF2B5EF4-FFF2-40B4-BE49-F238E27FC236}">
                <a16:creationId xmlns:a16="http://schemas.microsoft.com/office/drawing/2014/main" id="{6B7B30F3-59B8-E310-4C07-BBC2678054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3612" y="2427986"/>
            <a:ext cx="2203410" cy="220341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6" descr="http://justin-liang.com/tutorials/canny/images/2_bw.jpg">
            <a:extLst>
              <a:ext uri="{FF2B5EF4-FFF2-40B4-BE49-F238E27FC236}">
                <a16:creationId xmlns:a16="http://schemas.microsoft.com/office/drawing/2014/main" id="{A7D58F3E-AF06-D28C-773F-9D9447F680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2562" y="2427986"/>
            <a:ext cx="2203410" cy="220341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http://justin-liang.com/tutorials/canny/images/3_gaussian.jpg">
            <a:extLst>
              <a:ext uri="{FF2B5EF4-FFF2-40B4-BE49-F238E27FC236}">
                <a16:creationId xmlns:a16="http://schemas.microsoft.com/office/drawing/2014/main" id="{F8273744-56CD-00EF-5797-7E66F4F635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1512" y="2428945"/>
            <a:ext cx="2203410" cy="220341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40ADD368-9F37-130F-EBDE-7004132136B7}"/>
              </a:ext>
            </a:extLst>
          </p:cNvPr>
          <p:cNvSpPr/>
          <p:nvPr/>
        </p:nvSpPr>
        <p:spPr>
          <a:xfrm>
            <a:off x="1679867" y="4631396"/>
            <a:ext cx="950901" cy="369332"/>
          </a:xfrm>
          <a:prstGeom prst="rect">
            <a:avLst/>
          </a:prstGeom>
        </p:spPr>
        <p:txBody>
          <a:bodyPr wrap="none">
            <a:spAutoFit/>
          </a:bodyPr>
          <a:lstStyle/>
          <a:p>
            <a:r>
              <a:rPr lang="en-US">
                <a:latin typeface="Source Sans Pro" panose="020B0503030403020204" pitchFamily="34" charset="0"/>
              </a:rPr>
              <a:t>Original</a:t>
            </a:r>
            <a:endParaRPr lang="en-US"/>
          </a:p>
        </p:txBody>
      </p:sp>
      <p:sp>
        <p:nvSpPr>
          <p:cNvPr id="8" name="Rectangle 7">
            <a:extLst>
              <a:ext uri="{FF2B5EF4-FFF2-40B4-BE49-F238E27FC236}">
                <a16:creationId xmlns:a16="http://schemas.microsoft.com/office/drawing/2014/main" id="{32798E3E-BD79-9708-9E90-31E2C297F958}"/>
              </a:ext>
            </a:extLst>
          </p:cNvPr>
          <p:cNvSpPr/>
          <p:nvPr/>
        </p:nvSpPr>
        <p:spPr>
          <a:xfrm>
            <a:off x="4128315" y="4632736"/>
            <a:ext cx="631904" cy="369332"/>
          </a:xfrm>
          <a:prstGeom prst="rect">
            <a:avLst/>
          </a:prstGeom>
        </p:spPr>
        <p:txBody>
          <a:bodyPr wrap="none">
            <a:spAutoFit/>
          </a:bodyPr>
          <a:lstStyle/>
          <a:p>
            <a:r>
              <a:rPr lang="en-US">
                <a:latin typeface="Source Sans Pro" panose="020B0503030403020204" pitchFamily="34" charset="0"/>
              </a:rPr>
              <a:t>Gray</a:t>
            </a:r>
            <a:endParaRPr lang="en-US"/>
          </a:p>
        </p:txBody>
      </p:sp>
      <p:sp>
        <p:nvSpPr>
          <p:cNvPr id="10" name="Rectangle 9">
            <a:extLst>
              <a:ext uri="{FF2B5EF4-FFF2-40B4-BE49-F238E27FC236}">
                <a16:creationId xmlns:a16="http://schemas.microsoft.com/office/drawing/2014/main" id="{09365B40-D19D-6730-EE03-B6E0F1DD5A43}"/>
              </a:ext>
            </a:extLst>
          </p:cNvPr>
          <p:cNvSpPr/>
          <p:nvPr/>
        </p:nvSpPr>
        <p:spPr>
          <a:xfrm>
            <a:off x="5978844" y="4631396"/>
            <a:ext cx="1508746" cy="369332"/>
          </a:xfrm>
          <a:prstGeom prst="rect">
            <a:avLst/>
          </a:prstGeom>
        </p:spPr>
        <p:txBody>
          <a:bodyPr wrap="none">
            <a:spAutoFit/>
          </a:bodyPr>
          <a:lstStyle/>
          <a:p>
            <a:r>
              <a:rPr lang="en-US">
                <a:latin typeface="Source Sans Pro" panose="020B0503030403020204" pitchFamily="34" charset="0"/>
              </a:rPr>
              <a:t>Gaussian Blur</a:t>
            </a:r>
            <a:endParaRPr lang="en-US"/>
          </a:p>
        </p:txBody>
      </p:sp>
      <p:graphicFrame>
        <p:nvGraphicFramePr>
          <p:cNvPr id="11" name="Table 10">
            <a:extLst>
              <a:ext uri="{FF2B5EF4-FFF2-40B4-BE49-F238E27FC236}">
                <a16:creationId xmlns:a16="http://schemas.microsoft.com/office/drawing/2014/main" id="{FED5120F-FF94-3108-8419-7C85FB00A269}"/>
              </a:ext>
            </a:extLst>
          </p:cNvPr>
          <p:cNvGraphicFramePr>
            <a:graphicFrameLocks noGrp="1"/>
          </p:cNvGraphicFramePr>
          <p:nvPr>
            <p:extLst>
              <p:ext uri="{D42A27DB-BD31-4B8C-83A1-F6EECF244321}">
                <p14:modId xmlns:p14="http://schemas.microsoft.com/office/powerpoint/2010/main" val="2018741756"/>
              </p:ext>
            </p:extLst>
          </p:nvPr>
        </p:nvGraphicFramePr>
        <p:xfrm>
          <a:off x="9000685" y="2606337"/>
          <a:ext cx="2200285" cy="1854200"/>
        </p:xfrm>
        <a:graphic>
          <a:graphicData uri="http://schemas.openxmlformats.org/drawingml/2006/table">
            <a:tbl>
              <a:tblPr firstRow="1" bandRow="1">
                <a:tableStyleId>{5940675A-B579-460E-94D1-54222C63F5DA}</a:tableStyleId>
              </a:tblPr>
              <a:tblGrid>
                <a:gridCol w="440057">
                  <a:extLst>
                    <a:ext uri="{9D8B030D-6E8A-4147-A177-3AD203B41FA5}">
                      <a16:colId xmlns:a16="http://schemas.microsoft.com/office/drawing/2014/main" val="3834144527"/>
                    </a:ext>
                  </a:extLst>
                </a:gridCol>
                <a:gridCol w="440057">
                  <a:extLst>
                    <a:ext uri="{9D8B030D-6E8A-4147-A177-3AD203B41FA5}">
                      <a16:colId xmlns:a16="http://schemas.microsoft.com/office/drawing/2014/main" val="4235084290"/>
                    </a:ext>
                  </a:extLst>
                </a:gridCol>
                <a:gridCol w="440057">
                  <a:extLst>
                    <a:ext uri="{9D8B030D-6E8A-4147-A177-3AD203B41FA5}">
                      <a16:colId xmlns:a16="http://schemas.microsoft.com/office/drawing/2014/main" val="1083050627"/>
                    </a:ext>
                  </a:extLst>
                </a:gridCol>
                <a:gridCol w="440057">
                  <a:extLst>
                    <a:ext uri="{9D8B030D-6E8A-4147-A177-3AD203B41FA5}">
                      <a16:colId xmlns:a16="http://schemas.microsoft.com/office/drawing/2014/main" val="3076776752"/>
                    </a:ext>
                  </a:extLst>
                </a:gridCol>
                <a:gridCol w="440057">
                  <a:extLst>
                    <a:ext uri="{9D8B030D-6E8A-4147-A177-3AD203B41FA5}">
                      <a16:colId xmlns:a16="http://schemas.microsoft.com/office/drawing/2014/main" val="3860770239"/>
                    </a:ext>
                  </a:extLst>
                </a:gridCol>
              </a:tblGrid>
              <a:tr h="370840">
                <a:tc>
                  <a:txBody>
                    <a:bodyPr/>
                    <a:lstStyle/>
                    <a:p>
                      <a:pPr algn="ctr"/>
                      <a:r>
                        <a:rPr lang="en-US">
                          <a:ln>
                            <a:noFill/>
                          </a:ln>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n>
                            <a:noFill/>
                          </a:ln>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n>
                            <a:noFill/>
                          </a:ln>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n>
                            <a:noFill/>
                          </a:ln>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n>
                            <a:noFill/>
                          </a:ln>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4094367"/>
                  </a:ext>
                </a:extLst>
              </a:tr>
              <a:tr h="370840">
                <a:tc>
                  <a:txBody>
                    <a:bodyPr/>
                    <a:lstStyle/>
                    <a:p>
                      <a:pPr algn="ctr"/>
                      <a:r>
                        <a:rPr lang="en-US">
                          <a:ln>
                            <a:noFill/>
                          </a:ln>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n>
                            <a:noFill/>
                          </a:ln>
                          <a:solidFill>
                            <a:schemeClr val="tx1"/>
                          </a:solidFill>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n>
                            <a:noFill/>
                          </a:ln>
                          <a:solidFill>
                            <a:schemeClr val="tx1"/>
                          </a:solidFill>
                        </a:rPr>
                        <a:t>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n>
                            <a:noFill/>
                          </a:ln>
                          <a:solidFill>
                            <a:schemeClr val="tx1"/>
                          </a:solidFill>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n>
                            <a:noFill/>
                          </a:ln>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1543595"/>
                  </a:ext>
                </a:extLst>
              </a:tr>
              <a:tr h="370840">
                <a:tc>
                  <a:txBody>
                    <a:bodyPr/>
                    <a:lstStyle/>
                    <a:p>
                      <a:pPr algn="ctr"/>
                      <a:r>
                        <a:rPr lang="en-US">
                          <a:ln>
                            <a:noFill/>
                          </a:ln>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n>
                            <a:noFill/>
                          </a:ln>
                          <a:solidFill>
                            <a:schemeClr val="tx1"/>
                          </a:solidFill>
                        </a:rPr>
                        <a:t>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n>
                            <a:noFill/>
                          </a:ln>
                          <a:solidFill>
                            <a:schemeClr val="tx1"/>
                          </a:solidFill>
                        </a:rPr>
                        <a:t>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ln>
                            <a:noFill/>
                          </a:ln>
                          <a:solidFill>
                            <a:schemeClr val="tx1"/>
                          </a:solidFill>
                        </a:rPr>
                        <a:t>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ln>
                            <a:noFill/>
                          </a:ln>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5556076"/>
                  </a:ext>
                </a:extLst>
              </a:tr>
              <a:tr h="370840">
                <a:tc>
                  <a:txBody>
                    <a:bodyPr/>
                    <a:lstStyle/>
                    <a:p>
                      <a:pPr algn="ctr"/>
                      <a:r>
                        <a:rPr lang="en-US">
                          <a:ln>
                            <a:noFill/>
                          </a:ln>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n>
                            <a:noFill/>
                          </a:ln>
                          <a:solidFill>
                            <a:schemeClr val="tx1"/>
                          </a:solidFill>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n>
                            <a:noFill/>
                          </a:ln>
                          <a:solidFill>
                            <a:schemeClr val="tx1"/>
                          </a:solidFill>
                        </a:rPr>
                        <a:t>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n>
                            <a:noFill/>
                          </a:ln>
                          <a:solidFill>
                            <a:schemeClr val="tx1"/>
                          </a:solidFill>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n>
                            <a:noFill/>
                          </a:ln>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1340474"/>
                  </a:ext>
                </a:extLst>
              </a:tr>
              <a:tr h="370840">
                <a:tc>
                  <a:txBody>
                    <a:bodyPr/>
                    <a:lstStyle/>
                    <a:p>
                      <a:pPr algn="ctr"/>
                      <a:r>
                        <a:rPr lang="en-US">
                          <a:ln>
                            <a:noFill/>
                          </a:ln>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n>
                            <a:noFill/>
                          </a:ln>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n>
                            <a:noFill/>
                          </a:ln>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n>
                            <a:noFill/>
                          </a:ln>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ln>
                            <a:noFill/>
                          </a:ln>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6846983"/>
                  </a:ext>
                </a:extLst>
              </a:tr>
            </a:tbl>
          </a:graphicData>
        </a:graphic>
      </p:graphicFrame>
      <p:grpSp>
        <p:nvGrpSpPr>
          <p:cNvPr id="12" name="Group 11">
            <a:extLst>
              <a:ext uri="{FF2B5EF4-FFF2-40B4-BE49-F238E27FC236}">
                <a16:creationId xmlns:a16="http://schemas.microsoft.com/office/drawing/2014/main" id="{9487B363-E840-BCC0-86B9-731840DF6C99}"/>
              </a:ext>
            </a:extLst>
          </p:cNvPr>
          <p:cNvGrpSpPr/>
          <p:nvPr/>
        </p:nvGrpSpPr>
        <p:grpSpPr>
          <a:xfrm>
            <a:off x="8436373" y="3210396"/>
            <a:ext cx="537763" cy="646331"/>
            <a:chOff x="2883861" y="5161936"/>
            <a:chExt cx="537763" cy="646331"/>
          </a:xfrm>
        </p:grpSpPr>
        <p:sp>
          <p:nvSpPr>
            <p:cNvPr id="13" name="TextBox 12">
              <a:extLst>
                <a:ext uri="{FF2B5EF4-FFF2-40B4-BE49-F238E27FC236}">
                  <a16:creationId xmlns:a16="http://schemas.microsoft.com/office/drawing/2014/main" id="{3C02012F-0CE8-5202-BF2C-385E010F5EC1}"/>
                </a:ext>
              </a:extLst>
            </p:cNvPr>
            <p:cNvSpPr txBox="1"/>
            <p:nvPr/>
          </p:nvSpPr>
          <p:spPr>
            <a:xfrm>
              <a:off x="2883861" y="5161936"/>
              <a:ext cx="537763" cy="646331"/>
            </a:xfrm>
            <a:prstGeom prst="rect">
              <a:avLst/>
            </a:prstGeom>
            <a:noFill/>
          </p:spPr>
          <p:txBody>
            <a:bodyPr wrap="square" rtlCol="0">
              <a:spAutoFit/>
            </a:bodyPr>
            <a:lstStyle/>
            <a:p>
              <a:pPr algn="ctr"/>
              <a:r>
                <a:rPr lang="en-US"/>
                <a:t>1</a:t>
              </a:r>
            </a:p>
            <a:p>
              <a:pPr algn="ctr"/>
              <a:r>
                <a:rPr lang="en-US"/>
                <a:t>273</a:t>
              </a:r>
            </a:p>
          </p:txBody>
        </p:sp>
        <p:cxnSp>
          <p:nvCxnSpPr>
            <p:cNvPr id="14" name="Straight Connector 13">
              <a:extLst>
                <a:ext uri="{FF2B5EF4-FFF2-40B4-BE49-F238E27FC236}">
                  <a16:creationId xmlns:a16="http://schemas.microsoft.com/office/drawing/2014/main" id="{FEEBF464-BB13-0787-423F-E7317779E355}"/>
                </a:ext>
              </a:extLst>
            </p:cNvPr>
            <p:cNvCxnSpPr>
              <a:cxnSpLocks/>
            </p:cNvCxnSpPr>
            <p:nvPr/>
          </p:nvCxnSpPr>
          <p:spPr>
            <a:xfrm>
              <a:off x="2973273" y="5480504"/>
              <a:ext cx="35986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95291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1BE9D-93E9-63D7-55D0-9F8C02DCAA4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08B372C-DFDC-EBC7-2952-3286A323408B}"/>
              </a:ext>
            </a:extLst>
          </p:cNvPr>
          <p:cNvSpPr txBox="1"/>
          <p:nvPr/>
        </p:nvSpPr>
        <p:spPr>
          <a:xfrm>
            <a:off x="191115" y="931008"/>
            <a:ext cx="4279127" cy="461665"/>
          </a:xfrm>
          <a:prstGeom prst="rect">
            <a:avLst/>
          </a:prstGeom>
          <a:noFill/>
        </p:spPr>
        <p:txBody>
          <a:bodyPr wrap="square" rtlCol="0">
            <a:spAutoFit/>
          </a:bodyPr>
          <a:lstStyle/>
          <a:p>
            <a:r>
              <a:rPr lang="en-US" altLang="ko-KR" sz="2400" i="1" dirty="0"/>
              <a:t>Gradient Computation</a:t>
            </a:r>
            <a:endParaRPr lang="en-US" altLang="ko-KR" sz="2400" i="1" dirty="0">
              <a:solidFill>
                <a:srgbClr val="FF0000"/>
              </a:solidFill>
            </a:endParaRPr>
          </a:p>
        </p:txBody>
      </p:sp>
      <p:sp>
        <p:nvSpPr>
          <p:cNvPr id="5" name="TextBox 4">
            <a:extLst>
              <a:ext uri="{FF2B5EF4-FFF2-40B4-BE49-F238E27FC236}">
                <a16:creationId xmlns:a16="http://schemas.microsoft.com/office/drawing/2014/main" id="{42FFC2B4-661F-0109-90CF-8757B634EEFC}"/>
              </a:ext>
            </a:extLst>
          </p:cNvPr>
          <p:cNvSpPr txBox="1"/>
          <p:nvPr/>
        </p:nvSpPr>
        <p:spPr>
          <a:xfrm>
            <a:off x="109348" y="407788"/>
            <a:ext cx="5635844" cy="523220"/>
          </a:xfrm>
          <a:prstGeom prst="rect">
            <a:avLst/>
          </a:prstGeom>
          <a:noFill/>
        </p:spPr>
        <p:txBody>
          <a:bodyPr wrap="square" rtlCol="0">
            <a:spAutoFit/>
          </a:bodyPr>
          <a:lstStyle/>
          <a:p>
            <a:r>
              <a:rPr lang="en-US" altLang="ko-KR" sz="2800" b="1" dirty="0"/>
              <a:t>Canny Edge Detector</a:t>
            </a:r>
          </a:p>
        </p:txBody>
      </p:sp>
      <p:graphicFrame>
        <p:nvGraphicFramePr>
          <p:cNvPr id="2" name="Table 1">
            <a:extLst>
              <a:ext uri="{FF2B5EF4-FFF2-40B4-BE49-F238E27FC236}">
                <a16:creationId xmlns:a16="http://schemas.microsoft.com/office/drawing/2014/main" id="{DABC596D-620A-0F51-7496-80B618173AA8}"/>
              </a:ext>
            </a:extLst>
          </p:cNvPr>
          <p:cNvGraphicFramePr>
            <a:graphicFrameLocks noGrp="1"/>
          </p:cNvGraphicFramePr>
          <p:nvPr>
            <p:extLst>
              <p:ext uri="{D42A27DB-BD31-4B8C-83A1-F6EECF244321}">
                <p14:modId xmlns:p14="http://schemas.microsoft.com/office/powerpoint/2010/main" val="2675557429"/>
              </p:ext>
            </p:extLst>
          </p:nvPr>
        </p:nvGraphicFramePr>
        <p:xfrm>
          <a:off x="3886909" y="2422015"/>
          <a:ext cx="1219200" cy="1174254"/>
        </p:xfrm>
        <a:graphic>
          <a:graphicData uri="http://schemas.openxmlformats.org/drawingml/2006/table">
            <a:tbl>
              <a:tblPr firstRow="1" bandRow="1">
                <a:tableStyleId>{5940675A-B579-460E-94D1-54222C63F5DA}</a:tableStyleId>
              </a:tblPr>
              <a:tblGrid>
                <a:gridCol w="406400">
                  <a:extLst>
                    <a:ext uri="{9D8B030D-6E8A-4147-A177-3AD203B41FA5}">
                      <a16:colId xmlns:a16="http://schemas.microsoft.com/office/drawing/2014/main" val="4012161154"/>
                    </a:ext>
                  </a:extLst>
                </a:gridCol>
                <a:gridCol w="406400">
                  <a:extLst>
                    <a:ext uri="{9D8B030D-6E8A-4147-A177-3AD203B41FA5}">
                      <a16:colId xmlns:a16="http://schemas.microsoft.com/office/drawing/2014/main" val="1169512674"/>
                    </a:ext>
                  </a:extLst>
                </a:gridCol>
                <a:gridCol w="406400">
                  <a:extLst>
                    <a:ext uri="{9D8B030D-6E8A-4147-A177-3AD203B41FA5}">
                      <a16:colId xmlns:a16="http://schemas.microsoft.com/office/drawing/2014/main" val="1161952390"/>
                    </a:ext>
                  </a:extLst>
                </a:gridCol>
              </a:tblGrid>
              <a:tr h="391418">
                <a:tc>
                  <a:txBody>
                    <a:bodyPr/>
                    <a:lstStyle/>
                    <a:p>
                      <a:pPr algn="ctr"/>
                      <a:r>
                        <a:rPr lang="en-US" sz="1800">
                          <a:ln>
                            <a:noFill/>
                          </a:ln>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a:ln>
                            <a:noFill/>
                          </a:ln>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dirty="0">
                          <a:ln>
                            <a:noFill/>
                          </a:ln>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848471"/>
                  </a:ext>
                </a:extLst>
              </a:tr>
              <a:tr h="391418">
                <a:tc>
                  <a:txBody>
                    <a:bodyPr/>
                    <a:lstStyle/>
                    <a:p>
                      <a:pPr algn="ctr"/>
                      <a:r>
                        <a:rPr lang="en-US" sz="1800">
                          <a:ln>
                            <a:noFill/>
                          </a:ln>
                          <a:solidFill>
                            <a:schemeClr val="tx1"/>
                          </a:solidFill>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a:ln>
                            <a:noFill/>
                          </a:ln>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a:ln>
                            <a:noFill/>
                          </a:ln>
                          <a:solidFill>
                            <a:schemeClr val="tx1"/>
                          </a:solidFill>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4901071"/>
                  </a:ext>
                </a:extLst>
              </a:tr>
              <a:tr h="391418">
                <a:tc>
                  <a:txBody>
                    <a:bodyPr/>
                    <a:lstStyle/>
                    <a:p>
                      <a:pPr algn="ctr"/>
                      <a:r>
                        <a:rPr lang="en-US" sz="1800">
                          <a:ln>
                            <a:noFill/>
                          </a:ln>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a:ln>
                            <a:noFill/>
                          </a:ln>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dirty="0">
                          <a:ln>
                            <a:noFill/>
                          </a:ln>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19536950"/>
                  </a:ext>
                </a:extLst>
              </a:tr>
            </a:tbl>
          </a:graphicData>
        </a:graphic>
      </p:graphicFrame>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4220C52-BB35-AF12-D155-69F2017AE1EB}"/>
                  </a:ext>
                </a:extLst>
              </p:cNvPr>
              <p:cNvSpPr txBox="1"/>
              <p:nvPr/>
            </p:nvSpPr>
            <p:spPr>
              <a:xfrm>
                <a:off x="4074703" y="1985848"/>
                <a:ext cx="914400"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cs typeface="Arial" panose="020B0604020202020204" pitchFamily="34" charset="0"/>
                            </a:rPr>
                          </m:ctrlPr>
                        </m:sSubPr>
                        <m:e>
                          <m:r>
                            <a:rPr lang="en-US" b="0" i="1" smtClean="0">
                              <a:solidFill>
                                <a:schemeClr val="tx1"/>
                              </a:solidFill>
                              <a:latin typeface="Cambria Math" panose="02040503050406030204" pitchFamily="18" charset="0"/>
                              <a:cs typeface="Arial" panose="020B0604020202020204" pitchFamily="34" charset="0"/>
                            </a:rPr>
                            <m:t>𝐺</m:t>
                          </m:r>
                        </m:e>
                        <m:sub>
                          <m:r>
                            <a:rPr lang="en-US" b="0" i="1" smtClean="0">
                              <a:solidFill>
                                <a:schemeClr val="tx1"/>
                              </a:solidFill>
                              <a:latin typeface="Cambria Math" panose="02040503050406030204" pitchFamily="18" charset="0"/>
                              <a:cs typeface="Arial" panose="020B0604020202020204" pitchFamily="34" charset="0"/>
                            </a:rPr>
                            <m:t>𝑥</m:t>
                          </m:r>
                        </m:sub>
                      </m:sSub>
                    </m:oMath>
                  </m:oMathPara>
                </a14:m>
                <a:endParaRPr lang="en-US">
                  <a:solidFill>
                    <a:schemeClr val="tx1"/>
                  </a:solidFill>
                  <a:latin typeface="Arial" panose="020B0604020202020204" pitchFamily="34" charset="0"/>
                  <a:cs typeface="Arial" panose="020B0604020202020204" pitchFamily="34" charset="0"/>
                </a:endParaRPr>
              </a:p>
            </p:txBody>
          </p:sp>
        </mc:Choice>
        <mc:Fallback>
          <p:sp>
            <p:nvSpPr>
              <p:cNvPr id="3" name="TextBox 2">
                <a:extLst>
                  <a:ext uri="{FF2B5EF4-FFF2-40B4-BE49-F238E27FC236}">
                    <a16:creationId xmlns:a16="http://schemas.microsoft.com/office/drawing/2014/main" id="{44220C52-BB35-AF12-D155-69F2017AE1EB}"/>
                  </a:ext>
                </a:extLst>
              </p:cNvPr>
              <p:cNvSpPr txBox="1">
                <a:spLocks noRot="1" noChangeAspect="1" noMove="1" noResize="1" noEditPoints="1" noAdjustHandles="1" noChangeArrowheads="1" noChangeShapeType="1" noTextEdit="1"/>
              </p:cNvSpPr>
              <p:nvPr/>
            </p:nvSpPr>
            <p:spPr>
              <a:xfrm>
                <a:off x="4074703" y="1985848"/>
                <a:ext cx="914400" cy="369332"/>
              </a:xfrm>
              <a:prstGeom prst="rect">
                <a:avLst/>
              </a:prstGeom>
              <a:blipFill>
                <a:blip r:embed="rId2"/>
                <a:stretch>
                  <a:fillRect/>
                </a:stretch>
              </a:blipFill>
            </p:spPr>
            <p:txBody>
              <a:bodyPr/>
              <a:lstStyle/>
              <a:p>
                <a:r>
                  <a:rPr lang="ko-KR" altLang="en-US">
                    <a:noFill/>
                  </a:rPr>
                  <a:t> </a:t>
                </a:r>
              </a:p>
            </p:txBody>
          </p:sp>
        </mc:Fallback>
      </mc:AlternateContent>
      <p:graphicFrame>
        <p:nvGraphicFramePr>
          <p:cNvPr id="6" name="Table 5">
            <a:extLst>
              <a:ext uri="{FF2B5EF4-FFF2-40B4-BE49-F238E27FC236}">
                <a16:creationId xmlns:a16="http://schemas.microsoft.com/office/drawing/2014/main" id="{00C650EA-FB7F-27F8-7A89-9070FFD23005}"/>
              </a:ext>
            </a:extLst>
          </p:cNvPr>
          <p:cNvGraphicFramePr>
            <a:graphicFrameLocks noGrp="1"/>
          </p:cNvGraphicFramePr>
          <p:nvPr>
            <p:extLst>
              <p:ext uri="{D42A27DB-BD31-4B8C-83A1-F6EECF244321}">
                <p14:modId xmlns:p14="http://schemas.microsoft.com/office/powerpoint/2010/main" val="1032545753"/>
              </p:ext>
            </p:extLst>
          </p:nvPr>
        </p:nvGraphicFramePr>
        <p:xfrm>
          <a:off x="3886909" y="4916436"/>
          <a:ext cx="1219200" cy="1174254"/>
        </p:xfrm>
        <a:graphic>
          <a:graphicData uri="http://schemas.openxmlformats.org/drawingml/2006/table">
            <a:tbl>
              <a:tblPr firstRow="1" bandRow="1">
                <a:tableStyleId>{5940675A-B579-460E-94D1-54222C63F5DA}</a:tableStyleId>
              </a:tblPr>
              <a:tblGrid>
                <a:gridCol w="406400">
                  <a:extLst>
                    <a:ext uri="{9D8B030D-6E8A-4147-A177-3AD203B41FA5}">
                      <a16:colId xmlns:a16="http://schemas.microsoft.com/office/drawing/2014/main" val="4012161154"/>
                    </a:ext>
                  </a:extLst>
                </a:gridCol>
                <a:gridCol w="406400">
                  <a:extLst>
                    <a:ext uri="{9D8B030D-6E8A-4147-A177-3AD203B41FA5}">
                      <a16:colId xmlns:a16="http://schemas.microsoft.com/office/drawing/2014/main" val="1169512674"/>
                    </a:ext>
                  </a:extLst>
                </a:gridCol>
                <a:gridCol w="406400">
                  <a:extLst>
                    <a:ext uri="{9D8B030D-6E8A-4147-A177-3AD203B41FA5}">
                      <a16:colId xmlns:a16="http://schemas.microsoft.com/office/drawing/2014/main" val="1161952390"/>
                    </a:ext>
                  </a:extLst>
                </a:gridCol>
              </a:tblGrid>
              <a:tr h="391418">
                <a:tc>
                  <a:txBody>
                    <a:bodyPr/>
                    <a:lstStyle/>
                    <a:p>
                      <a:pPr algn="ctr"/>
                      <a:r>
                        <a:rPr lang="en-US" sz="1800">
                          <a:ln>
                            <a:noFill/>
                          </a:ln>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a:ln>
                            <a:noFill/>
                          </a:ln>
                          <a:solidFill>
                            <a:schemeClr val="tx1"/>
                          </a:solidFill>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ln>
                            <a:noFill/>
                          </a:ln>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848471"/>
                  </a:ext>
                </a:extLst>
              </a:tr>
              <a:tr h="391418">
                <a:tc>
                  <a:txBody>
                    <a:bodyPr/>
                    <a:lstStyle/>
                    <a:p>
                      <a:pPr algn="ctr"/>
                      <a:r>
                        <a:rPr lang="en-US" sz="1800">
                          <a:ln>
                            <a:noFill/>
                          </a:ln>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a:ln>
                            <a:noFill/>
                          </a:ln>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a:ln>
                            <a:noFill/>
                          </a:ln>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4901071"/>
                  </a:ext>
                </a:extLst>
              </a:tr>
              <a:tr h="391418">
                <a:tc>
                  <a:txBody>
                    <a:bodyPr/>
                    <a:lstStyle/>
                    <a:p>
                      <a:pPr algn="ctr"/>
                      <a:r>
                        <a:rPr lang="en-US" sz="1800">
                          <a:ln>
                            <a:noFill/>
                          </a:ln>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a:ln>
                            <a:noFill/>
                          </a:ln>
                          <a:solidFill>
                            <a:schemeClr val="tx1"/>
                          </a:solidFill>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ln>
                            <a:noFill/>
                          </a:ln>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9536950"/>
                  </a:ext>
                </a:extLst>
              </a:tr>
            </a:tbl>
          </a:graphicData>
        </a:graphic>
      </p:graphicFrame>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C938B402-CE40-13D4-5041-47EBA00662D0}"/>
                  </a:ext>
                </a:extLst>
              </p:cNvPr>
              <p:cNvSpPr txBox="1"/>
              <p:nvPr/>
            </p:nvSpPr>
            <p:spPr>
              <a:xfrm>
                <a:off x="8359848" y="5141969"/>
                <a:ext cx="3535640" cy="1395254"/>
              </a:xfrm>
              <a:prstGeom prst="rect">
                <a:avLst/>
              </a:prstGeom>
              <a:noFill/>
            </p:spPr>
            <p:txBody>
              <a:bodyPr wrap="square" rtlCol="0">
                <a:spAutoFit/>
              </a:bodyPr>
              <a:lstStyle/>
              <a:p>
                <a:pPr algn="ctr"/>
                <a14:m>
                  <m:oMath xmlns:m="http://schemas.openxmlformats.org/officeDocument/2006/math">
                    <m:r>
                      <a:rPr lang="en-US" sz="2000" b="0" i="1" smtClean="0">
                        <a:solidFill>
                          <a:schemeClr val="tx1"/>
                        </a:solidFill>
                        <a:latin typeface="Cambria Math" panose="02040503050406030204" pitchFamily="18" charset="0"/>
                        <a:cs typeface="Arial" panose="020B0604020202020204" pitchFamily="34" charset="0"/>
                      </a:rPr>
                      <m:t>𝐺</m:t>
                    </m:r>
                  </m:oMath>
                </a14:m>
                <a:r>
                  <a:rPr lang="en-US" sz="2000">
                    <a:solidFill>
                      <a:schemeClr val="tx1"/>
                    </a:solidFill>
                    <a:latin typeface="Arial" panose="020B0604020202020204" pitchFamily="34" charset="0"/>
                    <a:cs typeface="Arial" panose="020B0604020202020204" pitchFamily="34" charset="0"/>
                  </a:rPr>
                  <a:t> = </a:t>
                </a:r>
                <a14:m>
                  <m:oMath xmlns:m="http://schemas.openxmlformats.org/officeDocument/2006/math">
                    <m:rad>
                      <m:radPr>
                        <m:degHide m:val="on"/>
                        <m:ctrlPr>
                          <a:rPr lang="en-US" sz="2000" i="1" smtClean="0">
                            <a:solidFill>
                              <a:schemeClr val="tx1"/>
                            </a:solidFill>
                            <a:latin typeface="Cambria Math" panose="02040503050406030204" pitchFamily="18" charset="0"/>
                            <a:cs typeface="Arial" panose="020B0604020202020204" pitchFamily="34" charset="0"/>
                          </a:rPr>
                        </m:ctrlPr>
                      </m:radPr>
                      <m:deg/>
                      <m:e>
                        <m:sSubSup>
                          <m:sSubSupPr>
                            <m:ctrlPr>
                              <a:rPr lang="en-US" sz="2000" i="1" smtClean="0">
                                <a:solidFill>
                                  <a:schemeClr val="tx1"/>
                                </a:solidFill>
                                <a:latin typeface="Cambria Math" panose="02040503050406030204" pitchFamily="18" charset="0"/>
                                <a:cs typeface="Arial" panose="020B0604020202020204" pitchFamily="34" charset="0"/>
                              </a:rPr>
                            </m:ctrlPr>
                          </m:sSubSupPr>
                          <m:e>
                            <m:r>
                              <a:rPr lang="en-US" sz="2000" b="0" i="1" smtClean="0">
                                <a:solidFill>
                                  <a:schemeClr val="tx1"/>
                                </a:solidFill>
                                <a:latin typeface="Cambria Math" panose="02040503050406030204" pitchFamily="18" charset="0"/>
                                <a:cs typeface="Arial" panose="020B0604020202020204" pitchFamily="34" charset="0"/>
                              </a:rPr>
                              <m:t>𝐺</m:t>
                            </m:r>
                          </m:e>
                          <m:sub>
                            <m:r>
                              <a:rPr lang="en-US" sz="2000" b="0" i="1" smtClean="0">
                                <a:solidFill>
                                  <a:schemeClr val="tx1"/>
                                </a:solidFill>
                                <a:latin typeface="Cambria Math" panose="02040503050406030204" pitchFamily="18" charset="0"/>
                                <a:cs typeface="Arial" panose="020B0604020202020204" pitchFamily="34" charset="0"/>
                              </a:rPr>
                              <m:t>𝑥</m:t>
                            </m:r>
                          </m:sub>
                          <m:sup>
                            <m:r>
                              <a:rPr lang="en-US" sz="2000" b="0" i="1" smtClean="0">
                                <a:solidFill>
                                  <a:schemeClr val="tx1"/>
                                </a:solidFill>
                                <a:latin typeface="Cambria Math" panose="02040503050406030204" pitchFamily="18" charset="0"/>
                                <a:cs typeface="Arial" panose="020B0604020202020204" pitchFamily="34" charset="0"/>
                              </a:rPr>
                              <m:t>2</m:t>
                            </m:r>
                          </m:sup>
                        </m:sSubSup>
                        <m:r>
                          <a:rPr lang="en-US" sz="2000" b="0" i="1" smtClean="0">
                            <a:solidFill>
                              <a:schemeClr val="tx1"/>
                            </a:solidFill>
                            <a:latin typeface="Cambria Math" panose="02040503050406030204" pitchFamily="18" charset="0"/>
                            <a:cs typeface="Arial" panose="020B0604020202020204" pitchFamily="34" charset="0"/>
                          </a:rPr>
                          <m:t>+</m:t>
                        </m:r>
                        <m:sSubSup>
                          <m:sSubSupPr>
                            <m:ctrlPr>
                              <a:rPr lang="en-US" sz="2000" b="0" i="1" smtClean="0">
                                <a:solidFill>
                                  <a:schemeClr val="tx1"/>
                                </a:solidFill>
                                <a:latin typeface="Cambria Math" panose="02040503050406030204" pitchFamily="18" charset="0"/>
                                <a:cs typeface="Arial" panose="020B0604020202020204" pitchFamily="34" charset="0"/>
                              </a:rPr>
                            </m:ctrlPr>
                          </m:sSubSupPr>
                          <m:e>
                            <m:r>
                              <a:rPr lang="en-US" sz="2000" b="0" i="1" smtClean="0">
                                <a:solidFill>
                                  <a:schemeClr val="tx1"/>
                                </a:solidFill>
                                <a:latin typeface="Cambria Math" panose="02040503050406030204" pitchFamily="18" charset="0"/>
                                <a:cs typeface="Arial" panose="020B0604020202020204" pitchFamily="34" charset="0"/>
                              </a:rPr>
                              <m:t>𝐺</m:t>
                            </m:r>
                          </m:e>
                          <m:sub>
                            <m:r>
                              <a:rPr lang="en-US" sz="2000" b="0" i="1" smtClean="0">
                                <a:solidFill>
                                  <a:schemeClr val="tx1"/>
                                </a:solidFill>
                                <a:latin typeface="Cambria Math" panose="02040503050406030204" pitchFamily="18" charset="0"/>
                                <a:cs typeface="Arial" panose="020B0604020202020204" pitchFamily="34" charset="0"/>
                              </a:rPr>
                              <m:t>𝑦</m:t>
                            </m:r>
                          </m:sub>
                          <m:sup>
                            <m:r>
                              <a:rPr lang="en-US" sz="2000" b="0" i="1" smtClean="0">
                                <a:solidFill>
                                  <a:schemeClr val="tx1"/>
                                </a:solidFill>
                                <a:latin typeface="Cambria Math" panose="02040503050406030204" pitchFamily="18" charset="0"/>
                                <a:cs typeface="Arial" panose="020B0604020202020204" pitchFamily="34" charset="0"/>
                              </a:rPr>
                              <m:t>2</m:t>
                            </m:r>
                          </m:sup>
                        </m:sSubSup>
                      </m:e>
                    </m:rad>
                  </m:oMath>
                </a14:m>
                <a:endParaRPr lang="en-US" sz="1600">
                  <a:solidFill>
                    <a:schemeClr val="tx1"/>
                  </a:solidFill>
                  <a:latin typeface="Arial" panose="020B0604020202020204" pitchFamily="34" charset="0"/>
                  <a:cs typeface="Arial" panose="020B0604020202020204" pitchFamily="34" charset="0"/>
                </a:endParaRPr>
              </a:p>
              <a:p>
                <a:pPr algn="ctr"/>
                <a14:m>
                  <m:oMath xmlns:m="http://schemas.openxmlformats.org/officeDocument/2006/math">
                    <m:r>
                      <a:rPr lang="en-US" sz="200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𝜃</m:t>
                    </m:r>
                  </m:oMath>
                </a14:m>
                <a:r>
                  <a:rPr lang="en-US" sz="2000">
                    <a:solidFill>
                      <a:schemeClr val="tx1"/>
                    </a:solidFill>
                    <a:latin typeface="Times New Roman" panose="02020603050405020304" pitchFamily="18" charset="0"/>
                    <a:cs typeface="Times New Roman" panose="02020603050405020304" pitchFamily="18" charset="0"/>
                  </a:rPr>
                  <a:t> </a:t>
                </a:r>
                <a:r>
                  <a:rPr lang="en-US" sz="2000">
                    <a:solidFill>
                      <a:schemeClr val="tx1"/>
                    </a:solidFill>
                    <a:latin typeface="Arial" panose="020B0604020202020204" pitchFamily="34" charset="0"/>
                    <a:cs typeface="Arial" panose="020B0604020202020204" pitchFamily="34" charset="0"/>
                  </a:rPr>
                  <a:t>= </a:t>
                </a:r>
                <a14:m>
                  <m:oMath xmlns:m="http://schemas.openxmlformats.org/officeDocument/2006/math">
                    <m:sSup>
                      <m:sSupPr>
                        <m:ctrlPr>
                          <a:rPr lang="en-US" sz="2400" i="1" smtClean="0">
                            <a:solidFill>
                              <a:schemeClr val="tx1"/>
                            </a:solidFill>
                            <a:latin typeface="Cambria Math" panose="02040503050406030204" pitchFamily="18" charset="0"/>
                            <a:cs typeface="Arial" panose="020B0604020202020204" pitchFamily="34" charset="0"/>
                          </a:rPr>
                        </m:ctrlPr>
                      </m:sSupPr>
                      <m:e>
                        <m:r>
                          <a:rPr lang="en-US" sz="2400" b="0" i="1" smtClean="0">
                            <a:solidFill>
                              <a:schemeClr val="tx1"/>
                            </a:solidFill>
                            <a:latin typeface="Cambria Math" panose="02040503050406030204" pitchFamily="18" charset="0"/>
                            <a:cs typeface="Arial" panose="020B0604020202020204" pitchFamily="34" charset="0"/>
                          </a:rPr>
                          <m:t>𝑡𝑎𝑛</m:t>
                        </m:r>
                      </m:e>
                      <m:sup>
                        <m:r>
                          <a:rPr lang="en-US" sz="2400" b="0" i="1" smtClean="0">
                            <a:solidFill>
                              <a:schemeClr val="tx1"/>
                            </a:solidFill>
                            <a:latin typeface="Cambria Math" panose="02040503050406030204" pitchFamily="18" charset="0"/>
                            <a:cs typeface="Arial" panose="020B0604020202020204" pitchFamily="34" charset="0"/>
                          </a:rPr>
                          <m:t>−1</m:t>
                        </m:r>
                      </m:sup>
                    </m:sSup>
                    <m:d>
                      <m:dPr>
                        <m:ctrlPr>
                          <a:rPr lang="en-US" sz="2400" i="1" smtClean="0">
                            <a:solidFill>
                              <a:schemeClr val="tx1"/>
                            </a:solidFill>
                            <a:latin typeface="Cambria Math" panose="02040503050406030204" pitchFamily="18" charset="0"/>
                            <a:cs typeface="Arial" panose="020B0604020202020204" pitchFamily="34" charset="0"/>
                          </a:rPr>
                        </m:ctrlPr>
                      </m:dPr>
                      <m:e>
                        <m:f>
                          <m:fPr>
                            <m:ctrlPr>
                              <a:rPr lang="en-US" sz="2400" i="1">
                                <a:solidFill>
                                  <a:schemeClr val="tx1"/>
                                </a:solidFill>
                                <a:latin typeface="Cambria Math" panose="02040503050406030204" pitchFamily="18" charset="0"/>
                                <a:cs typeface="Arial" panose="020B0604020202020204" pitchFamily="34" charset="0"/>
                              </a:rPr>
                            </m:ctrlPr>
                          </m:fPr>
                          <m:num>
                            <m:sSub>
                              <m:sSubPr>
                                <m:ctrlPr>
                                  <a:rPr lang="en-US" sz="2400" i="1">
                                    <a:solidFill>
                                      <a:schemeClr val="tx1"/>
                                    </a:solidFill>
                                    <a:latin typeface="Cambria Math" panose="02040503050406030204" pitchFamily="18" charset="0"/>
                                    <a:cs typeface="Arial" panose="020B0604020202020204" pitchFamily="34" charset="0"/>
                                  </a:rPr>
                                </m:ctrlPr>
                              </m:sSubPr>
                              <m:e>
                                <m:r>
                                  <a:rPr lang="en-US" sz="2400" i="1">
                                    <a:solidFill>
                                      <a:schemeClr val="tx1"/>
                                    </a:solidFill>
                                    <a:latin typeface="Cambria Math" panose="02040503050406030204" pitchFamily="18" charset="0"/>
                                    <a:cs typeface="Arial" panose="020B0604020202020204" pitchFamily="34" charset="0"/>
                                  </a:rPr>
                                  <m:t>𝐺</m:t>
                                </m:r>
                              </m:e>
                              <m:sub>
                                <m:r>
                                  <a:rPr lang="en-US" sz="2400" i="1">
                                    <a:solidFill>
                                      <a:schemeClr val="tx1"/>
                                    </a:solidFill>
                                    <a:latin typeface="Cambria Math" panose="02040503050406030204" pitchFamily="18" charset="0"/>
                                    <a:cs typeface="Arial" panose="020B0604020202020204" pitchFamily="34" charset="0"/>
                                  </a:rPr>
                                  <m:t>𝑥</m:t>
                                </m:r>
                              </m:sub>
                            </m:sSub>
                          </m:num>
                          <m:den>
                            <m:sSub>
                              <m:sSubPr>
                                <m:ctrlPr>
                                  <a:rPr lang="en-US" sz="2400" i="1">
                                    <a:solidFill>
                                      <a:schemeClr val="tx1"/>
                                    </a:solidFill>
                                    <a:latin typeface="Cambria Math" panose="02040503050406030204" pitchFamily="18" charset="0"/>
                                    <a:cs typeface="Arial" panose="020B0604020202020204" pitchFamily="34" charset="0"/>
                                  </a:rPr>
                                </m:ctrlPr>
                              </m:sSubPr>
                              <m:e>
                                <m:r>
                                  <a:rPr lang="en-US" sz="2400" i="1">
                                    <a:solidFill>
                                      <a:schemeClr val="tx1"/>
                                    </a:solidFill>
                                    <a:latin typeface="Cambria Math" panose="02040503050406030204" pitchFamily="18" charset="0"/>
                                    <a:cs typeface="Arial" panose="020B0604020202020204" pitchFamily="34" charset="0"/>
                                  </a:rPr>
                                  <m:t>𝐺</m:t>
                                </m:r>
                              </m:e>
                              <m:sub>
                                <m:r>
                                  <a:rPr lang="en-US" sz="2400" i="1">
                                    <a:solidFill>
                                      <a:schemeClr val="tx1"/>
                                    </a:solidFill>
                                    <a:latin typeface="Cambria Math" panose="02040503050406030204" pitchFamily="18" charset="0"/>
                                    <a:cs typeface="Arial" panose="020B0604020202020204" pitchFamily="34" charset="0"/>
                                  </a:rPr>
                                  <m:t>𝑦</m:t>
                                </m:r>
                              </m:sub>
                            </m:sSub>
                          </m:den>
                        </m:f>
                      </m:e>
                    </m:d>
                  </m:oMath>
                </a14:m>
                <a:endParaRPr lang="en-US" sz="2800">
                  <a:solidFill>
                    <a:schemeClr val="tx1"/>
                  </a:solidFill>
                  <a:latin typeface="Arial" panose="020B0604020202020204" pitchFamily="34" charset="0"/>
                  <a:cs typeface="Arial" panose="020B0604020202020204" pitchFamily="34" charset="0"/>
                </a:endParaRPr>
              </a:p>
            </p:txBody>
          </p:sp>
        </mc:Choice>
        <mc:Fallback>
          <p:sp>
            <p:nvSpPr>
              <p:cNvPr id="7" name="TextBox 6">
                <a:extLst>
                  <a:ext uri="{FF2B5EF4-FFF2-40B4-BE49-F238E27FC236}">
                    <a16:creationId xmlns:a16="http://schemas.microsoft.com/office/drawing/2014/main" id="{C938B402-CE40-13D4-5041-47EBA00662D0}"/>
                  </a:ext>
                </a:extLst>
              </p:cNvPr>
              <p:cNvSpPr txBox="1">
                <a:spLocks noRot="1" noChangeAspect="1" noMove="1" noResize="1" noEditPoints="1" noAdjustHandles="1" noChangeArrowheads="1" noChangeShapeType="1" noTextEdit="1"/>
              </p:cNvSpPr>
              <p:nvPr/>
            </p:nvSpPr>
            <p:spPr>
              <a:xfrm>
                <a:off x="8359848" y="5141969"/>
                <a:ext cx="3535640" cy="1395254"/>
              </a:xfrm>
              <a:prstGeom prst="rect">
                <a:avLst/>
              </a:prstGeom>
              <a:blipFill>
                <a:blip r:embed="rId3"/>
                <a:stretch>
                  <a:fillRect/>
                </a:stretch>
              </a:blipFill>
            </p:spPr>
            <p:txBody>
              <a:bodyPr/>
              <a:lstStyle/>
              <a:p>
                <a:r>
                  <a:rPr lang="ko-KR" altLang="en-US">
                    <a:noFill/>
                  </a:rPr>
                  <a:t> </a:t>
                </a:r>
              </a:p>
            </p:txBody>
          </p:sp>
        </mc:Fallback>
      </mc:AlternateContent>
      <p:pic>
        <p:nvPicPr>
          <p:cNvPr id="8" name="Picture 4" descr="http://justin-liang.com/tutorials/canny/images/4_gx_sobel.jpg">
            <a:extLst>
              <a:ext uri="{FF2B5EF4-FFF2-40B4-BE49-F238E27FC236}">
                <a16:creationId xmlns:a16="http://schemas.microsoft.com/office/drawing/2014/main" id="{F7B62631-77BD-89B5-693C-0D851708D12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91940" y="2132177"/>
            <a:ext cx="1963682" cy="196368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http://justin-liang.com/tutorials/canny/images/5_gy_sobel.jpg">
            <a:extLst>
              <a:ext uri="{FF2B5EF4-FFF2-40B4-BE49-F238E27FC236}">
                <a16:creationId xmlns:a16="http://schemas.microsoft.com/office/drawing/2014/main" id="{CD4657D5-6C61-53DB-06D2-59AA113D34D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91940" y="4367535"/>
            <a:ext cx="1963682" cy="196368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descr="http://justin-liang.com/tutorials/canny/images/6_gmag.jpg">
            <a:extLst>
              <a:ext uri="{FF2B5EF4-FFF2-40B4-BE49-F238E27FC236}">
                <a16:creationId xmlns:a16="http://schemas.microsoft.com/office/drawing/2014/main" id="{B37AA5E0-6330-39D6-9ECD-6EA15DD23CF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05001" y="1991417"/>
            <a:ext cx="3045334" cy="304533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1" name="Rectangle 10">
                <a:extLst>
                  <a:ext uri="{FF2B5EF4-FFF2-40B4-BE49-F238E27FC236}">
                    <a16:creationId xmlns:a16="http://schemas.microsoft.com/office/drawing/2014/main" id="{CF357B0D-0BAD-6753-5DCB-44A10C659C05}"/>
                  </a:ext>
                </a:extLst>
              </p:cNvPr>
              <p:cNvSpPr/>
              <p:nvPr/>
            </p:nvSpPr>
            <p:spPr>
              <a:xfrm>
                <a:off x="4254840" y="4447829"/>
                <a:ext cx="490967" cy="3912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cs typeface="Arial" panose="020B0604020202020204" pitchFamily="34" charset="0"/>
                            </a:rPr>
                          </m:ctrlPr>
                        </m:sSubPr>
                        <m:e>
                          <m:r>
                            <a:rPr lang="en-US" i="1">
                              <a:solidFill>
                                <a:schemeClr val="tx1"/>
                              </a:solidFill>
                              <a:latin typeface="Cambria Math" panose="02040503050406030204" pitchFamily="18" charset="0"/>
                              <a:cs typeface="Arial" panose="020B0604020202020204" pitchFamily="34" charset="0"/>
                            </a:rPr>
                            <m:t>𝐺</m:t>
                          </m:r>
                        </m:e>
                        <m:sub>
                          <m:r>
                            <a:rPr lang="en-US" b="0" i="1" smtClean="0">
                              <a:solidFill>
                                <a:schemeClr val="tx1"/>
                              </a:solidFill>
                              <a:latin typeface="Cambria Math" panose="02040503050406030204" pitchFamily="18" charset="0"/>
                              <a:cs typeface="Arial" panose="020B0604020202020204" pitchFamily="34" charset="0"/>
                            </a:rPr>
                            <m:t>𝑦</m:t>
                          </m:r>
                        </m:sub>
                      </m:sSub>
                    </m:oMath>
                  </m:oMathPara>
                </a14:m>
                <a:endParaRPr lang="en-US" dirty="0">
                  <a:solidFill>
                    <a:schemeClr val="tx1"/>
                  </a:solidFill>
                </a:endParaRPr>
              </a:p>
            </p:txBody>
          </p:sp>
        </mc:Choice>
        <mc:Fallback>
          <p:sp>
            <p:nvSpPr>
              <p:cNvPr id="11" name="Rectangle 10">
                <a:extLst>
                  <a:ext uri="{FF2B5EF4-FFF2-40B4-BE49-F238E27FC236}">
                    <a16:creationId xmlns:a16="http://schemas.microsoft.com/office/drawing/2014/main" id="{CF357B0D-0BAD-6753-5DCB-44A10C659C05}"/>
                  </a:ext>
                </a:extLst>
              </p:cNvPr>
              <p:cNvSpPr>
                <a:spLocks noRot="1" noChangeAspect="1" noMove="1" noResize="1" noEditPoints="1" noAdjustHandles="1" noChangeArrowheads="1" noChangeShapeType="1" noTextEdit="1"/>
              </p:cNvSpPr>
              <p:nvPr/>
            </p:nvSpPr>
            <p:spPr>
              <a:xfrm>
                <a:off x="4254840" y="4447829"/>
                <a:ext cx="490967" cy="391261"/>
              </a:xfrm>
              <a:prstGeom prst="rect">
                <a:avLst/>
              </a:prstGeom>
              <a:blipFill>
                <a:blip r:embed="rId7"/>
                <a:stretch>
                  <a:fillRect b="-3125"/>
                </a:stretch>
              </a:blipFill>
            </p:spPr>
            <p:txBody>
              <a:bodyPr/>
              <a:lstStyle/>
              <a:p>
                <a:r>
                  <a:rPr lang="ko-KR" altLang="en-US">
                    <a:noFill/>
                  </a:rPr>
                  <a:t> </a:t>
                </a:r>
              </a:p>
            </p:txBody>
          </p:sp>
        </mc:Fallback>
      </mc:AlternateContent>
      <p:sp>
        <p:nvSpPr>
          <p:cNvPr id="12" name="Rectangle 11">
            <a:extLst>
              <a:ext uri="{FF2B5EF4-FFF2-40B4-BE49-F238E27FC236}">
                <a16:creationId xmlns:a16="http://schemas.microsoft.com/office/drawing/2014/main" id="{E963BF1A-0A7C-7A19-88B9-1EE6CAB384AB}"/>
              </a:ext>
            </a:extLst>
          </p:cNvPr>
          <p:cNvSpPr/>
          <p:nvPr/>
        </p:nvSpPr>
        <p:spPr>
          <a:xfrm>
            <a:off x="9090566" y="1622085"/>
            <a:ext cx="2074204" cy="369332"/>
          </a:xfrm>
          <a:prstGeom prst="rect">
            <a:avLst/>
          </a:prstGeom>
        </p:spPr>
        <p:txBody>
          <a:bodyPr wrap="square">
            <a:spAutoFit/>
          </a:bodyPr>
          <a:lstStyle/>
          <a:p>
            <a:pPr fontAlgn="base"/>
            <a:r>
              <a:rPr lang="en-US"/>
              <a:t>Gradient Magnitude</a:t>
            </a:r>
          </a:p>
        </p:txBody>
      </p:sp>
      <p:pic>
        <p:nvPicPr>
          <p:cNvPr id="13" name="Picture 8" descr="http://justin-liang.com/tutorials/canny/images/3_gaussian.jpg">
            <a:extLst>
              <a:ext uri="{FF2B5EF4-FFF2-40B4-BE49-F238E27FC236}">
                <a16:creationId xmlns:a16="http://schemas.microsoft.com/office/drawing/2014/main" id="{09A1ACB9-F3AF-BA8A-DE14-5A4E78D95FC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7217" y="3086868"/>
            <a:ext cx="2203410" cy="220341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C445828E-BC47-8F4E-B3D9-4D563358BBC7}"/>
              </a:ext>
            </a:extLst>
          </p:cNvPr>
          <p:cNvSpPr/>
          <p:nvPr/>
        </p:nvSpPr>
        <p:spPr>
          <a:xfrm>
            <a:off x="904549" y="5289319"/>
            <a:ext cx="1508746" cy="369332"/>
          </a:xfrm>
          <a:prstGeom prst="rect">
            <a:avLst/>
          </a:prstGeom>
        </p:spPr>
        <p:txBody>
          <a:bodyPr wrap="none">
            <a:spAutoFit/>
          </a:bodyPr>
          <a:lstStyle/>
          <a:p>
            <a:r>
              <a:rPr lang="en-US">
                <a:latin typeface="Source Sans Pro" panose="020B0503030403020204" pitchFamily="34" charset="0"/>
              </a:rPr>
              <a:t>Gaussian Blur</a:t>
            </a:r>
            <a:endParaRPr lang="en-US"/>
          </a:p>
        </p:txBody>
      </p:sp>
      <p:sp>
        <p:nvSpPr>
          <p:cNvPr id="15" name="Arrow: Right 14">
            <a:extLst>
              <a:ext uri="{FF2B5EF4-FFF2-40B4-BE49-F238E27FC236}">
                <a16:creationId xmlns:a16="http://schemas.microsoft.com/office/drawing/2014/main" id="{58567B76-306C-A192-297D-AB9ECD2969A0}"/>
              </a:ext>
            </a:extLst>
          </p:cNvPr>
          <p:cNvSpPr/>
          <p:nvPr/>
        </p:nvSpPr>
        <p:spPr>
          <a:xfrm>
            <a:off x="3114806" y="4054614"/>
            <a:ext cx="412595" cy="30108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Arrow: Right 15">
            <a:extLst>
              <a:ext uri="{FF2B5EF4-FFF2-40B4-BE49-F238E27FC236}">
                <a16:creationId xmlns:a16="http://schemas.microsoft.com/office/drawing/2014/main" id="{2585D12D-4944-B71C-CE2F-30FC8DF75EAD}"/>
              </a:ext>
            </a:extLst>
          </p:cNvPr>
          <p:cNvSpPr/>
          <p:nvPr/>
        </p:nvSpPr>
        <p:spPr>
          <a:xfrm>
            <a:off x="7832900" y="4065765"/>
            <a:ext cx="412595" cy="30108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TextBox 17">
            <a:extLst>
              <a:ext uri="{FF2B5EF4-FFF2-40B4-BE49-F238E27FC236}">
                <a16:creationId xmlns:a16="http://schemas.microsoft.com/office/drawing/2014/main" id="{76F339C5-5A6D-F947-24D1-23A3BA814B97}"/>
              </a:ext>
            </a:extLst>
          </p:cNvPr>
          <p:cNvSpPr txBox="1"/>
          <p:nvPr/>
        </p:nvSpPr>
        <p:spPr>
          <a:xfrm>
            <a:off x="191115" y="1392673"/>
            <a:ext cx="11809770" cy="400110"/>
          </a:xfrm>
          <a:prstGeom prst="rect">
            <a:avLst/>
          </a:prstGeom>
          <a:noFill/>
        </p:spPr>
        <p:txBody>
          <a:bodyPr wrap="square" rtlCol="0">
            <a:spAutoFit/>
          </a:bodyPr>
          <a:lstStyle/>
          <a:p>
            <a:pPr algn="just"/>
            <a:r>
              <a:rPr lang="en-US" altLang="ko-KR" sz="2000" dirty="0"/>
              <a:t>Use Sobel operators to find intensity gradients in the image.</a:t>
            </a:r>
            <a:endParaRPr lang="en-US" altLang="ko-KR" sz="2000" dirty="0">
              <a:solidFill>
                <a:srgbClr val="FF0000"/>
              </a:solidFill>
            </a:endParaRPr>
          </a:p>
        </p:txBody>
      </p:sp>
    </p:spTree>
    <p:extLst>
      <p:ext uri="{BB962C8B-B14F-4D97-AF65-F5344CB8AC3E}">
        <p14:creationId xmlns:p14="http://schemas.microsoft.com/office/powerpoint/2010/main" val="1218502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507D4-F192-2837-9EC3-76BD699F82E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7C34B48-3C38-E45F-2047-CD91876F2578}"/>
              </a:ext>
            </a:extLst>
          </p:cNvPr>
          <p:cNvSpPr txBox="1"/>
          <p:nvPr/>
        </p:nvSpPr>
        <p:spPr>
          <a:xfrm>
            <a:off x="191115" y="931008"/>
            <a:ext cx="4279127" cy="461665"/>
          </a:xfrm>
          <a:prstGeom prst="rect">
            <a:avLst/>
          </a:prstGeom>
          <a:noFill/>
        </p:spPr>
        <p:txBody>
          <a:bodyPr wrap="square" rtlCol="0">
            <a:spAutoFit/>
          </a:bodyPr>
          <a:lstStyle/>
          <a:p>
            <a:r>
              <a:rPr lang="en-US" altLang="ko-KR" sz="2400" i="1" dirty="0"/>
              <a:t>Non-Maximum Suppression</a:t>
            </a:r>
            <a:endParaRPr lang="en-US" altLang="ko-KR" sz="2400" i="1" dirty="0">
              <a:solidFill>
                <a:srgbClr val="FF0000"/>
              </a:solidFill>
            </a:endParaRPr>
          </a:p>
        </p:txBody>
      </p:sp>
      <p:sp>
        <p:nvSpPr>
          <p:cNvPr id="5" name="TextBox 4">
            <a:extLst>
              <a:ext uri="{FF2B5EF4-FFF2-40B4-BE49-F238E27FC236}">
                <a16:creationId xmlns:a16="http://schemas.microsoft.com/office/drawing/2014/main" id="{71183657-781C-6186-9C33-6505543F319D}"/>
              </a:ext>
            </a:extLst>
          </p:cNvPr>
          <p:cNvSpPr txBox="1"/>
          <p:nvPr/>
        </p:nvSpPr>
        <p:spPr>
          <a:xfrm>
            <a:off x="109348" y="407788"/>
            <a:ext cx="5635844" cy="523220"/>
          </a:xfrm>
          <a:prstGeom prst="rect">
            <a:avLst/>
          </a:prstGeom>
          <a:noFill/>
        </p:spPr>
        <p:txBody>
          <a:bodyPr wrap="square" rtlCol="0">
            <a:spAutoFit/>
          </a:bodyPr>
          <a:lstStyle/>
          <a:p>
            <a:r>
              <a:rPr lang="en-US" altLang="ko-KR" sz="2800" b="1" dirty="0"/>
              <a:t>Canny Edge Detector</a:t>
            </a:r>
          </a:p>
        </p:txBody>
      </p:sp>
      <p:pic>
        <p:nvPicPr>
          <p:cNvPr id="2" name="Picture 2" descr="http://justin-liang.com/tutorials/canny/images/7_non_maximum_suppression.jpg">
            <a:extLst>
              <a:ext uri="{FF2B5EF4-FFF2-40B4-BE49-F238E27FC236}">
                <a16:creationId xmlns:a16="http://schemas.microsoft.com/office/drawing/2014/main" id="{04478EA2-DF9F-6794-62AA-C662B557B7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7367" y="2755153"/>
            <a:ext cx="2710174" cy="271017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http://justin-liang.com/tutorials/canny/images/6_gmag.jpg">
            <a:extLst>
              <a:ext uri="{FF2B5EF4-FFF2-40B4-BE49-F238E27FC236}">
                <a16:creationId xmlns:a16="http://schemas.microsoft.com/office/drawing/2014/main" id="{03BAB423-DCEE-2D33-84DA-036618A0FE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5649" y="2755153"/>
            <a:ext cx="2710174" cy="271017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437C1E38-1818-B963-C1F6-8EACCFAD9D5D}"/>
              </a:ext>
            </a:extLst>
          </p:cNvPr>
          <p:cNvSpPr/>
          <p:nvPr/>
        </p:nvSpPr>
        <p:spPr>
          <a:xfrm>
            <a:off x="3393634" y="5482827"/>
            <a:ext cx="2074204" cy="369332"/>
          </a:xfrm>
          <a:prstGeom prst="rect">
            <a:avLst/>
          </a:prstGeom>
        </p:spPr>
        <p:txBody>
          <a:bodyPr wrap="square">
            <a:spAutoFit/>
          </a:bodyPr>
          <a:lstStyle/>
          <a:p>
            <a:pPr fontAlgn="base"/>
            <a:r>
              <a:rPr lang="en-US"/>
              <a:t>Gradient Magnitude</a:t>
            </a:r>
          </a:p>
        </p:txBody>
      </p:sp>
      <p:sp>
        <p:nvSpPr>
          <p:cNvPr id="7" name="Rectangle 6">
            <a:extLst>
              <a:ext uri="{FF2B5EF4-FFF2-40B4-BE49-F238E27FC236}">
                <a16:creationId xmlns:a16="http://schemas.microsoft.com/office/drawing/2014/main" id="{A8FA20E6-F52D-E09A-D592-A19ED84F7087}"/>
              </a:ext>
            </a:extLst>
          </p:cNvPr>
          <p:cNvSpPr/>
          <p:nvPr/>
        </p:nvSpPr>
        <p:spPr>
          <a:xfrm>
            <a:off x="6367367" y="5476928"/>
            <a:ext cx="2776401" cy="369332"/>
          </a:xfrm>
          <a:prstGeom prst="rect">
            <a:avLst/>
          </a:prstGeom>
        </p:spPr>
        <p:txBody>
          <a:bodyPr wrap="none">
            <a:spAutoFit/>
          </a:bodyPr>
          <a:lstStyle/>
          <a:p>
            <a:r>
              <a:rPr lang="en-US"/>
              <a:t>Non-maximum Suppression</a:t>
            </a:r>
          </a:p>
        </p:txBody>
      </p:sp>
      <p:sp>
        <p:nvSpPr>
          <p:cNvPr id="9" name="TextBox 8">
            <a:extLst>
              <a:ext uri="{FF2B5EF4-FFF2-40B4-BE49-F238E27FC236}">
                <a16:creationId xmlns:a16="http://schemas.microsoft.com/office/drawing/2014/main" id="{48F2EF82-9E7A-AF1B-9F96-E3BADA6F6906}"/>
              </a:ext>
            </a:extLst>
          </p:cNvPr>
          <p:cNvSpPr txBox="1"/>
          <p:nvPr/>
        </p:nvSpPr>
        <p:spPr>
          <a:xfrm>
            <a:off x="191115" y="1392673"/>
            <a:ext cx="11809770" cy="707886"/>
          </a:xfrm>
          <a:prstGeom prst="rect">
            <a:avLst/>
          </a:prstGeom>
          <a:noFill/>
        </p:spPr>
        <p:txBody>
          <a:bodyPr wrap="square" rtlCol="0">
            <a:spAutoFit/>
          </a:bodyPr>
          <a:lstStyle/>
          <a:p>
            <a:pPr algn="just"/>
            <a:r>
              <a:rPr lang="en-US" altLang="ko-KR" sz="2000" dirty="0"/>
              <a:t>The magnitude image produced results in thick edges, while the final image should have thin edges. Thus, non-maximum suppression is applied to thin out the edges.  </a:t>
            </a:r>
            <a:endParaRPr lang="en-US" altLang="ko-KR" sz="2000" dirty="0">
              <a:solidFill>
                <a:srgbClr val="FF0000"/>
              </a:solidFill>
            </a:endParaRPr>
          </a:p>
        </p:txBody>
      </p:sp>
    </p:spTree>
    <p:extLst>
      <p:ext uri="{BB962C8B-B14F-4D97-AF65-F5344CB8AC3E}">
        <p14:creationId xmlns:p14="http://schemas.microsoft.com/office/powerpoint/2010/main" val="15973605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507D4-F192-2837-9EC3-76BD699F82E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7C34B48-3C38-E45F-2047-CD91876F2578}"/>
              </a:ext>
            </a:extLst>
          </p:cNvPr>
          <p:cNvSpPr txBox="1"/>
          <p:nvPr/>
        </p:nvSpPr>
        <p:spPr>
          <a:xfrm>
            <a:off x="191115" y="931008"/>
            <a:ext cx="4279127" cy="461665"/>
          </a:xfrm>
          <a:prstGeom prst="rect">
            <a:avLst/>
          </a:prstGeom>
          <a:noFill/>
        </p:spPr>
        <p:txBody>
          <a:bodyPr wrap="square" rtlCol="0">
            <a:spAutoFit/>
          </a:bodyPr>
          <a:lstStyle/>
          <a:p>
            <a:r>
              <a:rPr lang="en-US" altLang="ko-KR" sz="2400" i="1" dirty="0"/>
              <a:t>Non-Maximum Suppression</a:t>
            </a:r>
            <a:endParaRPr lang="en-US" altLang="ko-KR" sz="2400" i="1" dirty="0">
              <a:solidFill>
                <a:srgbClr val="FF0000"/>
              </a:solidFill>
            </a:endParaRPr>
          </a:p>
        </p:txBody>
      </p:sp>
      <p:sp>
        <p:nvSpPr>
          <p:cNvPr id="5" name="TextBox 4">
            <a:extLst>
              <a:ext uri="{FF2B5EF4-FFF2-40B4-BE49-F238E27FC236}">
                <a16:creationId xmlns:a16="http://schemas.microsoft.com/office/drawing/2014/main" id="{71183657-781C-6186-9C33-6505543F319D}"/>
              </a:ext>
            </a:extLst>
          </p:cNvPr>
          <p:cNvSpPr txBox="1"/>
          <p:nvPr/>
        </p:nvSpPr>
        <p:spPr>
          <a:xfrm>
            <a:off x="109348" y="407788"/>
            <a:ext cx="5635844" cy="523220"/>
          </a:xfrm>
          <a:prstGeom prst="rect">
            <a:avLst/>
          </a:prstGeom>
          <a:noFill/>
        </p:spPr>
        <p:txBody>
          <a:bodyPr wrap="square" rtlCol="0">
            <a:spAutoFit/>
          </a:bodyPr>
          <a:lstStyle/>
          <a:p>
            <a:r>
              <a:rPr lang="en-US" altLang="ko-KR" sz="2800" b="1" dirty="0"/>
              <a:t>Canny Edge Detector</a:t>
            </a:r>
          </a:p>
        </p:txBody>
      </p:sp>
      <p:pic>
        <p:nvPicPr>
          <p:cNvPr id="2" name="Picture 2" descr="http://justin-liang.com/tutorials/canny/images/7_non_maximum_suppression.jpg">
            <a:extLst>
              <a:ext uri="{FF2B5EF4-FFF2-40B4-BE49-F238E27FC236}">
                <a16:creationId xmlns:a16="http://schemas.microsoft.com/office/drawing/2014/main" id="{04478EA2-DF9F-6794-62AA-C662B557B7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6820" y="3333938"/>
            <a:ext cx="2710174" cy="271017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http://justin-liang.com/tutorials/canny/images/6_gmag.jpg">
            <a:extLst>
              <a:ext uri="{FF2B5EF4-FFF2-40B4-BE49-F238E27FC236}">
                <a16:creationId xmlns:a16="http://schemas.microsoft.com/office/drawing/2014/main" id="{03BAB423-DCEE-2D33-84DA-036618A0FE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102" y="3333938"/>
            <a:ext cx="2710174" cy="271017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437C1E38-1818-B963-C1F6-8EACCFAD9D5D}"/>
              </a:ext>
            </a:extLst>
          </p:cNvPr>
          <p:cNvSpPr/>
          <p:nvPr/>
        </p:nvSpPr>
        <p:spPr>
          <a:xfrm>
            <a:off x="5713087" y="6061612"/>
            <a:ext cx="2074204" cy="369332"/>
          </a:xfrm>
          <a:prstGeom prst="rect">
            <a:avLst/>
          </a:prstGeom>
        </p:spPr>
        <p:txBody>
          <a:bodyPr wrap="square">
            <a:spAutoFit/>
          </a:bodyPr>
          <a:lstStyle/>
          <a:p>
            <a:pPr fontAlgn="base"/>
            <a:r>
              <a:rPr lang="en-US"/>
              <a:t>Gradient Magnitude</a:t>
            </a:r>
          </a:p>
        </p:txBody>
      </p:sp>
      <p:sp>
        <p:nvSpPr>
          <p:cNvPr id="7" name="Rectangle 6">
            <a:extLst>
              <a:ext uri="{FF2B5EF4-FFF2-40B4-BE49-F238E27FC236}">
                <a16:creationId xmlns:a16="http://schemas.microsoft.com/office/drawing/2014/main" id="{A8FA20E6-F52D-E09A-D592-A19ED84F7087}"/>
              </a:ext>
            </a:extLst>
          </p:cNvPr>
          <p:cNvSpPr/>
          <p:nvPr/>
        </p:nvSpPr>
        <p:spPr>
          <a:xfrm>
            <a:off x="8686820" y="6055713"/>
            <a:ext cx="2776401" cy="369332"/>
          </a:xfrm>
          <a:prstGeom prst="rect">
            <a:avLst/>
          </a:prstGeom>
        </p:spPr>
        <p:txBody>
          <a:bodyPr wrap="none">
            <a:spAutoFit/>
          </a:bodyPr>
          <a:lstStyle/>
          <a:p>
            <a:r>
              <a:rPr lang="en-US"/>
              <a:t>Non-maximum Suppression</a:t>
            </a:r>
          </a:p>
        </p:txBody>
      </p:sp>
      <p:sp>
        <p:nvSpPr>
          <p:cNvPr id="9" name="TextBox 8">
            <a:extLst>
              <a:ext uri="{FF2B5EF4-FFF2-40B4-BE49-F238E27FC236}">
                <a16:creationId xmlns:a16="http://schemas.microsoft.com/office/drawing/2014/main" id="{48F2EF82-9E7A-AF1B-9F96-E3BADA6F6906}"/>
              </a:ext>
            </a:extLst>
          </p:cNvPr>
          <p:cNvSpPr txBox="1"/>
          <p:nvPr/>
        </p:nvSpPr>
        <p:spPr>
          <a:xfrm>
            <a:off x="191115" y="1392673"/>
            <a:ext cx="11809770" cy="707886"/>
          </a:xfrm>
          <a:prstGeom prst="rect">
            <a:avLst/>
          </a:prstGeom>
          <a:noFill/>
        </p:spPr>
        <p:txBody>
          <a:bodyPr wrap="square" rtlCol="0">
            <a:spAutoFit/>
          </a:bodyPr>
          <a:lstStyle/>
          <a:p>
            <a:pPr algn="just"/>
            <a:r>
              <a:rPr lang="en-US" altLang="ko-KR" sz="2000" dirty="0"/>
              <a:t>- Assuming that the edge direction is the orange dotted line, this step is to check if the pixels on the same direction are more or less intense than the one being processed. </a:t>
            </a:r>
          </a:p>
        </p:txBody>
      </p:sp>
      <p:grpSp>
        <p:nvGrpSpPr>
          <p:cNvPr id="8" name="Group 7">
            <a:extLst>
              <a:ext uri="{FF2B5EF4-FFF2-40B4-BE49-F238E27FC236}">
                <a16:creationId xmlns:a16="http://schemas.microsoft.com/office/drawing/2014/main" id="{970C0FEF-CF68-F189-0E0F-2BECB7C4B118}"/>
              </a:ext>
            </a:extLst>
          </p:cNvPr>
          <p:cNvGrpSpPr/>
          <p:nvPr/>
        </p:nvGrpSpPr>
        <p:grpSpPr>
          <a:xfrm>
            <a:off x="627163" y="3204635"/>
            <a:ext cx="4053644" cy="3013383"/>
            <a:chOff x="2865519" y="2135103"/>
            <a:chExt cx="3412961" cy="2379816"/>
          </a:xfrm>
        </p:grpSpPr>
        <p:pic>
          <p:nvPicPr>
            <p:cNvPr id="10" name="Picture 2" descr="https://cdn-images-1.medium.com/max/1200/1*K-gnZg4_VPk57Xs0XflIrg.png">
              <a:extLst>
                <a:ext uri="{FF2B5EF4-FFF2-40B4-BE49-F238E27FC236}">
                  <a16:creationId xmlns:a16="http://schemas.microsoft.com/office/drawing/2014/main" id="{0426CFB1-2895-030E-6A45-A6447DF7A7D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1126" b="10355"/>
            <a:stretch/>
          </p:blipFill>
          <p:spPr bwMode="auto">
            <a:xfrm>
              <a:off x="2865519" y="2135103"/>
              <a:ext cx="3412961" cy="237981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https://cdn-images-1.medium.com/max/1200/1*K-gnZg4_VPk57Xs0XflIrg.png">
              <a:extLst>
                <a:ext uri="{FF2B5EF4-FFF2-40B4-BE49-F238E27FC236}">
                  <a16:creationId xmlns:a16="http://schemas.microsoft.com/office/drawing/2014/main" id="{B569F30A-750A-2743-4F0F-F7647CB467B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569" r="69446" b="65231"/>
            <a:stretch/>
          </p:blipFill>
          <p:spPr bwMode="auto">
            <a:xfrm>
              <a:off x="2865519" y="2135103"/>
              <a:ext cx="1042784" cy="1060998"/>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TextBox 11">
            <a:extLst>
              <a:ext uri="{FF2B5EF4-FFF2-40B4-BE49-F238E27FC236}">
                <a16:creationId xmlns:a16="http://schemas.microsoft.com/office/drawing/2014/main" id="{BDCA4E40-E4A9-2DF4-1B58-A1AF625C63E8}"/>
              </a:ext>
            </a:extLst>
          </p:cNvPr>
          <p:cNvSpPr txBox="1"/>
          <p:nvPr/>
        </p:nvSpPr>
        <p:spPr>
          <a:xfrm>
            <a:off x="191115" y="2100559"/>
            <a:ext cx="11809770" cy="707886"/>
          </a:xfrm>
          <a:prstGeom prst="rect">
            <a:avLst/>
          </a:prstGeom>
          <a:noFill/>
        </p:spPr>
        <p:txBody>
          <a:bodyPr wrap="square" rtlCol="0">
            <a:spAutoFit/>
          </a:bodyPr>
          <a:lstStyle/>
          <a:p>
            <a:pPr algn="just"/>
            <a:r>
              <a:rPr lang="en-US" altLang="ko-KR" sz="2000" dirty="0"/>
              <a:t>- The red pixel is being processed, and the pixels on the same direction are highlighted in blue. The most intense pixel is kept, the rest are removed.</a:t>
            </a:r>
          </a:p>
        </p:txBody>
      </p:sp>
    </p:spTree>
    <p:extLst>
      <p:ext uri="{BB962C8B-B14F-4D97-AF65-F5344CB8AC3E}">
        <p14:creationId xmlns:p14="http://schemas.microsoft.com/office/powerpoint/2010/main" val="26392804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79742-C0DC-AB67-DADC-DC59EE3AFE0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4C76D0C-5A5E-A9DB-B770-0E6286EABD69}"/>
              </a:ext>
            </a:extLst>
          </p:cNvPr>
          <p:cNvSpPr txBox="1"/>
          <p:nvPr/>
        </p:nvSpPr>
        <p:spPr>
          <a:xfrm>
            <a:off x="191115" y="931008"/>
            <a:ext cx="4279127" cy="461665"/>
          </a:xfrm>
          <a:prstGeom prst="rect">
            <a:avLst/>
          </a:prstGeom>
          <a:noFill/>
        </p:spPr>
        <p:txBody>
          <a:bodyPr wrap="square" rtlCol="0">
            <a:spAutoFit/>
          </a:bodyPr>
          <a:lstStyle/>
          <a:p>
            <a:r>
              <a:rPr lang="en-US" altLang="ko-KR" sz="2400" i="1" dirty="0"/>
              <a:t>Double Thresholding</a:t>
            </a:r>
            <a:endParaRPr lang="en-US" altLang="ko-KR" sz="2400" i="1" dirty="0">
              <a:solidFill>
                <a:srgbClr val="FF0000"/>
              </a:solidFill>
            </a:endParaRPr>
          </a:p>
        </p:txBody>
      </p:sp>
      <p:sp>
        <p:nvSpPr>
          <p:cNvPr id="5" name="TextBox 4">
            <a:extLst>
              <a:ext uri="{FF2B5EF4-FFF2-40B4-BE49-F238E27FC236}">
                <a16:creationId xmlns:a16="http://schemas.microsoft.com/office/drawing/2014/main" id="{2C1F3B91-9ECD-9FF5-44F0-5034D75567CD}"/>
              </a:ext>
            </a:extLst>
          </p:cNvPr>
          <p:cNvSpPr txBox="1"/>
          <p:nvPr/>
        </p:nvSpPr>
        <p:spPr>
          <a:xfrm>
            <a:off x="109348" y="407788"/>
            <a:ext cx="5635844" cy="523220"/>
          </a:xfrm>
          <a:prstGeom prst="rect">
            <a:avLst/>
          </a:prstGeom>
          <a:noFill/>
        </p:spPr>
        <p:txBody>
          <a:bodyPr wrap="square" rtlCol="0">
            <a:spAutoFit/>
          </a:bodyPr>
          <a:lstStyle/>
          <a:p>
            <a:r>
              <a:rPr lang="en-US" altLang="ko-KR" sz="2800" b="1" dirty="0"/>
              <a:t>Canny Edge Detector</a:t>
            </a:r>
          </a:p>
        </p:txBody>
      </p:sp>
      <p:sp>
        <p:nvSpPr>
          <p:cNvPr id="9" name="TextBox 8">
            <a:extLst>
              <a:ext uri="{FF2B5EF4-FFF2-40B4-BE49-F238E27FC236}">
                <a16:creationId xmlns:a16="http://schemas.microsoft.com/office/drawing/2014/main" id="{873B4DDF-EC5C-79DC-40FC-0894C8F4BE4A}"/>
              </a:ext>
            </a:extLst>
          </p:cNvPr>
          <p:cNvSpPr txBox="1"/>
          <p:nvPr/>
        </p:nvSpPr>
        <p:spPr>
          <a:xfrm>
            <a:off x="191115" y="1392673"/>
            <a:ext cx="11809770" cy="400110"/>
          </a:xfrm>
          <a:prstGeom prst="rect">
            <a:avLst/>
          </a:prstGeom>
          <a:noFill/>
        </p:spPr>
        <p:txBody>
          <a:bodyPr wrap="square" rtlCol="0">
            <a:spAutoFit/>
          </a:bodyPr>
          <a:lstStyle/>
          <a:p>
            <a:pPr algn="just"/>
            <a:r>
              <a:rPr lang="en-US" altLang="ko-KR" sz="2000" dirty="0"/>
              <a:t>- Apply two thresholds: a high and a low.</a:t>
            </a:r>
          </a:p>
        </p:txBody>
      </p:sp>
      <p:sp>
        <p:nvSpPr>
          <p:cNvPr id="14" name="TextBox 13">
            <a:extLst>
              <a:ext uri="{FF2B5EF4-FFF2-40B4-BE49-F238E27FC236}">
                <a16:creationId xmlns:a16="http://schemas.microsoft.com/office/drawing/2014/main" id="{174705AE-7B46-8546-B821-F4E45E203F30}"/>
              </a:ext>
            </a:extLst>
          </p:cNvPr>
          <p:cNvSpPr txBox="1"/>
          <p:nvPr/>
        </p:nvSpPr>
        <p:spPr>
          <a:xfrm>
            <a:off x="191115" y="1796795"/>
            <a:ext cx="8071939" cy="400110"/>
          </a:xfrm>
          <a:prstGeom prst="rect">
            <a:avLst/>
          </a:prstGeom>
          <a:noFill/>
        </p:spPr>
        <p:txBody>
          <a:bodyPr wrap="square" rtlCol="0">
            <a:spAutoFit/>
          </a:bodyPr>
          <a:lstStyle/>
          <a:p>
            <a:pPr algn="just"/>
            <a:r>
              <a:rPr lang="en-US" altLang="ko-KR" sz="2000" dirty="0"/>
              <a:t>- Pixels with gradient &gt; high threshold are considered strong edges.</a:t>
            </a:r>
          </a:p>
        </p:txBody>
      </p:sp>
      <p:sp>
        <p:nvSpPr>
          <p:cNvPr id="15" name="TextBox 14">
            <a:extLst>
              <a:ext uri="{FF2B5EF4-FFF2-40B4-BE49-F238E27FC236}">
                <a16:creationId xmlns:a16="http://schemas.microsoft.com/office/drawing/2014/main" id="{94E525BB-C237-F4E0-FE1D-2FF03F1AFB23}"/>
              </a:ext>
            </a:extLst>
          </p:cNvPr>
          <p:cNvSpPr txBox="1"/>
          <p:nvPr/>
        </p:nvSpPr>
        <p:spPr>
          <a:xfrm>
            <a:off x="191115" y="2196905"/>
            <a:ext cx="8071939" cy="400110"/>
          </a:xfrm>
          <a:prstGeom prst="rect">
            <a:avLst/>
          </a:prstGeom>
          <a:noFill/>
        </p:spPr>
        <p:txBody>
          <a:bodyPr wrap="square" rtlCol="0">
            <a:spAutoFit/>
          </a:bodyPr>
          <a:lstStyle/>
          <a:p>
            <a:pPr algn="just"/>
            <a:r>
              <a:rPr lang="en-US" altLang="ko-KR" sz="2000" dirty="0"/>
              <a:t>- Pixels between low and high are considered weak edges.</a:t>
            </a:r>
          </a:p>
        </p:txBody>
      </p:sp>
      <p:sp>
        <p:nvSpPr>
          <p:cNvPr id="16" name="TextBox 15">
            <a:extLst>
              <a:ext uri="{FF2B5EF4-FFF2-40B4-BE49-F238E27FC236}">
                <a16:creationId xmlns:a16="http://schemas.microsoft.com/office/drawing/2014/main" id="{213CFD52-7CD5-688C-F114-DD113C0F858A}"/>
              </a:ext>
            </a:extLst>
          </p:cNvPr>
          <p:cNvSpPr txBox="1"/>
          <p:nvPr/>
        </p:nvSpPr>
        <p:spPr>
          <a:xfrm>
            <a:off x="191115" y="2597015"/>
            <a:ext cx="8071939" cy="400110"/>
          </a:xfrm>
          <a:prstGeom prst="rect">
            <a:avLst/>
          </a:prstGeom>
          <a:noFill/>
        </p:spPr>
        <p:txBody>
          <a:bodyPr wrap="square" rtlCol="0">
            <a:spAutoFit/>
          </a:bodyPr>
          <a:lstStyle/>
          <a:p>
            <a:pPr algn="just"/>
            <a:r>
              <a:rPr lang="en-US" altLang="ko-KR" sz="2000" dirty="0"/>
              <a:t>- Pixels below low threshold are suppressed.</a:t>
            </a:r>
          </a:p>
        </p:txBody>
      </p:sp>
      <p:sp>
        <p:nvSpPr>
          <p:cNvPr id="18" name="Rectangle 17">
            <a:extLst>
              <a:ext uri="{FF2B5EF4-FFF2-40B4-BE49-F238E27FC236}">
                <a16:creationId xmlns:a16="http://schemas.microsoft.com/office/drawing/2014/main" id="{CAC1760D-A03C-B7E0-46B5-A5068364035D}"/>
              </a:ext>
            </a:extLst>
          </p:cNvPr>
          <p:cNvSpPr/>
          <p:nvPr/>
        </p:nvSpPr>
        <p:spPr>
          <a:xfrm>
            <a:off x="3051624" y="6033134"/>
            <a:ext cx="2770328" cy="369332"/>
          </a:xfrm>
          <a:prstGeom prst="rect">
            <a:avLst/>
          </a:prstGeom>
        </p:spPr>
        <p:txBody>
          <a:bodyPr wrap="square">
            <a:spAutoFit/>
          </a:bodyPr>
          <a:lstStyle/>
          <a:p>
            <a:pPr fontAlgn="base"/>
            <a:r>
              <a:rPr lang="en-US"/>
              <a:t>Non-maximum Suppression</a:t>
            </a:r>
          </a:p>
        </p:txBody>
      </p:sp>
      <p:sp>
        <p:nvSpPr>
          <p:cNvPr id="19" name="Rectangle 18">
            <a:extLst>
              <a:ext uri="{FF2B5EF4-FFF2-40B4-BE49-F238E27FC236}">
                <a16:creationId xmlns:a16="http://schemas.microsoft.com/office/drawing/2014/main" id="{DDB4BF06-35D7-3B8B-D5A7-737779A6D987}"/>
              </a:ext>
            </a:extLst>
          </p:cNvPr>
          <p:cNvSpPr/>
          <p:nvPr/>
        </p:nvSpPr>
        <p:spPr>
          <a:xfrm>
            <a:off x="7026935" y="6034560"/>
            <a:ext cx="1403141" cy="369332"/>
          </a:xfrm>
          <a:prstGeom prst="rect">
            <a:avLst/>
          </a:prstGeom>
        </p:spPr>
        <p:txBody>
          <a:bodyPr wrap="none">
            <a:spAutoFit/>
          </a:bodyPr>
          <a:lstStyle/>
          <a:p>
            <a:r>
              <a:rPr lang="en-US"/>
              <a:t>Thresholding</a:t>
            </a:r>
          </a:p>
        </p:txBody>
      </p:sp>
      <p:pic>
        <p:nvPicPr>
          <p:cNvPr id="20" name="Picture 2" descr="http://justin-liang.com/tutorials/canny/images/7_non_maximum_suppression.jpg">
            <a:extLst>
              <a:ext uri="{FF2B5EF4-FFF2-40B4-BE49-F238E27FC236}">
                <a16:creationId xmlns:a16="http://schemas.microsoft.com/office/drawing/2014/main" id="{B4EA1E69-EE3A-F52A-B7FF-169FB88D41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5901" y="3311359"/>
            <a:ext cx="2721775" cy="2721775"/>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8" descr="http://justin-liang.com/tutorials/canny/images/8_double_threshold.jpg">
            <a:extLst>
              <a:ext uri="{FF2B5EF4-FFF2-40B4-BE49-F238E27FC236}">
                <a16:creationId xmlns:a16="http://schemas.microsoft.com/office/drawing/2014/main" id="{33FA8E1A-5E7B-FD72-A89C-1DD58C9D85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7619" y="3309933"/>
            <a:ext cx="2721774" cy="2721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0907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27C7A-41CF-08F1-8F01-09984C11B84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E2775E4-3424-F6BB-FC32-05F192FACEF1}"/>
              </a:ext>
            </a:extLst>
          </p:cNvPr>
          <p:cNvSpPr txBox="1"/>
          <p:nvPr/>
        </p:nvSpPr>
        <p:spPr>
          <a:xfrm>
            <a:off x="191115" y="931008"/>
            <a:ext cx="4279127" cy="461665"/>
          </a:xfrm>
          <a:prstGeom prst="rect">
            <a:avLst/>
          </a:prstGeom>
          <a:noFill/>
        </p:spPr>
        <p:txBody>
          <a:bodyPr wrap="square" rtlCol="0">
            <a:spAutoFit/>
          </a:bodyPr>
          <a:lstStyle/>
          <a:p>
            <a:r>
              <a:rPr lang="en-US" altLang="ko-KR" sz="2400" i="1" dirty="0"/>
              <a:t>Edge Tracking by Hysteresis</a:t>
            </a:r>
            <a:endParaRPr lang="en-US" altLang="ko-KR" sz="2400" i="1" dirty="0">
              <a:solidFill>
                <a:srgbClr val="FF0000"/>
              </a:solidFill>
            </a:endParaRPr>
          </a:p>
        </p:txBody>
      </p:sp>
      <p:sp>
        <p:nvSpPr>
          <p:cNvPr id="5" name="TextBox 4">
            <a:extLst>
              <a:ext uri="{FF2B5EF4-FFF2-40B4-BE49-F238E27FC236}">
                <a16:creationId xmlns:a16="http://schemas.microsoft.com/office/drawing/2014/main" id="{593FBA4A-CD8E-725C-6DD0-6AB055A6DB92}"/>
              </a:ext>
            </a:extLst>
          </p:cNvPr>
          <p:cNvSpPr txBox="1"/>
          <p:nvPr/>
        </p:nvSpPr>
        <p:spPr>
          <a:xfrm>
            <a:off x="109348" y="407788"/>
            <a:ext cx="5635844" cy="523220"/>
          </a:xfrm>
          <a:prstGeom prst="rect">
            <a:avLst/>
          </a:prstGeom>
          <a:noFill/>
        </p:spPr>
        <p:txBody>
          <a:bodyPr wrap="square" rtlCol="0">
            <a:spAutoFit/>
          </a:bodyPr>
          <a:lstStyle/>
          <a:p>
            <a:r>
              <a:rPr lang="en-US" altLang="ko-KR" sz="2800" b="1" dirty="0"/>
              <a:t>Canny Edge Detector</a:t>
            </a:r>
          </a:p>
        </p:txBody>
      </p:sp>
      <p:sp>
        <p:nvSpPr>
          <p:cNvPr id="9" name="TextBox 8">
            <a:extLst>
              <a:ext uri="{FF2B5EF4-FFF2-40B4-BE49-F238E27FC236}">
                <a16:creationId xmlns:a16="http://schemas.microsoft.com/office/drawing/2014/main" id="{AF4E3990-D383-536F-F568-D34BE1169EEC}"/>
              </a:ext>
            </a:extLst>
          </p:cNvPr>
          <p:cNvSpPr txBox="1"/>
          <p:nvPr/>
        </p:nvSpPr>
        <p:spPr>
          <a:xfrm>
            <a:off x="191115" y="1392673"/>
            <a:ext cx="11809770" cy="400110"/>
          </a:xfrm>
          <a:prstGeom prst="rect">
            <a:avLst/>
          </a:prstGeom>
          <a:noFill/>
        </p:spPr>
        <p:txBody>
          <a:bodyPr wrap="square" rtlCol="0">
            <a:spAutoFit/>
          </a:bodyPr>
          <a:lstStyle/>
          <a:p>
            <a:pPr algn="just"/>
            <a:r>
              <a:rPr lang="en-US" altLang="ko-KR" sz="2000" dirty="0"/>
              <a:t>- Final step connects weak edges to strong edges if they are connected.</a:t>
            </a:r>
          </a:p>
        </p:txBody>
      </p:sp>
      <p:sp>
        <p:nvSpPr>
          <p:cNvPr id="10" name="TextBox 9">
            <a:extLst>
              <a:ext uri="{FF2B5EF4-FFF2-40B4-BE49-F238E27FC236}">
                <a16:creationId xmlns:a16="http://schemas.microsoft.com/office/drawing/2014/main" id="{8F0ED63D-6452-FF2C-FD74-39D7F3074866}"/>
              </a:ext>
            </a:extLst>
          </p:cNvPr>
          <p:cNvSpPr txBox="1"/>
          <p:nvPr/>
        </p:nvSpPr>
        <p:spPr>
          <a:xfrm>
            <a:off x="191115" y="1796795"/>
            <a:ext cx="8071939" cy="400110"/>
          </a:xfrm>
          <a:prstGeom prst="rect">
            <a:avLst/>
          </a:prstGeom>
          <a:noFill/>
        </p:spPr>
        <p:txBody>
          <a:bodyPr wrap="square" rtlCol="0">
            <a:spAutoFit/>
          </a:bodyPr>
          <a:lstStyle/>
          <a:p>
            <a:pPr algn="just"/>
            <a:r>
              <a:rPr lang="en-US" altLang="ko-KR" sz="2000" dirty="0"/>
              <a:t>- Weak edges that are connected to strong edges will be real edges.</a:t>
            </a:r>
          </a:p>
        </p:txBody>
      </p:sp>
      <p:sp>
        <p:nvSpPr>
          <p:cNvPr id="11" name="TextBox 10">
            <a:extLst>
              <a:ext uri="{FF2B5EF4-FFF2-40B4-BE49-F238E27FC236}">
                <a16:creationId xmlns:a16="http://schemas.microsoft.com/office/drawing/2014/main" id="{19DEA9B7-A292-074C-3542-A4C1C8BE4CB9}"/>
              </a:ext>
            </a:extLst>
          </p:cNvPr>
          <p:cNvSpPr txBox="1"/>
          <p:nvPr/>
        </p:nvSpPr>
        <p:spPr>
          <a:xfrm>
            <a:off x="191115" y="2196905"/>
            <a:ext cx="8071939" cy="400110"/>
          </a:xfrm>
          <a:prstGeom prst="rect">
            <a:avLst/>
          </a:prstGeom>
          <a:noFill/>
        </p:spPr>
        <p:txBody>
          <a:bodyPr wrap="square" rtlCol="0">
            <a:spAutoFit/>
          </a:bodyPr>
          <a:lstStyle/>
          <a:p>
            <a:pPr algn="just"/>
            <a:r>
              <a:rPr lang="en-US" altLang="ko-KR" sz="2000" dirty="0"/>
              <a:t>- Weak edges that are not connected to strong edges will be removed. </a:t>
            </a:r>
          </a:p>
        </p:txBody>
      </p:sp>
      <p:pic>
        <p:nvPicPr>
          <p:cNvPr id="14" name="Picture 8" descr="http://justin-liang.com/tutorials/canny/images/10_final.jpg">
            <a:extLst>
              <a:ext uri="{FF2B5EF4-FFF2-40B4-BE49-F238E27FC236}">
                <a16:creationId xmlns:a16="http://schemas.microsoft.com/office/drawing/2014/main" id="{B9AE2CD4-B534-186F-5C79-FC2A2A9D80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6917" y="3003153"/>
            <a:ext cx="2721775" cy="272177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8" descr="http://justin-liang.com/tutorials/canny/images/8_double_threshold.jpg">
            <a:extLst>
              <a:ext uri="{FF2B5EF4-FFF2-40B4-BE49-F238E27FC236}">
                <a16:creationId xmlns:a16="http://schemas.microsoft.com/office/drawing/2014/main" id="{EEC91037-5BE4-3128-B643-9F9601A3AF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5198" y="3003152"/>
            <a:ext cx="2721775" cy="2721775"/>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02172BA9-6D2A-E607-6178-3B74E263EF01}"/>
              </a:ext>
            </a:extLst>
          </p:cNvPr>
          <p:cNvSpPr/>
          <p:nvPr/>
        </p:nvSpPr>
        <p:spPr>
          <a:xfrm>
            <a:off x="3050922" y="5724928"/>
            <a:ext cx="2770328" cy="369332"/>
          </a:xfrm>
          <a:prstGeom prst="rect">
            <a:avLst/>
          </a:prstGeom>
        </p:spPr>
        <p:txBody>
          <a:bodyPr wrap="square">
            <a:spAutoFit/>
          </a:bodyPr>
          <a:lstStyle/>
          <a:p>
            <a:pPr algn="ctr" fontAlgn="base"/>
            <a:r>
              <a:rPr lang="en-US"/>
              <a:t>Thresholding</a:t>
            </a:r>
          </a:p>
        </p:txBody>
      </p:sp>
      <p:sp>
        <p:nvSpPr>
          <p:cNvPr id="17" name="Rectangle 16">
            <a:extLst>
              <a:ext uri="{FF2B5EF4-FFF2-40B4-BE49-F238E27FC236}">
                <a16:creationId xmlns:a16="http://schemas.microsoft.com/office/drawing/2014/main" id="{B22AFEBE-DB70-78F8-F39F-47CF0A3BE1B8}"/>
              </a:ext>
            </a:extLst>
          </p:cNvPr>
          <p:cNvSpPr/>
          <p:nvPr/>
        </p:nvSpPr>
        <p:spPr>
          <a:xfrm>
            <a:off x="6997636" y="5724927"/>
            <a:ext cx="1460336" cy="369332"/>
          </a:xfrm>
          <a:prstGeom prst="rect">
            <a:avLst/>
          </a:prstGeom>
        </p:spPr>
        <p:txBody>
          <a:bodyPr wrap="none">
            <a:spAutoFit/>
          </a:bodyPr>
          <a:lstStyle/>
          <a:p>
            <a:r>
              <a:rPr lang="en-US"/>
              <a:t>Edge Tracking</a:t>
            </a:r>
          </a:p>
        </p:txBody>
      </p:sp>
    </p:spTree>
    <p:extLst>
      <p:ext uri="{BB962C8B-B14F-4D97-AF65-F5344CB8AC3E}">
        <p14:creationId xmlns:p14="http://schemas.microsoft.com/office/powerpoint/2010/main" val="88980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93D40-C125-FC78-18EB-5E2BCF31497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8860EEE-9372-8BBE-768A-1D63C8E352B4}"/>
              </a:ext>
            </a:extLst>
          </p:cNvPr>
          <p:cNvSpPr txBox="1"/>
          <p:nvPr/>
        </p:nvSpPr>
        <p:spPr>
          <a:xfrm>
            <a:off x="191115" y="931008"/>
            <a:ext cx="4279127" cy="461665"/>
          </a:xfrm>
          <a:prstGeom prst="rect">
            <a:avLst/>
          </a:prstGeom>
          <a:noFill/>
        </p:spPr>
        <p:txBody>
          <a:bodyPr wrap="square" rtlCol="0">
            <a:spAutoFit/>
          </a:bodyPr>
          <a:lstStyle/>
          <a:p>
            <a:r>
              <a:rPr lang="en-US" altLang="ko-KR" sz="2400" i="1" dirty="0"/>
              <a:t>Recap</a:t>
            </a:r>
            <a:endParaRPr lang="en-US" altLang="ko-KR" sz="2400" i="1" dirty="0">
              <a:solidFill>
                <a:srgbClr val="FF0000"/>
              </a:solidFill>
            </a:endParaRPr>
          </a:p>
        </p:txBody>
      </p:sp>
      <p:sp>
        <p:nvSpPr>
          <p:cNvPr id="5" name="TextBox 4">
            <a:extLst>
              <a:ext uri="{FF2B5EF4-FFF2-40B4-BE49-F238E27FC236}">
                <a16:creationId xmlns:a16="http://schemas.microsoft.com/office/drawing/2014/main" id="{5C18A4A7-E0CD-721A-3EC7-47668B1C2FC6}"/>
              </a:ext>
            </a:extLst>
          </p:cNvPr>
          <p:cNvSpPr txBox="1"/>
          <p:nvPr/>
        </p:nvSpPr>
        <p:spPr>
          <a:xfrm>
            <a:off x="109348" y="407788"/>
            <a:ext cx="5635844" cy="523220"/>
          </a:xfrm>
          <a:prstGeom prst="rect">
            <a:avLst/>
          </a:prstGeom>
          <a:noFill/>
        </p:spPr>
        <p:txBody>
          <a:bodyPr wrap="square" rtlCol="0">
            <a:spAutoFit/>
          </a:bodyPr>
          <a:lstStyle/>
          <a:p>
            <a:r>
              <a:rPr lang="en-US" altLang="ko-KR" sz="2800" b="1" dirty="0"/>
              <a:t>Canny Edge Detector</a:t>
            </a:r>
          </a:p>
        </p:txBody>
      </p:sp>
      <p:pic>
        <p:nvPicPr>
          <p:cNvPr id="9" name="Picture 4" descr="http://justin-liang.com/tutorials/canny/images/1_original.jpg">
            <a:extLst>
              <a:ext uri="{FF2B5EF4-FFF2-40B4-BE49-F238E27FC236}">
                <a16:creationId xmlns:a16="http://schemas.microsoft.com/office/drawing/2014/main" id="{9D7E3FA2-F747-BF46-03BD-912803B931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2016" y="1559122"/>
            <a:ext cx="2203410" cy="220341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descr="http://justin-liang.com/tutorials/canny/images/3_gaussian.jpg">
            <a:extLst>
              <a:ext uri="{FF2B5EF4-FFF2-40B4-BE49-F238E27FC236}">
                <a16:creationId xmlns:a16="http://schemas.microsoft.com/office/drawing/2014/main" id="{F639C380-3088-8D7D-AEA9-93DE445FBE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1182" y="1559122"/>
            <a:ext cx="2203410" cy="220341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http://justin-liang.com/tutorials/canny/images/7_non_maximum_suppression.jpg">
            <a:extLst>
              <a:ext uri="{FF2B5EF4-FFF2-40B4-BE49-F238E27FC236}">
                <a16:creationId xmlns:a16="http://schemas.microsoft.com/office/drawing/2014/main" id="{40A1E0D6-30DF-0B65-1A41-9198C364DB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2016" y="3828641"/>
            <a:ext cx="2203410" cy="220341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http://justin-liang.com/tutorials/canny/images/6_gmag.jpg">
            <a:extLst>
              <a:ext uri="{FF2B5EF4-FFF2-40B4-BE49-F238E27FC236}">
                <a16:creationId xmlns:a16="http://schemas.microsoft.com/office/drawing/2014/main" id="{8B468056-5A0D-DF32-F55E-7D03D3439E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79289" y="1559122"/>
            <a:ext cx="2203410" cy="220341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descr="http://justin-liang.com/tutorials/canny/images/10_final.jpg">
            <a:extLst>
              <a:ext uri="{FF2B5EF4-FFF2-40B4-BE49-F238E27FC236}">
                <a16:creationId xmlns:a16="http://schemas.microsoft.com/office/drawing/2014/main" id="{FAB932E6-75F2-1A2C-FEC6-83A7EAB1248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79289" y="3831724"/>
            <a:ext cx="2203410" cy="220341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9BEF9B68-879A-F698-4926-B9D06CE7AA84}"/>
              </a:ext>
            </a:extLst>
          </p:cNvPr>
          <p:cNvSpPr/>
          <p:nvPr/>
        </p:nvSpPr>
        <p:spPr>
          <a:xfrm>
            <a:off x="3383881" y="1172895"/>
            <a:ext cx="950901" cy="369332"/>
          </a:xfrm>
          <a:prstGeom prst="rect">
            <a:avLst/>
          </a:prstGeom>
        </p:spPr>
        <p:txBody>
          <a:bodyPr wrap="none">
            <a:spAutoFit/>
          </a:bodyPr>
          <a:lstStyle/>
          <a:p>
            <a:r>
              <a:rPr lang="en-US">
                <a:latin typeface="Source Sans Pro" panose="020B0503030403020204" pitchFamily="34" charset="0"/>
              </a:rPr>
              <a:t>Original</a:t>
            </a:r>
            <a:endParaRPr lang="en-US"/>
          </a:p>
        </p:txBody>
      </p:sp>
      <p:sp>
        <p:nvSpPr>
          <p:cNvPr id="15" name="Rectangle 14">
            <a:extLst>
              <a:ext uri="{FF2B5EF4-FFF2-40B4-BE49-F238E27FC236}">
                <a16:creationId xmlns:a16="http://schemas.microsoft.com/office/drawing/2014/main" id="{46DA2A22-C237-28E4-DA91-AC2D73B10108}"/>
              </a:ext>
            </a:extLst>
          </p:cNvPr>
          <p:cNvSpPr/>
          <p:nvPr/>
        </p:nvSpPr>
        <p:spPr>
          <a:xfrm>
            <a:off x="5479540" y="1171172"/>
            <a:ext cx="1266693" cy="369332"/>
          </a:xfrm>
          <a:prstGeom prst="rect">
            <a:avLst/>
          </a:prstGeom>
        </p:spPr>
        <p:txBody>
          <a:bodyPr wrap="none">
            <a:spAutoFit/>
          </a:bodyPr>
          <a:lstStyle/>
          <a:p>
            <a:r>
              <a:rPr lang="en-US">
                <a:latin typeface="Source Sans Pro" panose="020B0503030403020204" pitchFamily="34" charset="0"/>
              </a:rPr>
              <a:t>Gray &amp; Blur</a:t>
            </a:r>
            <a:endParaRPr lang="en-US"/>
          </a:p>
        </p:txBody>
      </p:sp>
      <p:sp>
        <p:nvSpPr>
          <p:cNvPr id="16" name="Rectangle 15">
            <a:extLst>
              <a:ext uri="{FF2B5EF4-FFF2-40B4-BE49-F238E27FC236}">
                <a16:creationId xmlns:a16="http://schemas.microsoft.com/office/drawing/2014/main" id="{6B4A0613-05C7-FEBC-0744-47CDAE8417E7}"/>
              </a:ext>
            </a:extLst>
          </p:cNvPr>
          <p:cNvSpPr/>
          <p:nvPr/>
        </p:nvSpPr>
        <p:spPr>
          <a:xfrm>
            <a:off x="7328462" y="1171172"/>
            <a:ext cx="2105063" cy="369332"/>
          </a:xfrm>
          <a:prstGeom prst="rect">
            <a:avLst/>
          </a:prstGeom>
        </p:spPr>
        <p:txBody>
          <a:bodyPr wrap="none">
            <a:spAutoFit/>
          </a:bodyPr>
          <a:lstStyle/>
          <a:p>
            <a:r>
              <a:rPr lang="en-US">
                <a:latin typeface="Source Sans Pro" panose="020B0503030403020204" pitchFamily="34" charset="0"/>
              </a:rPr>
              <a:t>Gradient Magnitude</a:t>
            </a:r>
            <a:endParaRPr lang="en-US"/>
          </a:p>
        </p:txBody>
      </p:sp>
      <p:sp>
        <p:nvSpPr>
          <p:cNvPr id="17" name="Rectangle 16">
            <a:extLst>
              <a:ext uri="{FF2B5EF4-FFF2-40B4-BE49-F238E27FC236}">
                <a16:creationId xmlns:a16="http://schemas.microsoft.com/office/drawing/2014/main" id="{644DDA84-88D3-AF3E-184D-5EFDD377D425}"/>
              </a:ext>
            </a:extLst>
          </p:cNvPr>
          <p:cNvSpPr/>
          <p:nvPr/>
        </p:nvSpPr>
        <p:spPr>
          <a:xfrm>
            <a:off x="3035484" y="6033932"/>
            <a:ext cx="1636474" cy="646331"/>
          </a:xfrm>
          <a:prstGeom prst="rect">
            <a:avLst/>
          </a:prstGeom>
        </p:spPr>
        <p:txBody>
          <a:bodyPr wrap="none">
            <a:spAutoFit/>
          </a:bodyPr>
          <a:lstStyle/>
          <a:p>
            <a:pPr algn="ctr"/>
            <a:r>
              <a:rPr lang="en-US"/>
              <a:t>Non-maximum </a:t>
            </a:r>
          </a:p>
          <a:p>
            <a:pPr algn="ctr"/>
            <a:r>
              <a:rPr lang="en-US"/>
              <a:t>Suppression</a:t>
            </a:r>
          </a:p>
        </p:txBody>
      </p:sp>
      <p:sp>
        <p:nvSpPr>
          <p:cNvPr id="18" name="Rectangle 17">
            <a:extLst>
              <a:ext uri="{FF2B5EF4-FFF2-40B4-BE49-F238E27FC236}">
                <a16:creationId xmlns:a16="http://schemas.microsoft.com/office/drawing/2014/main" id="{36DCCABD-D5A2-9628-9514-853ED2062B05}"/>
              </a:ext>
            </a:extLst>
          </p:cNvPr>
          <p:cNvSpPr/>
          <p:nvPr/>
        </p:nvSpPr>
        <p:spPr>
          <a:xfrm>
            <a:off x="6980827" y="6032051"/>
            <a:ext cx="2800332" cy="369332"/>
          </a:xfrm>
          <a:prstGeom prst="rect">
            <a:avLst/>
          </a:prstGeom>
        </p:spPr>
        <p:txBody>
          <a:bodyPr wrap="square">
            <a:spAutoFit/>
          </a:bodyPr>
          <a:lstStyle/>
          <a:p>
            <a:pPr algn="ctr"/>
            <a:r>
              <a:rPr lang="en-US">
                <a:latin typeface="Source Sans Pro" panose="020B0503030403020204" pitchFamily="34" charset="0"/>
              </a:rPr>
              <a:t>Hysteresis Tracking</a:t>
            </a:r>
            <a:endParaRPr lang="en-US"/>
          </a:p>
        </p:txBody>
      </p:sp>
      <p:pic>
        <p:nvPicPr>
          <p:cNvPr id="19" name="Picture 8" descr="http://justin-liang.com/tutorials/canny/images/8_double_threshold.jpg">
            <a:extLst>
              <a:ext uri="{FF2B5EF4-FFF2-40B4-BE49-F238E27FC236}">
                <a16:creationId xmlns:a16="http://schemas.microsoft.com/office/drawing/2014/main" id="{A94431DC-E8F1-360C-8735-03A6FDEAAAF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11182" y="3822741"/>
            <a:ext cx="2203410" cy="2230088"/>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a:extLst>
              <a:ext uri="{FF2B5EF4-FFF2-40B4-BE49-F238E27FC236}">
                <a16:creationId xmlns:a16="http://schemas.microsoft.com/office/drawing/2014/main" id="{EA8C17BB-E793-AC96-CFFF-0D5B7267540C}"/>
              </a:ext>
            </a:extLst>
          </p:cNvPr>
          <p:cNvSpPr/>
          <p:nvPr/>
        </p:nvSpPr>
        <p:spPr>
          <a:xfrm>
            <a:off x="5447448" y="6032051"/>
            <a:ext cx="1460656" cy="369332"/>
          </a:xfrm>
          <a:prstGeom prst="rect">
            <a:avLst/>
          </a:prstGeom>
        </p:spPr>
        <p:txBody>
          <a:bodyPr wrap="none">
            <a:spAutoFit/>
          </a:bodyPr>
          <a:lstStyle/>
          <a:p>
            <a:r>
              <a:rPr lang="en-US">
                <a:latin typeface="Source Sans Pro" panose="020B0503030403020204" pitchFamily="34" charset="0"/>
              </a:rPr>
              <a:t>Thresholding</a:t>
            </a:r>
            <a:endParaRPr lang="en-US"/>
          </a:p>
        </p:txBody>
      </p:sp>
    </p:spTree>
    <p:extLst>
      <p:ext uri="{BB962C8B-B14F-4D97-AF65-F5344CB8AC3E}">
        <p14:creationId xmlns:p14="http://schemas.microsoft.com/office/powerpoint/2010/main" val="2907585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84030-C928-73FB-F567-95E889491C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E947FE-4FD8-81A5-D3E4-BB5024EF3BB9}"/>
              </a:ext>
            </a:extLst>
          </p:cNvPr>
          <p:cNvSpPr txBox="1"/>
          <p:nvPr/>
        </p:nvSpPr>
        <p:spPr>
          <a:xfrm>
            <a:off x="3099381" y="2505795"/>
            <a:ext cx="4872669" cy="1429622"/>
          </a:xfrm>
          <a:prstGeom prst="rect">
            <a:avLst/>
          </a:prstGeom>
          <a:noFill/>
        </p:spPr>
        <p:txBody>
          <a:bodyPr wrap="square" rtlCol="0">
            <a:spAutoFit/>
          </a:bodyPr>
          <a:lstStyle/>
          <a:p>
            <a:pPr>
              <a:lnSpc>
                <a:spcPct val="150000"/>
              </a:lnSpc>
            </a:pPr>
            <a:r>
              <a:rPr lang="en-US" altLang="ko-KR" sz="2000" b="1" dirty="0">
                <a:solidFill>
                  <a:schemeClr val="bg1">
                    <a:lumMod val="85000"/>
                  </a:schemeClr>
                </a:solidFill>
              </a:rPr>
              <a:t>Edge Detection</a:t>
            </a:r>
          </a:p>
          <a:p>
            <a:pPr>
              <a:lnSpc>
                <a:spcPct val="150000"/>
              </a:lnSpc>
            </a:pPr>
            <a:r>
              <a:rPr lang="en-US" altLang="ko-KR" sz="2000" b="1" dirty="0">
                <a:solidFill>
                  <a:schemeClr val="bg1">
                    <a:lumMod val="85000"/>
                  </a:schemeClr>
                </a:solidFill>
              </a:rPr>
              <a:t>Canny Edge Detector</a:t>
            </a:r>
          </a:p>
          <a:p>
            <a:pPr>
              <a:lnSpc>
                <a:spcPct val="150000"/>
              </a:lnSpc>
            </a:pPr>
            <a:r>
              <a:rPr lang="en-US" altLang="ko-KR" sz="2000" b="1" dirty="0"/>
              <a:t>Edge Linking</a:t>
            </a:r>
          </a:p>
        </p:txBody>
      </p:sp>
    </p:spTree>
    <p:extLst>
      <p:ext uri="{BB962C8B-B14F-4D97-AF65-F5344CB8AC3E}">
        <p14:creationId xmlns:p14="http://schemas.microsoft.com/office/powerpoint/2010/main" val="7845304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48852-3CC6-1C3C-8A6F-55A92BF5344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9914691F-470B-1194-598C-4D9747539528}"/>
              </a:ext>
            </a:extLst>
          </p:cNvPr>
          <p:cNvSpPr txBox="1"/>
          <p:nvPr/>
        </p:nvSpPr>
        <p:spPr>
          <a:xfrm>
            <a:off x="191115" y="931008"/>
            <a:ext cx="4279127" cy="461665"/>
          </a:xfrm>
          <a:prstGeom prst="rect">
            <a:avLst/>
          </a:prstGeom>
          <a:noFill/>
        </p:spPr>
        <p:txBody>
          <a:bodyPr wrap="square" rtlCol="0">
            <a:spAutoFit/>
          </a:bodyPr>
          <a:lstStyle/>
          <a:p>
            <a:r>
              <a:rPr lang="en-US" altLang="ko-KR" sz="2400" i="1" dirty="0"/>
              <a:t>Concept</a:t>
            </a:r>
          </a:p>
        </p:txBody>
      </p:sp>
      <p:sp>
        <p:nvSpPr>
          <p:cNvPr id="10" name="TextBox 9">
            <a:extLst>
              <a:ext uri="{FF2B5EF4-FFF2-40B4-BE49-F238E27FC236}">
                <a16:creationId xmlns:a16="http://schemas.microsoft.com/office/drawing/2014/main" id="{F8077E23-6924-089B-5AC5-F76D9E8BDF5B}"/>
              </a:ext>
            </a:extLst>
          </p:cNvPr>
          <p:cNvSpPr txBox="1"/>
          <p:nvPr/>
        </p:nvSpPr>
        <p:spPr>
          <a:xfrm>
            <a:off x="109348" y="407788"/>
            <a:ext cx="3848316" cy="523220"/>
          </a:xfrm>
          <a:prstGeom prst="rect">
            <a:avLst/>
          </a:prstGeom>
          <a:noFill/>
        </p:spPr>
        <p:txBody>
          <a:bodyPr wrap="square" rtlCol="0">
            <a:spAutoFit/>
          </a:bodyPr>
          <a:lstStyle/>
          <a:p>
            <a:r>
              <a:rPr lang="en-US" altLang="ko-KR" sz="2800" b="1" dirty="0"/>
              <a:t>Edge Linking</a:t>
            </a:r>
          </a:p>
        </p:txBody>
      </p:sp>
      <p:sp>
        <p:nvSpPr>
          <p:cNvPr id="2" name="TextBox 1">
            <a:extLst>
              <a:ext uri="{FF2B5EF4-FFF2-40B4-BE49-F238E27FC236}">
                <a16:creationId xmlns:a16="http://schemas.microsoft.com/office/drawing/2014/main" id="{AB8BAF3C-714B-C558-873B-C881AB913288}"/>
              </a:ext>
            </a:extLst>
          </p:cNvPr>
          <p:cNvSpPr txBox="1"/>
          <p:nvPr/>
        </p:nvSpPr>
        <p:spPr>
          <a:xfrm>
            <a:off x="191115" y="1392673"/>
            <a:ext cx="11809770" cy="707886"/>
          </a:xfrm>
          <a:prstGeom prst="rect">
            <a:avLst/>
          </a:prstGeom>
          <a:noFill/>
        </p:spPr>
        <p:txBody>
          <a:bodyPr wrap="square" rtlCol="0">
            <a:spAutoFit/>
          </a:bodyPr>
          <a:lstStyle/>
          <a:p>
            <a:pPr algn="just"/>
            <a:r>
              <a:rPr lang="en-US" altLang="ko-KR" sz="2000" dirty="0"/>
              <a:t>- Edge linking in image processing is the process of connecting discrete edge points identified by edge detection algorithms into continuous lines or curves.</a:t>
            </a:r>
            <a:endParaRPr lang="en-US" altLang="ko-KR" sz="2000" dirty="0">
              <a:solidFill>
                <a:srgbClr val="FF0000"/>
              </a:solidFill>
            </a:endParaRPr>
          </a:p>
        </p:txBody>
      </p:sp>
      <p:sp>
        <p:nvSpPr>
          <p:cNvPr id="3" name="TextBox 2">
            <a:extLst>
              <a:ext uri="{FF2B5EF4-FFF2-40B4-BE49-F238E27FC236}">
                <a16:creationId xmlns:a16="http://schemas.microsoft.com/office/drawing/2014/main" id="{C8F8BFDE-E745-E6FA-42AA-7208A5379CE6}"/>
              </a:ext>
            </a:extLst>
          </p:cNvPr>
          <p:cNvSpPr txBox="1"/>
          <p:nvPr/>
        </p:nvSpPr>
        <p:spPr>
          <a:xfrm>
            <a:off x="191115" y="2100559"/>
            <a:ext cx="11809770" cy="707886"/>
          </a:xfrm>
          <a:prstGeom prst="rect">
            <a:avLst/>
          </a:prstGeom>
          <a:noFill/>
        </p:spPr>
        <p:txBody>
          <a:bodyPr wrap="square" rtlCol="0">
            <a:spAutoFit/>
          </a:bodyPr>
          <a:lstStyle/>
          <a:p>
            <a:pPr algn="just"/>
            <a:r>
              <a:rPr lang="en-US" altLang="ko-KR" sz="2000" dirty="0"/>
              <a:t>- This helps to improve the accuracy and robustness of edge detection by grouping together nearby edge pixels that likely belong to the same boundary.</a:t>
            </a:r>
            <a:endParaRPr lang="en-US" altLang="ko-KR" sz="2000" dirty="0">
              <a:solidFill>
                <a:srgbClr val="FF0000"/>
              </a:solidFill>
            </a:endParaRPr>
          </a:p>
        </p:txBody>
      </p:sp>
      <p:pic>
        <p:nvPicPr>
          <p:cNvPr id="5122" name="Picture 2" descr="An example of the edge linking process. A -input image, B -edge... |  Download Scientific Diagram">
            <a:extLst>
              <a:ext uri="{FF2B5EF4-FFF2-40B4-BE49-F238E27FC236}">
                <a16:creationId xmlns:a16="http://schemas.microsoft.com/office/drawing/2014/main" id="{5A2AAB63-1E39-FE2B-2DE8-74ABBC25A9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5980" y="3516331"/>
            <a:ext cx="7020040" cy="1806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5314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48852-3CC6-1C3C-8A6F-55A92BF5344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9914691F-470B-1194-598C-4D9747539528}"/>
              </a:ext>
            </a:extLst>
          </p:cNvPr>
          <p:cNvSpPr txBox="1"/>
          <p:nvPr/>
        </p:nvSpPr>
        <p:spPr>
          <a:xfrm>
            <a:off x="191115" y="931008"/>
            <a:ext cx="4279127" cy="461665"/>
          </a:xfrm>
          <a:prstGeom prst="rect">
            <a:avLst/>
          </a:prstGeom>
          <a:noFill/>
        </p:spPr>
        <p:txBody>
          <a:bodyPr wrap="square" rtlCol="0">
            <a:spAutoFit/>
          </a:bodyPr>
          <a:lstStyle/>
          <a:p>
            <a:r>
              <a:rPr lang="en-US" altLang="ko-KR" sz="2400" i="1" dirty="0"/>
              <a:t>Techniques</a:t>
            </a:r>
          </a:p>
        </p:txBody>
      </p:sp>
      <p:sp>
        <p:nvSpPr>
          <p:cNvPr id="10" name="TextBox 9">
            <a:extLst>
              <a:ext uri="{FF2B5EF4-FFF2-40B4-BE49-F238E27FC236}">
                <a16:creationId xmlns:a16="http://schemas.microsoft.com/office/drawing/2014/main" id="{F8077E23-6924-089B-5AC5-F76D9E8BDF5B}"/>
              </a:ext>
            </a:extLst>
          </p:cNvPr>
          <p:cNvSpPr txBox="1"/>
          <p:nvPr/>
        </p:nvSpPr>
        <p:spPr>
          <a:xfrm>
            <a:off x="109348" y="407788"/>
            <a:ext cx="3848316" cy="523220"/>
          </a:xfrm>
          <a:prstGeom prst="rect">
            <a:avLst/>
          </a:prstGeom>
          <a:noFill/>
        </p:spPr>
        <p:txBody>
          <a:bodyPr wrap="square" rtlCol="0">
            <a:spAutoFit/>
          </a:bodyPr>
          <a:lstStyle/>
          <a:p>
            <a:r>
              <a:rPr lang="en-US" altLang="ko-KR" sz="2800" b="1" dirty="0"/>
              <a:t>Edge Linking</a:t>
            </a:r>
          </a:p>
        </p:txBody>
      </p:sp>
      <p:sp>
        <p:nvSpPr>
          <p:cNvPr id="4" name="TextBox 3">
            <a:extLst>
              <a:ext uri="{FF2B5EF4-FFF2-40B4-BE49-F238E27FC236}">
                <a16:creationId xmlns:a16="http://schemas.microsoft.com/office/drawing/2014/main" id="{F653029A-EF1F-652C-667C-C2036F674987}"/>
              </a:ext>
            </a:extLst>
          </p:cNvPr>
          <p:cNvSpPr txBox="1"/>
          <p:nvPr/>
        </p:nvSpPr>
        <p:spPr>
          <a:xfrm>
            <a:off x="191114" y="1392673"/>
            <a:ext cx="5496007" cy="1015663"/>
          </a:xfrm>
          <a:prstGeom prst="rect">
            <a:avLst/>
          </a:prstGeom>
          <a:noFill/>
        </p:spPr>
        <p:txBody>
          <a:bodyPr wrap="square" rtlCol="0">
            <a:spAutoFit/>
          </a:bodyPr>
          <a:lstStyle/>
          <a:p>
            <a:pPr algn="just"/>
            <a:r>
              <a:rPr lang="en-US" altLang="ko-KR" sz="2000" dirty="0"/>
              <a:t>- </a:t>
            </a:r>
            <a:r>
              <a:rPr lang="en-US" altLang="ko-KR" sz="2000" b="1" dirty="0"/>
              <a:t>Local Edge Linking</a:t>
            </a:r>
            <a:r>
              <a:rPr lang="en-US" altLang="ko-KR" sz="2000" dirty="0"/>
              <a:t>: edge points are grouped to form edges by considering each point's relationship to </a:t>
            </a:r>
            <a:r>
              <a:rPr lang="en-US" altLang="ko-KR" sz="2000" dirty="0" err="1"/>
              <a:t>neighbouring</a:t>
            </a:r>
            <a:r>
              <a:rPr lang="en-US" altLang="ko-KR" sz="2000" dirty="0"/>
              <a:t> edge points.</a:t>
            </a:r>
            <a:endParaRPr lang="en-US" altLang="ko-KR" sz="2000" dirty="0">
              <a:solidFill>
                <a:srgbClr val="FF0000"/>
              </a:solidFill>
            </a:endParaRPr>
          </a:p>
        </p:txBody>
      </p:sp>
      <p:sp>
        <p:nvSpPr>
          <p:cNvPr id="5" name="TextBox 4">
            <a:extLst>
              <a:ext uri="{FF2B5EF4-FFF2-40B4-BE49-F238E27FC236}">
                <a16:creationId xmlns:a16="http://schemas.microsoft.com/office/drawing/2014/main" id="{26206527-C369-F293-5F8E-7F83941EED88}"/>
              </a:ext>
            </a:extLst>
          </p:cNvPr>
          <p:cNvSpPr txBox="1"/>
          <p:nvPr/>
        </p:nvSpPr>
        <p:spPr>
          <a:xfrm>
            <a:off x="191114" y="3581665"/>
            <a:ext cx="11551119" cy="707886"/>
          </a:xfrm>
          <a:prstGeom prst="rect">
            <a:avLst/>
          </a:prstGeom>
          <a:noFill/>
        </p:spPr>
        <p:txBody>
          <a:bodyPr wrap="square" rtlCol="0">
            <a:spAutoFit/>
          </a:bodyPr>
          <a:lstStyle/>
          <a:p>
            <a:pPr algn="just"/>
            <a:r>
              <a:rPr lang="en-US" altLang="ko-KR" sz="2000" dirty="0"/>
              <a:t>- </a:t>
            </a:r>
            <a:r>
              <a:rPr lang="en-US" sz="2000" b="1" dirty="0"/>
              <a:t>Global Edge Linking</a:t>
            </a:r>
            <a:r>
              <a:rPr lang="en-US" sz="2000" dirty="0"/>
              <a:t>: edge points in the image plane are considered at the same time and sets of edge points are sought according to some similarity constraint, such as points which share the same edge equation.</a:t>
            </a:r>
            <a:endParaRPr lang="en-US" altLang="ko-KR" sz="2000" dirty="0">
              <a:solidFill>
                <a:srgbClr val="FF0000"/>
              </a:solidFill>
            </a:endParaRPr>
          </a:p>
        </p:txBody>
      </p:sp>
      <p:pic>
        <p:nvPicPr>
          <p:cNvPr id="6146" name="Picture 2" descr="Local Edge Linking Methods">
            <a:extLst>
              <a:ext uri="{FF2B5EF4-FFF2-40B4-BE49-F238E27FC236}">
                <a16:creationId xmlns:a16="http://schemas.microsoft.com/office/drawing/2014/main" id="{8FB27A4D-BACC-33D4-0D55-501D47793D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51524" y="1200751"/>
            <a:ext cx="2766665" cy="154933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A77B967-7CF9-1F16-AF3E-DBEF7F7D22A7}"/>
              </a:ext>
            </a:extLst>
          </p:cNvPr>
          <p:cNvSpPr/>
          <p:nvPr/>
        </p:nvSpPr>
        <p:spPr>
          <a:xfrm>
            <a:off x="6807360" y="969918"/>
            <a:ext cx="3256156" cy="200510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TextBox 6">
            <a:extLst>
              <a:ext uri="{FF2B5EF4-FFF2-40B4-BE49-F238E27FC236}">
                <a16:creationId xmlns:a16="http://schemas.microsoft.com/office/drawing/2014/main" id="{162AF050-36AF-43A0-EE6E-C4764239BC2D}"/>
              </a:ext>
            </a:extLst>
          </p:cNvPr>
          <p:cNvSpPr txBox="1"/>
          <p:nvPr/>
        </p:nvSpPr>
        <p:spPr>
          <a:xfrm>
            <a:off x="34184" y="6493808"/>
            <a:ext cx="10113426" cy="338554"/>
          </a:xfrm>
          <a:prstGeom prst="rect">
            <a:avLst/>
          </a:prstGeom>
          <a:noFill/>
        </p:spPr>
        <p:txBody>
          <a:bodyPr wrap="square" rtlCol="0">
            <a:spAutoFit/>
          </a:bodyPr>
          <a:lstStyle/>
          <a:p>
            <a:pPr algn="just"/>
            <a:r>
              <a:rPr lang="en-US" altLang="ko-KR" sz="1600" dirty="0"/>
              <a:t>Ref: </a:t>
            </a:r>
            <a:r>
              <a:rPr lang="en-US" altLang="ko-KR" sz="1600" dirty="0">
                <a:hlinkClick r:id="rId3"/>
              </a:rPr>
              <a:t>Edge Linking</a:t>
            </a:r>
            <a:endParaRPr lang="en-US" altLang="ko-KR" sz="1600" dirty="0">
              <a:solidFill>
                <a:srgbClr val="FF0000"/>
              </a:solidFill>
            </a:endParaRPr>
          </a:p>
        </p:txBody>
      </p:sp>
      <p:pic>
        <p:nvPicPr>
          <p:cNvPr id="6148" name="Picture 4" descr="A Complete Guide on Hough Transform - Analytics Vidhya">
            <a:extLst>
              <a:ext uri="{FF2B5EF4-FFF2-40B4-BE49-F238E27FC236}">
                <a16:creationId xmlns:a16="http://schemas.microsoft.com/office/drawing/2014/main" id="{8AB804EF-424E-C15C-6989-05D0032F23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7664" y="4491631"/>
            <a:ext cx="3595438" cy="1840522"/>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Original image of Lane 2 | A Complete Guide on Hough Transform">
            <a:extLst>
              <a:ext uri="{FF2B5EF4-FFF2-40B4-BE49-F238E27FC236}">
                <a16:creationId xmlns:a16="http://schemas.microsoft.com/office/drawing/2014/main" id="{46B8548D-EF2D-21A4-A436-7979DF426F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3102" y="4491631"/>
            <a:ext cx="3595438" cy="184511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077A3A9-6620-0574-DB0B-41B9025B7182}"/>
              </a:ext>
            </a:extLst>
          </p:cNvPr>
          <p:cNvSpPr txBox="1"/>
          <p:nvPr/>
        </p:nvSpPr>
        <p:spPr>
          <a:xfrm>
            <a:off x="1828098" y="5211837"/>
            <a:ext cx="2222038" cy="400110"/>
          </a:xfrm>
          <a:prstGeom prst="rect">
            <a:avLst/>
          </a:prstGeom>
          <a:noFill/>
        </p:spPr>
        <p:txBody>
          <a:bodyPr wrap="square" rtlCol="0">
            <a:spAutoFit/>
          </a:bodyPr>
          <a:lstStyle/>
          <a:p>
            <a:pPr algn="just"/>
            <a:r>
              <a:rPr lang="en-US" altLang="ko-KR" sz="2000" dirty="0"/>
              <a:t>Hough Transform</a:t>
            </a:r>
          </a:p>
        </p:txBody>
      </p:sp>
    </p:spTree>
    <p:extLst>
      <p:ext uri="{BB962C8B-B14F-4D97-AF65-F5344CB8AC3E}">
        <p14:creationId xmlns:p14="http://schemas.microsoft.com/office/powerpoint/2010/main" val="9591416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C79C5-28B9-093F-E79B-BD1DB47A2E4C}"/>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564B73BC-F930-0895-1265-A71BD73F6E09}"/>
              </a:ext>
            </a:extLst>
          </p:cNvPr>
          <p:cNvSpPr txBox="1"/>
          <p:nvPr/>
        </p:nvSpPr>
        <p:spPr>
          <a:xfrm>
            <a:off x="109347" y="407788"/>
            <a:ext cx="7504955" cy="523220"/>
          </a:xfrm>
          <a:prstGeom prst="rect">
            <a:avLst/>
          </a:prstGeom>
          <a:noFill/>
        </p:spPr>
        <p:txBody>
          <a:bodyPr wrap="square" rtlCol="0">
            <a:spAutoFit/>
          </a:bodyPr>
          <a:lstStyle/>
          <a:p>
            <a:r>
              <a:rPr lang="en-US" altLang="ko-KR" sz="2800" b="1" dirty="0"/>
              <a:t>Edge Detection and Linking</a:t>
            </a:r>
          </a:p>
        </p:txBody>
      </p:sp>
      <p:sp>
        <p:nvSpPr>
          <p:cNvPr id="2" name="TextBox 1">
            <a:extLst>
              <a:ext uri="{FF2B5EF4-FFF2-40B4-BE49-F238E27FC236}">
                <a16:creationId xmlns:a16="http://schemas.microsoft.com/office/drawing/2014/main" id="{0914D72E-18BD-E734-CA98-DBD1302D3350}"/>
              </a:ext>
            </a:extLst>
          </p:cNvPr>
          <p:cNvSpPr txBox="1"/>
          <p:nvPr/>
        </p:nvSpPr>
        <p:spPr>
          <a:xfrm>
            <a:off x="191115" y="931008"/>
            <a:ext cx="4279127" cy="461665"/>
          </a:xfrm>
          <a:prstGeom prst="rect">
            <a:avLst/>
          </a:prstGeom>
          <a:noFill/>
        </p:spPr>
        <p:txBody>
          <a:bodyPr wrap="square" rtlCol="0">
            <a:spAutoFit/>
          </a:bodyPr>
          <a:lstStyle/>
          <a:p>
            <a:r>
              <a:rPr lang="en-US" altLang="ko-KR" sz="2400" i="1" dirty="0"/>
              <a:t>Practice</a:t>
            </a:r>
            <a:endParaRPr lang="en-US" altLang="ko-KR" sz="2400" i="1" dirty="0">
              <a:solidFill>
                <a:srgbClr val="FF0000"/>
              </a:solidFill>
            </a:endParaRPr>
          </a:p>
        </p:txBody>
      </p:sp>
      <p:sp>
        <p:nvSpPr>
          <p:cNvPr id="7" name="TextBox 6">
            <a:extLst>
              <a:ext uri="{FF2B5EF4-FFF2-40B4-BE49-F238E27FC236}">
                <a16:creationId xmlns:a16="http://schemas.microsoft.com/office/drawing/2014/main" id="{0815A277-F9A1-779B-FD38-B4266B677248}"/>
              </a:ext>
            </a:extLst>
          </p:cNvPr>
          <p:cNvSpPr txBox="1"/>
          <p:nvPr/>
        </p:nvSpPr>
        <p:spPr>
          <a:xfrm>
            <a:off x="337872" y="1392673"/>
            <a:ext cx="6187107" cy="400110"/>
          </a:xfrm>
          <a:prstGeom prst="rect">
            <a:avLst/>
          </a:prstGeom>
          <a:noFill/>
        </p:spPr>
        <p:txBody>
          <a:bodyPr wrap="square" rtlCol="0">
            <a:spAutoFit/>
          </a:bodyPr>
          <a:lstStyle/>
          <a:p>
            <a:pPr algn="just"/>
            <a:r>
              <a:rPr lang="en-US" altLang="ko-KR" sz="2000" dirty="0"/>
              <a:t>- Canny Edge Detector</a:t>
            </a:r>
          </a:p>
        </p:txBody>
      </p:sp>
    </p:spTree>
    <p:extLst>
      <p:ext uri="{BB962C8B-B14F-4D97-AF65-F5344CB8AC3E}">
        <p14:creationId xmlns:p14="http://schemas.microsoft.com/office/powerpoint/2010/main" val="1162992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42224" y="2852184"/>
            <a:ext cx="5307549" cy="707886"/>
          </a:xfrm>
          <a:prstGeom prst="rect">
            <a:avLst/>
          </a:prstGeom>
          <a:noFill/>
        </p:spPr>
        <p:txBody>
          <a:bodyPr wrap="square" rtlCol="0">
            <a:spAutoFit/>
          </a:bodyPr>
          <a:lstStyle/>
          <a:p>
            <a:pPr algn="ctr"/>
            <a:r>
              <a:rPr lang="en-US" sz="4000" dirty="0"/>
              <a:t>Thank You</a:t>
            </a:r>
          </a:p>
        </p:txBody>
      </p:sp>
      <p:sp>
        <p:nvSpPr>
          <p:cNvPr id="3" name="TextBox 2"/>
          <p:cNvSpPr txBox="1"/>
          <p:nvPr/>
        </p:nvSpPr>
        <p:spPr>
          <a:xfrm>
            <a:off x="5230902" y="3651873"/>
            <a:ext cx="1730195" cy="284052"/>
          </a:xfrm>
          <a:prstGeom prst="rect">
            <a:avLst/>
          </a:prstGeom>
          <a:noFill/>
        </p:spPr>
        <p:txBody>
          <a:bodyPr wrap="square" rtlCol="0">
            <a:spAutoFit/>
          </a:bodyPr>
          <a:lstStyle/>
          <a:p>
            <a:pPr algn="ctr"/>
            <a:r>
              <a:rPr lang="en-US" sz="1246" dirty="0"/>
              <a:t>anhtl@ut.edu.vn</a:t>
            </a:r>
          </a:p>
        </p:txBody>
      </p:sp>
      <p:sp>
        <p:nvSpPr>
          <p:cNvPr id="4" name="Rectangle 3"/>
          <p:cNvSpPr/>
          <p:nvPr/>
        </p:nvSpPr>
        <p:spPr>
          <a:xfrm>
            <a:off x="9213274" y="6542116"/>
            <a:ext cx="1454727" cy="31588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00234906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113994</TotalTime>
  <Words>897</Words>
  <Application>Microsoft Office PowerPoint</Application>
  <PresentationFormat>Widescreen</PresentationFormat>
  <Paragraphs>170</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Calibri Light</vt:lpstr>
      <vt:lpstr>Cambria Math</vt:lpstr>
      <vt:lpstr>Source Sans Pro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Tran Le Anh</cp:lastModifiedBy>
  <cp:revision>6479</cp:revision>
  <cp:lastPrinted>2021-09-06T03:39:39Z</cp:lastPrinted>
  <dcterms:created xsi:type="dcterms:W3CDTF">2020-10-10T03:17:57Z</dcterms:created>
  <dcterms:modified xsi:type="dcterms:W3CDTF">2025-04-14T07:39:50Z</dcterms:modified>
</cp:coreProperties>
</file>