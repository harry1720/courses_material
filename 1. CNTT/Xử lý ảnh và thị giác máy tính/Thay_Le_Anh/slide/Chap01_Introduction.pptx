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61" r:id="rId2"/>
    <p:sldId id="331" r:id="rId3"/>
    <p:sldId id="1777" r:id="rId4"/>
    <p:sldId id="1781" r:id="rId5"/>
    <p:sldId id="1783" r:id="rId6"/>
    <p:sldId id="1782" r:id="rId7"/>
    <p:sldId id="1784" r:id="rId8"/>
    <p:sldId id="1778" r:id="rId9"/>
    <p:sldId id="1785" r:id="rId10"/>
    <p:sldId id="1786" r:id="rId11"/>
    <p:sldId id="1787" r:id="rId12"/>
    <p:sldId id="1790" r:id="rId13"/>
    <p:sldId id="1800" r:id="rId14"/>
    <p:sldId id="1792" r:id="rId15"/>
    <p:sldId id="1779" r:id="rId16"/>
    <p:sldId id="1793" r:id="rId17"/>
    <p:sldId id="1802" r:id="rId18"/>
    <p:sldId id="1791" r:id="rId19"/>
    <p:sldId id="1799" r:id="rId20"/>
    <p:sldId id="1794" r:id="rId21"/>
    <p:sldId id="1795" r:id="rId22"/>
    <p:sldId id="1803" r:id="rId23"/>
    <p:sldId id="1804" r:id="rId24"/>
    <p:sldId id="267" r:id="rId25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3988" autoAdjust="0"/>
  </p:normalViewPr>
  <p:slideViewPr>
    <p:cSldViewPr snapToGrid="0">
      <p:cViewPr varScale="1">
        <p:scale>
          <a:sx n="112" d="100"/>
          <a:sy n="112" d="100"/>
        </p:scale>
        <p:origin x="834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zure.microsoft.com/en-us/resources/cloud-computing-dictionary/what-is-computer-vis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tsdatascience.com/learn/history/history-of-computer-vision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590" y="2751061"/>
            <a:ext cx="71628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03-2025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099381" y="2505795"/>
            <a:ext cx="4872669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Evolution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87719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E89BEA-49EC-4DC2-A90D-101FD25CEF0C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Computer Vision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9E5F0-ADD6-4AEE-AC49-6E3FFFD5E25E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CFD9E-7DF1-0161-3EBA-86201B3477C6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Computer vision is a field of computer science that focuses on enabling computers to identify and understand objects and people in images and videos.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C54A9-9985-C504-2422-DEB400817EF3}"/>
              </a:ext>
            </a:extLst>
          </p:cNvPr>
          <p:cNvSpPr txBox="1"/>
          <p:nvPr/>
        </p:nvSpPr>
        <p:spPr>
          <a:xfrm>
            <a:off x="34184" y="6493808"/>
            <a:ext cx="9673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Source: </a:t>
            </a:r>
            <a:r>
              <a:rPr lang="en-US" altLang="ko-KR" sz="1600" dirty="0">
                <a:hlinkClick r:id="rId2"/>
              </a:rPr>
              <a:t>https://azure.microsoft.com/en-us/resources/cloud-computing-dictionary/what-is-computer-vision</a:t>
            </a:r>
            <a:r>
              <a:rPr lang="en-US" altLang="ko-KR" sz="1600" dirty="0"/>
              <a:t> 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5122" name="Picture 2" descr="Getting started with computer vision using deep learning in 2021: resources  and comments for beginners and intermediate practitioners - HackMD">
            <a:extLst>
              <a:ext uri="{FF2B5EF4-FFF2-40B4-BE49-F238E27FC236}">
                <a16:creationId xmlns:a16="http://schemas.microsoft.com/office/drawing/2014/main" id="{2297DAB2-AD8F-A986-7576-E967F475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7" y="2632686"/>
            <a:ext cx="4267199" cy="314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Does Computer Vision Work – InData Labs">
            <a:extLst>
              <a:ext uri="{FF2B5EF4-FFF2-40B4-BE49-F238E27FC236}">
                <a16:creationId xmlns:a16="http://schemas.microsoft.com/office/drawing/2014/main" id="{7E5BAA58-3DB1-3FB8-0616-C4F622AD4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538" y="2570083"/>
            <a:ext cx="4905106" cy="330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A5AD9A-2258-ED8D-5BEB-AB8540A7C75C}"/>
              </a:ext>
            </a:extLst>
          </p:cNvPr>
          <p:cNvCxnSpPr/>
          <p:nvPr/>
        </p:nvCxnSpPr>
        <p:spPr>
          <a:xfrm>
            <a:off x="5689600" y="2570083"/>
            <a:ext cx="0" cy="3435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50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5A49-11CE-5DD2-E478-92D191FC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omputer Vision in Practice: Real-World Applications in Life and Business -  Qtravel.ai Blog">
            <a:extLst>
              <a:ext uri="{FF2B5EF4-FFF2-40B4-BE49-F238E27FC236}">
                <a16:creationId xmlns:a16="http://schemas.microsoft.com/office/drawing/2014/main" id="{8AA3C4C8-0A7C-48B6-9AB3-F5FC64D58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38"/>
          <a:stretch/>
        </p:blipFill>
        <p:spPr bwMode="auto">
          <a:xfrm>
            <a:off x="938510" y="987453"/>
            <a:ext cx="10179511" cy="559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E37131-A579-F6D8-8E92-53B121643CD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Computer Vision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8BC1F-AC85-C4B4-740C-7C54EF05C41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579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CB7C8-FC12-AF5D-1A17-C8B3B2FC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7754D6-F0B3-91A1-34A7-D86F5E0B4A4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84B44-B184-0DE2-6B3A-F924E1939C3C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Introduction</a:t>
            </a:r>
          </a:p>
        </p:txBody>
      </p:sp>
      <p:pic>
        <p:nvPicPr>
          <p:cNvPr id="6146" name="Picture 2" descr="applications of computer vision">
            <a:extLst>
              <a:ext uri="{FF2B5EF4-FFF2-40B4-BE49-F238E27FC236}">
                <a16:creationId xmlns:a16="http://schemas.microsoft.com/office/drawing/2014/main" id="{9BBB75F8-C3AA-3FD1-CCDD-1E69F7E52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215" y="1521150"/>
            <a:ext cx="9001570" cy="506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08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1A9D-8BA0-0908-10E9-3D19DEE2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6" name="Picture 8" descr="No photo description available.">
            <a:extLst>
              <a:ext uri="{FF2B5EF4-FFF2-40B4-BE49-F238E27FC236}">
                <a16:creationId xmlns:a16="http://schemas.microsoft.com/office/drawing/2014/main" id="{287810CE-1F7B-957E-6A3F-C8F578E47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9"/>
          <a:stretch/>
        </p:blipFill>
        <p:spPr bwMode="auto">
          <a:xfrm>
            <a:off x="754875" y="939554"/>
            <a:ext cx="10474299" cy="564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7E1D96-BC24-2CB0-88F1-9129A009C69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Tasks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8ADE3-AC90-3DEE-C7D4-B3004CA3A1C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506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95536-F846-F04F-50D9-1D20421D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F0FAAA-433C-D585-2F63-DE52CE8A836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Tasks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B914A-88B9-7BEE-5B96-30F377AE4D7E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Introduction</a:t>
            </a:r>
          </a:p>
        </p:txBody>
      </p:sp>
      <p:pic>
        <p:nvPicPr>
          <p:cNvPr id="5" name="Picture 4" descr="A collage of images of people&#10;&#10;AI-generated content may be incorrect.">
            <a:extLst>
              <a:ext uri="{FF2B5EF4-FFF2-40B4-BE49-F238E27FC236}">
                <a16:creationId xmlns:a16="http://schemas.microsoft.com/office/drawing/2014/main" id="{3737373B-4DA9-A77B-9086-B4EE561BC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1" y="1736431"/>
            <a:ext cx="11771417" cy="4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1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DC6A2-4765-D835-861B-E7A81745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imeline of people in different poses&#10;&#10;AI-generated content may be incorrect.">
            <a:extLst>
              <a:ext uri="{FF2B5EF4-FFF2-40B4-BE49-F238E27FC236}">
                <a16:creationId xmlns:a16="http://schemas.microsoft.com/office/drawing/2014/main" id="{6BF253C6-B982-E60B-8509-D9C0DBF82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2" t="2309" r="192" b="5080"/>
          <a:stretch/>
        </p:blipFill>
        <p:spPr>
          <a:xfrm>
            <a:off x="1461331" y="490852"/>
            <a:ext cx="10417323" cy="60247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EA2BBA-BDAE-C184-65AE-7B6DE4A032E8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CE952-60BC-E827-B387-DE961BF4343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History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E1E18-EE33-7BB8-AAB8-B90B47BCF9E8}"/>
              </a:ext>
            </a:extLst>
          </p:cNvPr>
          <p:cNvSpPr txBox="1"/>
          <p:nvPr/>
        </p:nvSpPr>
        <p:spPr>
          <a:xfrm>
            <a:off x="34184" y="6493808"/>
            <a:ext cx="9673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https://letsdatascience.com/learn/history/history-of-computer-vision/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8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5F01-5B68-3B8C-5D94-0CB8557BF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FF05CAB-4221-FD68-6D2A-90B6C055DC45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7C930-222F-6BD1-2936-2C2D657CA10E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Trends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6" name="Picture 5" descr="A diagram of a computer vision&#10;&#10;AI-generated content may be incorrect.">
            <a:extLst>
              <a:ext uri="{FF2B5EF4-FFF2-40B4-BE49-F238E27FC236}">
                <a16:creationId xmlns:a16="http://schemas.microsoft.com/office/drawing/2014/main" id="{A5065497-E821-FBA0-7018-9D4EE3426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84" y="880485"/>
            <a:ext cx="9328232" cy="551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1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021AD-ADCF-1606-532B-53EFA2A0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5CE917-2F16-DDE8-7998-FAC438A58B04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F2A92-A1C2-3103-E6F6-4EE8512D62B1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Companies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colorful text on a white circle&#10;&#10;AI-generated content may be incorrect.">
            <a:extLst>
              <a:ext uri="{FF2B5EF4-FFF2-40B4-BE49-F238E27FC236}">
                <a16:creationId xmlns:a16="http://schemas.microsoft.com/office/drawing/2014/main" id="{E0DB999B-739D-F332-B326-09BFD135E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1607892"/>
            <a:ext cx="95345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6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CD7A-EDF7-7D83-A669-61C27E4A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1D9F2F5-CA9B-1FA0-196F-93D0D6D5EFD3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9B6B6-5B7D-A8A4-73C8-E187D831D44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Tools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12290" name="Picture 2" descr="10 Tools for Computer Vision Developers: Beginner to Expert">
            <a:extLst>
              <a:ext uri="{FF2B5EF4-FFF2-40B4-BE49-F238E27FC236}">
                <a16:creationId xmlns:a16="http://schemas.microsoft.com/office/drawing/2014/main" id="{14513C44-3925-8F67-91D0-69CD19A28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817" y="1063868"/>
            <a:ext cx="9110365" cy="512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888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5577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Computer Vision vs Image Processing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DD0C984-514C-A73D-E653-3BA34D28B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428" y="1499657"/>
            <a:ext cx="8959144" cy="502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22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Formation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6F803-F56F-7161-9FD0-BBC67369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84" y="1778469"/>
            <a:ext cx="9781232" cy="38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57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Formation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B554B-BAD1-0DB0-A0AF-3B3096684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139" y="669398"/>
            <a:ext cx="7878350" cy="564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7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Formation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89EAAC-DE18-3A30-EAF5-EC97175B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24" y="1768253"/>
            <a:ext cx="7020905" cy="4172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9A172-7041-1B9F-E46E-88F8EF86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346" y="1615708"/>
            <a:ext cx="3810419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54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2C01BB-9DFB-E876-8B4D-44B51AC73EB2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D7553-4C72-BACF-9E1F-9488DF6C9E1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Formation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12F6B5-56AF-FCF1-6C24-78B47731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346" y="1615708"/>
            <a:ext cx="3810419" cy="41725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1CCC09-5058-D258-D444-2DC445F4E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28" y="2235687"/>
            <a:ext cx="6184072" cy="35525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9D529A-B097-36B3-C888-9942FB3C413E}"/>
              </a:ext>
            </a:extLst>
          </p:cNvPr>
          <p:cNvSpPr txBox="1"/>
          <p:nvPr/>
        </p:nvSpPr>
        <p:spPr>
          <a:xfrm>
            <a:off x="1466602" y="1915893"/>
            <a:ext cx="190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Real Object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E08E3-CCD1-4ABC-E630-25051FE1E2EE}"/>
              </a:ext>
            </a:extLst>
          </p:cNvPr>
          <p:cNvSpPr txBox="1"/>
          <p:nvPr/>
        </p:nvSpPr>
        <p:spPr>
          <a:xfrm>
            <a:off x="4515398" y="1915893"/>
            <a:ext cx="190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Image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454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2C01BB-9DFB-E876-8B4D-44B51AC73EB2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D7553-4C72-BACF-9E1F-9488DF6C9E1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Formation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2" name="Picture 4" descr="A digital image is a 2D array of pixels. Each pixel is characterised by...  | Download Scientific Diagram">
            <a:extLst>
              <a:ext uri="{FF2B5EF4-FFF2-40B4-BE49-F238E27FC236}">
                <a16:creationId xmlns:a16="http://schemas.microsoft.com/office/drawing/2014/main" id="{AEF7543A-2540-5CC6-96F1-BA8A50F50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820" y="1652722"/>
            <a:ext cx="4251222" cy="355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B0B702-CE0A-CC1E-5F32-27F01AC10475}"/>
              </a:ext>
            </a:extLst>
          </p:cNvPr>
          <p:cNvSpPr txBox="1"/>
          <p:nvPr/>
        </p:nvSpPr>
        <p:spPr>
          <a:xfrm>
            <a:off x="337872" y="1911964"/>
            <a:ext cx="7530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Pixel is tiny units in images, storing color and brightness values.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0F370-1285-66EC-FA73-76810623D8D9}"/>
              </a:ext>
            </a:extLst>
          </p:cNvPr>
          <p:cNvSpPr txBox="1"/>
          <p:nvPr/>
        </p:nvSpPr>
        <p:spPr>
          <a:xfrm>
            <a:off x="337872" y="2921168"/>
            <a:ext cx="6853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The pixel value array is 2-dimensional.</a:t>
            </a:r>
          </a:p>
          <a:p>
            <a:pPr algn="just"/>
            <a:r>
              <a:rPr lang="en-US" altLang="ko-KR" sz="2000" dirty="0"/>
              <a:t>It defines a single rectangle of pixel values.</a:t>
            </a:r>
          </a:p>
          <a:p>
            <a:pPr algn="just"/>
            <a:r>
              <a:rPr lang="en-US" altLang="ko-KR" sz="2000" dirty="0"/>
              <a:t>A single layer of pixel values represents a grayscale image.</a:t>
            </a:r>
          </a:p>
        </p:txBody>
      </p:sp>
    </p:spTree>
    <p:extLst>
      <p:ext uri="{BB962C8B-B14F-4D97-AF65-F5344CB8AC3E}">
        <p14:creationId xmlns:p14="http://schemas.microsoft.com/office/powerpoint/2010/main" val="1433540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Color Spaces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a) the RGB color space-black arrows show the three main color... | Download  Scientific Diagram">
            <a:extLst>
              <a:ext uri="{FF2B5EF4-FFF2-40B4-BE49-F238E27FC236}">
                <a16:creationId xmlns:a16="http://schemas.microsoft.com/office/drawing/2014/main" id="{016F335F-B146-9671-6197-88B0BF5FF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06" y="2090913"/>
            <a:ext cx="80962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35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RGB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1030" name="Picture 6" descr="Machine Learning - Going Furthur with CNN Part 2 - DEV Community">
            <a:extLst>
              <a:ext uri="{FF2B5EF4-FFF2-40B4-BE49-F238E27FC236}">
                <a16:creationId xmlns:a16="http://schemas.microsoft.com/office/drawing/2014/main" id="{5C587E98-8EDC-9339-64C9-F675AC5BF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9" y="1271019"/>
            <a:ext cx="6824611" cy="414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38E34E-ACF3-BCEF-21A4-1381AF40A886}"/>
              </a:ext>
            </a:extLst>
          </p:cNvPr>
          <p:cNvSpPr/>
          <p:nvPr/>
        </p:nvSpPr>
        <p:spPr>
          <a:xfrm>
            <a:off x="3364089" y="2257778"/>
            <a:ext cx="982133" cy="361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17476-CC84-CB15-D0F6-158716C7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57778"/>
            <a:ext cx="3384084" cy="299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1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Resolution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E6DBA5-49E6-1B4B-7672-1AEED320293F}"/>
              </a:ext>
            </a:extLst>
          </p:cNvPr>
          <p:cNvGrpSpPr/>
          <p:nvPr/>
        </p:nvGrpSpPr>
        <p:grpSpPr>
          <a:xfrm>
            <a:off x="7066845" y="1503190"/>
            <a:ext cx="2959883" cy="2118923"/>
            <a:chOff x="5969628" y="1854766"/>
            <a:chExt cx="5300593" cy="36755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D1E2E9-F5E0-14A8-2974-20AE4B757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7060" y="2035588"/>
              <a:ext cx="5053161" cy="3494709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F317FEB-9A04-8B0E-C984-2BCC018CEA62}"/>
                </a:ext>
              </a:extLst>
            </p:cNvPr>
            <p:cNvCxnSpPr>
              <a:cxnSpLocks/>
            </p:cNvCxnSpPr>
            <p:nvPr/>
          </p:nvCxnSpPr>
          <p:spPr>
            <a:xfrm>
              <a:off x="5969628" y="2217424"/>
              <a:ext cx="0" cy="3312873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6D2185-68B3-A575-8AC7-62A322F9E6BD}"/>
                </a:ext>
              </a:extLst>
            </p:cNvPr>
            <p:cNvCxnSpPr>
              <a:cxnSpLocks/>
            </p:cNvCxnSpPr>
            <p:nvPr/>
          </p:nvCxnSpPr>
          <p:spPr>
            <a:xfrm>
              <a:off x="6434494" y="1854766"/>
              <a:ext cx="4618291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3F14A33-0E17-7F25-D8C9-8BA0A2D9F111}"/>
              </a:ext>
            </a:extLst>
          </p:cNvPr>
          <p:cNvSpPr txBox="1"/>
          <p:nvPr/>
        </p:nvSpPr>
        <p:spPr>
          <a:xfrm>
            <a:off x="936184" y="2040071"/>
            <a:ext cx="4663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This array has </a:t>
            </a:r>
            <a:r>
              <a:rPr lang="en-US" altLang="ko-KR" sz="2000" dirty="0">
                <a:solidFill>
                  <a:srgbClr val="00B050"/>
                </a:solidFill>
              </a:rPr>
              <a:t>7 rows</a:t>
            </a:r>
            <a:r>
              <a:rPr lang="en-US" altLang="ko-KR" sz="2000" dirty="0"/>
              <a:t> and </a:t>
            </a:r>
            <a:r>
              <a:rPr lang="en-US" altLang="ko-KR" sz="2000" dirty="0">
                <a:solidFill>
                  <a:srgbClr val="FF0000"/>
                </a:solidFill>
              </a:rPr>
              <a:t>7 columns</a:t>
            </a:r>
            <a:r>
              <a:rPr lang="en-US" altLang="ko-KR" sz="2000" dirty="0"/>
              <a:t>, representing a 7x7 image (8-bit).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EC0A36-3C68-B952-58D4-595491EF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0" t="3648" r="5166" b="3807"/>
          <a:stretch/>
        </p:blipFill>
        <p:spPr>
          <a:xfrm>
            <a:off x="7193217" y="3989388"/>
            <a:ext cx="2833511" cy="2014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25A2D5-60C2-29C3-09B3-2FC21A591F43}"/>
              </a:ext>
            </a:extLst>
          </p:cNvPr>
          <p:cNvSpPr txBox="1"/>
          <p:nvPr/>
        </p:nvSpPr>
        <p:spPr>
          <a:xfrm>
            <a:off x="936184" y="4358400"/>
            <a:ext cx="4121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Each pixel value ranges from 0 (black) to 255 (white).</a:t>
            </a:r>
          </a:p>
        </p:txBody>
      </p:sp>
    </p:spTree>
    <p:extLst>
      <p:ext uri="{BB962C8B-B14F-4D97-AF65-F5344CB8AC3E}">
        <p14:creationId xmlns:p14="http://schemas.microsoft.com/office/powerpoint/2010/main" val="2816341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Processing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1E380-BBA3-CC7C-B451-257AC04BB19E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Image processing task is to apply filters that modify pixel values of the image to create a visual effect.</a:t>
            </a:r>
          </a:p>
        </p:txBody>
      </p:sp>
      <p:pic>
        <p:nvPicPr>
          <p:cNvPr id="4" name="Picture 2" descr="Image filtering — Image analysis in Python">
            <a:extLst>
              <a:ext uri="{FF2B5EF4-FFF2-40B4-BE49-F238E27FC236}">
                <a16:creationId xmlns:a16="http://schemas.microsoft.com/office/drawing/2014/main" id="{A646FAEE-F34A-50A4-3430-739CCD915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835" y="2484030"/>
            <a:ext cx="7356299" cy="353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ECF62-18E3-1647-5C85-2FEE620093EC}"/>
              </a:ext>
            </a:extLst>
          </p:cNvPr>
          <p:cNvSpPr txBox="1"/>
          <p:nvPr/>
        </p:nvSpPr>
        <p:spPr>
          <a:xfrm>
            <a:off x="3363136" y="2230677"/>
            <a:ext cx="190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Input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845D5-AD11-4A12-E144-6D805852D5BA}"/>
              </a:ext>
            </a:extLst>
          </p:cNvPr>
          <p:cNvSpPr txBox="1"/>
          <p:nvPr/>
        </p:nvSpPr>
        <p:spPr>
          <a:xfrm>
            <a:off x="7044110" y="2245643"/>
            <a:ext cx="190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Output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19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Image Processing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pic>
        <p:nvPicPr>
          <p:cNvPr id="4098" name="Picture 2" descr="Digital-Image-Processing/DIP_course_6th_session_Spatial_Filtering.ipynb at  master · Seyed-Ali-Ahmadi/Digital-Image-Processing · GitHub">
            <a:extLst>
              <a:ext uri="{FF2B5EF4-FFF2-40B4-BE49-F238E27FC236}">
                <a16:creationId xmlns:a16="http://schemas.microsoft.com/office/drawing/2014/main" id="{C0094823-38A5-22F6-E5C6-B3ED6330A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756" y="2150859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Image processing task is to apply filters that modify pixel values of the image to create a visual effect.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4C29A-280C-A854-EFAC-49C0F2D849B9}"/>
              </a:ext>
            </a:extLst>
          </p:cNvPr>
          <p:cNvSpPr txBox="1"/>
          <p:nvPr/>
        </p:nvSpPr>
        <p:spPr>
          <a:xfrm>
            <a:off x="2821270" y="2254448"/>
            <a:ext cx="190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Input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4AB89-2B79-BA92-1D8A-75631930832B}"/>
              </a:ext>
            </a:extLst>
          </p:cNvPr>
          <p:cNvSpPr txBox="1"/>
          <p:nvPr/>
        </p:nvSpPr>
        <p:spPr>
          <a:xfrm>
            <a:off x="7326333" y="2691514"/>
            <a:ext cx="190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Output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45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Image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Practice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337872" y="139267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Download and Install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BF8A6-F488-1175-86AD-4A2E62DCD87E}"/>
              </a:ext>
            </a:extLst>
          </p:cNvPr>
          <p:cNvSpPr txBox="1"/>
          <p:nvPr/>
        </p:nvSpPr>
        <p:spPr>
          <a:xfrm>
            <a:off x="337872" y="179278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Verify and Upgrade Pip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89E6F-7808-C0D6-D747-C272ACAD688C}"/>
              </a:ext>
            </a:extLst>
          </p:cNvPr>
          <p:cNvSpPr txBox="1"/>
          <p:nvPr/>
        </p:nvSpPr>
        <p:spPr>
          <a:xfrm>
            <a:off x="337872" y="219289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Install OpenCV using Pip</a:t>
            </a:r>
          </a:p>
        </p:txBody>
      </p:sp>
    </p:spTree>
    <p:extLst>
      <p:ext uri="{BB962C8B-B14F-4D97-AF65-F5344CB8AC3E}">
        <p14:creationId xmlns:p14="http://schemas.microsoft.com/office/powerpoint/2010/main" val="1162992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112333</TotalTime>
  <Words>295</Words>
  <Application>Microsoft Office PowerPoint</Application>
  <PresentationFormat>Widescreen</PresentationFormat>
  <Paragraphs>73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6125</cp:revision>
  <cp:lastPrinted>2021-09-06T03:39:39Z</cp:lastPrinted>
  <dcterms:created xsi:type="dcterms:W3CDTF">2020-10-10T03:17:57Z</dcterms:created>
  <dcterms:modified xsi:type="dcterms:W3CDTF">2025-03-17T12:30:02Z</dcterms:modified>
</cp:coreProperties>
</file>